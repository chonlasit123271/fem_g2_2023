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45"/>
  </p:notesMasterIdLst>
  <p:sldIdLst>
    <p:sldId id="457" r:id="rId2"/>
    <p:sldId id="475" r:id="rId3"/>
    <p:sldId id="505" r:id="rId4"/>
    <p:sldId id="476" r:id="rId5"/>
    <p:sldId id="484" r:id="rId6"/>
    <p:sldId id="477" r:id="rId7"/>
    <p:sldId id="483" r:id="rId8"/>
    <p:sldId id="421" r:id="rId9"/>
    <p:sldId id="488" r:id="rId10"/>
    <p:sldId id="489" r:id="rId11"/>
    <p:sldId id="490" r:id="rId12"/>
    <p:sldId id="495" r:id="rId13"/>
    <p:sldId id="496" r:id="rId14"/>
    <p:sldId id="492" r:id="rId15"/>
    <p:sldId id="486" r:id="rId16"/>
    <p:sldId id="568" r:id="rId17"/>
    <p:sldId id="502" r:id="rId18"/>
    <p:sldId id="506" r:id="rId19"/>
    <p:sldId id="504" r:id="rId20"/>
    <p:sldId id="507" r:id="rId21"/>
    <p:sldId id="503" r:id="rId22"/>
    <p:sldId id="508" r:id="rId23"/>
    <p:sldId id="511" r:id="rId24"/>
    <p:sldId id="512" r:id="rId25"/>
    <p:sldId id="519" r:id="rId26"/>
    <p:sldId id="517" r:id="rId27"/>
    <p:sldId id="513" r:id="rId28"/>
    <p:sldId id="533" r:id="rId29"/>
    <p:sldId id="548" r:id="rId30"/>
    <p:sldId id="514" r:id="rId31"/>
    <p:sldId id="543" r:id="rId32"/>
    <p:sldId id="564" r:id="rId33"/>
    <p:sldId id="565" r:id="rId34"/>
    <p:sldId id="569" r:id="rId35"/>
    <p:sldId id="552" r:id="rId36"/>
    <p:sldId id="556" r:id="rId37"/>
    <p:sldId id="557" r:id="rId38"/>
    <p:sldId id="560" r:id="rId39"/>
    <p:sldId id="558" r:id="rId40"/>
    <p:sldId id="554" r:id="rId41"/>
    <p:sldId id="555" r:id="rId42"/>
    <p:sldId id="566" r:id="rId43"/>
    <p:sldId id="570" r:id="rId44"/>
  </p:sldIdLst>
  <p:sldSz cx="12192000" cy="6858000"/>
  <p:notesSz cx="7102475" cy="10233025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BD868A-FE48-4312-A1B7-F3965D8A91CE}">
          <p14:sldIdLst>
            <p14:sldId id="457"/>
            <p14:sldId id="475"/>
            <p14:sldId id="505"/>
            <p14:sldId id="476"/>
            <p14:sldId id="484"/>
            <p14:sldId id="477"/>
            <p14:sldId id="483"/>
            <p14:sldId id="421"/>
            <p14:sldId id="488"/>
            <p14:sldId id="489"/>
            <p14:sldId id="490"/>
            <p14:sldId id="495"/>
            <p14:sldId id="496"/>
            <p14:sldId id="492"/>
            <p14:sldId id="486"/>
            <p14:sldId id="568"/>
            <p14:sldId id="502"/>
            <p14:sldId id="506"/>
            <p14:sldId id="504"/>
            <p14:sldId id="507"/>
            <p14:sldId id="503"/>
            <p14:sldId id="508"/>
            <p14:sldId id="511"/>
            <p14:sldId id="512"/>
            <p14:sldId id="519"/>
            <p14:sldId id="517"/>
            <p14:sldId id="513"/>
            <p14:sldId id="533"/>
            <p14:sldId id="548"/>
            <p14:sldId id="514"/>
            <p14:sldId id="543"/>
            <p14:sldId id="564"/>
            <p14:sldId id="565"/>
            <p14:sldId id="569"/>
            <p14:sldId id="552"/>
            <p14:sldId id="556"/>
            <p14:sldId id="557"/>
            <p14:sldId id="560"/>
            <p14:sldId id="558"/>
            <p14:sldId id="554"/>
            <p14:sldId id="555"/>
            <p14:sldId id="566"/>
            <p14:sldId id="5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FF00"/>
    <a:srgbClr val="712B8B"/>
    <a:srgbClr val="002060"/>
    <a:srgbClr val="0000FF"/>
    <a:srgbClr val="CC0000"/>
    <a:srgbClr val="000000"/>
    <a:srgbClr val="C00000"/>
    <a:srgbClr val="FF33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87409" autoAdjust="0"/>
  </p:normalViewPr>
  <p:slideViewPr>
    <p:cSldViewPr snapToGrid="0">
      <p:cViewPr varScale="1">
        <p:scale>
          <a:sx n="72" d="100"/>
          <a:sy n="72" d="100"/>
        </p:scale>
        <p:origin x="112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392"/>
    </p:cViewPr>
  </p:sorterViewPr>
  <p:notesViewPr>
    <p:cSldViewPr snapToGrid="0">
      <p:cViewPr varScale="1">
        <p:scale>
          <a:sx n="56" d="100"/>
          <a:sy n="56" d="100"/>
        </p:scale>
        <p:origin x="3312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D104E99F-946F-412E-B4B2-DFE7DA9D8CB7}" type="datetimeFigureOut">
              <a:rPr lang="th-TH" smtClean="0"/>
              <a:t>16/05/68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0D79613F-CF08-42DC-B702-EEFB8D6A6DD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0602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63745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28208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FAA2F-F182-F86B-A5E6-118E5403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A70D8-AED8-3E26-0802-B1E55D632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0A984-181D-C223-2044-0F42FF2DD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0F2CE-5B4A-A3F7-091B-4430B2C1B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50168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9BA2-0336-F507-6709-7A2F2AFE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CFF54-3A2A-B885-EE0F-012005531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70456-165B-48D1-3111-48565B66B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85C6F-0553-668E-DD3C-06B7222EC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2817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double converts the symbolic result to a numerical value 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17183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6904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21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4522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24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3641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26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904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28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8450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%Direct Integration option 1:</a:t>
            </a:r>
            <a:endParaRPr lang="en-US" sz="1800" b="0" i="0" dirty="0">
              <a:effectLst/>
              <a:latin typeface="Lucida Bright" panose="02040602050505020304" pitchFamily="18" charset="0"/>
            </a:endParaRPr>
          </a:p>
          <a:p>
            <a:pPr>
              <a:buNone/>
            </a:pPr>
            <a:r>
              <a:rPr lang="en-US" sz="18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 ELEMENT(</a:t>
            </a:r>
            <a:r>
              <a:rPr lang="en-US" sz="1800" b="0" i="0" dirty="0" err="1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eNo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).</a:t>
            </a:r>
            <a:r>
              <a:rPr lang="en-US" sz="1800" b="0" i="0" dirty="0" err="1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R_Force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=double(int(int(int(f, zeta, 0, 1 - xi - eta), eta, 0, 1 - xi), xi, 0, 1));</a:t>
            </a:r>
            <a:endParaRPr lang="en-US" sz="1800" b="0" i="0" dirty="0">
              <a:effectLst/>
              <a:latin typeface="Lucida Bright" panose="02040602050505020304" pitchFamily="18" charset="0"/>
            </a:endParaRPr>
          </a:p>
          <a:p>
            <a:pPr>
              <a:buNone/>
            </a:pPr>
            <a:r>
              <a:rPr lang="en-US" sz="18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%Gauss Points option 2: Gauss Points </a:t>
            </a:r>
            <a:r>
              <a:rPr lang="en-US" sz="1800" b="0" i="0" dirty="0" err="1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mehtod</a:t>
            </a:r>
            <a:endParaRPr lang="en-US" sz="1800" b="0" i="0" dirty="0">
              <a:effectLst/>
              <a:latin typeface="Lucida Bright" panose="02040602050505020304" pitchFamily="18" charset="0"/>
            </a:endParaRPr>
          </a:p>
          <a:p>
            <a:pPr>
              <a:buNone/>
            </a:pPr>
            <a:r>
              <a:rPr lang="en-US" sz="18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%Option 3: only </a:t>
            </a:r>
            <a:r>
              <a:rPr lang="en-US" sz="1800" b="0" i="0" dirty="0" err="1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fo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 TET4 elements</a:t>
            </a:r>
            <a:endParaRPr lang="en-US" sz="1800" b="0" i="0" dirty="0">
              <a:effectLst/>
              <a:latin typeface="Lucida Bright" panose="02040602050505020304" pitchFamily="18" charset="0"/>
            </a:endParaRPr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31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49985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l-GR" sz="1600" b="1" i="0" dirty="0">
                <a:solidFill>
                  <a:srgbClr val="404040"/>
                </a:solidFill>
                <a:effectLst/>
                <a:latin typeface="DeepSeek-CJK-patch"/>
                <a:cs typeface="FreesiaUPC" panose="020B0604020202020204" pitchFamily="34" charset="-34"/>
              </a:rPr>
              <a:t>σ₁ (</a:t>
            </a:r>
            <a:r>
              <a:rPr lang="en-US" sz="1600" b="1" i="0" dirty="0">
                <a:solidFill>
                  <a:srgbClr val="40404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sigma11):</a:t>
            </a:r>
            <a:r>
              <a:rPr lang="en-US" sz="1600" b="0" i="0" dirty="0">
                <a:solidFill>
                  <a:srgbClr val="40404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 Dictates tensile fracture (e.g., cracking perpendicular to </a:t>
            </a:r>
            <a:r>
              <a:rPr lang="el-GR" sz="1600" b="0" i="0" dirty="0">
                <a:solidFill>
                  <a:srgbClr val="404040"/>
                </a:solidFill>
                <a:effectLst/>
                <a:latin typeface="DeepSeek-CJK-patch"/>
                <a:cs typeface="FreesiaUPC" panose="020B0604020202020204" pitchFamily="34" charset="-34"/>
              </a:rPr>
              <a:t>σ₁).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l-GR" sz="1600" b="1" i="0" dirty="0">
                <a:solidFill>
                  <a:srgbClr val="404040"/>
                </a:solidFill>
                <a:effectLst/>
                <a:latin typeface="DeepSeek-CJK-patch"/>
                <a:cs typeface="FreesiaUPC" panose="020B0604020202020204" pitchFamily="34" charset="-34"/>
              </a:rPr>
              <a:t>σ₃ (</a:t>
            </a:r>
            <a:r>
              <a:rPr lang="en-US" sz="1600" b="1" i="0" dirty="0">
                <a:solidFill>
                  <a:srgbClr val="40404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sigma33):</a:t>
            </a:r>
            <a:r>
              <a:rPr lang="en-US" sz="1600" b="0" i="0" dirty="0">
                <a:solidFill>
                  <a:srgbClr val="40404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 Governs compressive failure (e.g., buckling or crushing).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l-GR" sz="1600" b="1" i="0" dirty="0">
                <a:solidFill>
                  <a:srgbClr val="404040"/>
                </a:solidFill>
                <a:effectLst/>
                <a:latin typeface="DeepSeek-CJK-patch"/>
                <a:cs typeface="FreesiaUPC" panose="020B0604020202020204" pitchFamily="34" charset="-34"/>
              </a:rPr>
              <a:t>σ₂ (</a:t>
            </a:r>
            <a:r>
              <a:rPr lang="en-US" sz="1600" b="1" i="0" dirty="0">
                <a:solidFill>
                  <a:srgbClr val="40404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sigma22):</a:t>
            </a:r>
            <a:r>
              <a:rPr lang="en-US" sz="1600" b="0" i="0" dirty="0">
                <a:solidFill>
                  <a:srgbClr val="40404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 Often ignored in 2D problems but critical in 3D (e.g., triaxial loading).</a:t>
            </a:r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38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72358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	Higer-order element (TET10) can reduce the effect of shear locking  </a:t>
            </a:r>
            <a:endParaRPr lang="th-TH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40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7092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A461D-DD39-105D-21F3-066601CB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3ACA5-0FF6-4DF1-4CD2-E178E245C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BE7B1-B358-97ED-5CE4-1E2A102AD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incremental approach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 assumes piecewise linearity within small steps. If </a:t>
            </a: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equilibrium corrections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 (e.g., Newton-Raphson iterations) are insufficient, errors can accumulate, leading to </a:t>
            </a: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divergence or false convergence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1C1B0-5D88-B824-D67C-A31A2275A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9613F-CF08-42DC-B702-EEFB8D6A6DD1}" type="slidenum">
              <a:rPr lang="th-TH" smtClean="0"/>
              <a:t>41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347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CB989-6D0F-FD95-F673-D770F746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0F6DF6-67F0-4FAA-8CEA-FB5B8F7D8000}" type="datetime1">
              <a:rPr lang="th-TH" smtClean="0"/>
              <a:t>16/05/68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C1930-281A-4D55-5589-3ED67225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77D7B-AB7D-BCAB-5BAB-662395ED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‹#›</a:t>
            </a:fld>
            <a:endParaRPr lang="th-T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40AA46-0775-BA2B-6A3E-F83713AA0D3D}"/>
              </a:ext>
            </a:extLst>
          </p:cNvPr>
          <p:cNvSpPr txBox="1">
            <a:spLocks/>
          </p:cNvSpPr>
          <p:nvPr userDrawn="1"/>
        </p:nvSpPr>
        <p:spPr>
          <a:xfrm>
            <a:off x="2249313" y="1095024"/>
            <a:ext cx="9028289" cy="4543777"/>
          </a:xfrm>
          <a:prstGeom prst="rect">
            <a:avLst/>
          </a:prstGeom>
          <a:solidFill>
            <a:srgbClr val="006600"/>
          </a:solidFill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FreesiaUPC" panose="020B0604020202020204" pitchFamily="34" charset="-34"/>
                <a:ea typeface="+mj-ea"/>
                <a:cs typeface="FreesiaUPC" panose="020B0604020202020204" pitchFamily="34" charset="-34"/>
              </a:defRPr>
            </a:lvl1pPr>
          </a:lstStyle>
          <a:p>
            <a:pPr algn="l"/>
            <a:endParaRPr lang="th-TH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C4E01BA-17BA-2963-1FFB-4407E7FF331A}"/>
              </a:ext>
            </a:extLst>
          </p:cNvPr>
          <p:cNvSpPr txBox="1">
            <a:spLocks/>
          </p:cNvSpPr>
          <p:nvPr userDrawn="1"/>
        </p:nvSpPr>
        <p:spPr>
          <a:xfrm>
            <a:off x="838199" y="1095024"/>
            <a:ext cx="1295402" cy="51025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FreesiaUPC" panose="020B0604020202020204" pitchFamily="34" charset="-34"/>
                <a:ea typeface="+mj-ea"/>
                <a:cs typeface="FreesiaUPC" panose="020B0604020202020204" pitchFamily="34" charset="-34"/>
              </a:defRPr>
            </a:lvl1pPr>
          </a:lstStyle>
          <a:p>
            <a:pPr algn="l"/>
            <a:endParaRPr lang="th-TH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1350BE-7853-73E7-054D-DA9F3BDDF692}"/>
              </a:ext>
            </a:extLst>
          </p:cNvPr>
          <p:cNvSpPr/>
          <p:nvPr userDrawn="1"/>
        </p:nvSpPr>
        <p:spPr>
          <a:xfrm>
            <a:off x="2249313" y="5727700"/>
            <a:ext cx="9028289" cy="4699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A09A4-DA0F-39E6-DCAD-8EE61E27F971}"/>
              </a:ext>
            </a:extLst>
          </p:cNvPr>
          <p:cNvSpPr txBox="1">
            <a:spLocks/>
          </p:cNvSpPr>
          <p:nvPr userDrawn="1"/>
        </p:nvSpPr>
        <p:spPr>
          <a:xfrm flipH="1">
            <a:off x="730199" y="1095024"/>
            <a:ext cx="108000" cy="51012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FreesiaUPC" panose="020B0604020202020204" pitchFamily="34" charset="-34"/>
                <a:ea typeface="+mj-ea"/>
                <a:cs typeface="FreesiaUPC" panose="020B0604020202020204" pitchFamily="34" charset="-34"/>
              </a:defRPr>
            </a:lvl1pPr>
          </a:lstStyle>
          <a:p>
            <a:pPr algn="l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82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D95C1-9784-62A3-97C8-62ADF467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586798"/>
            <a:ext cx="10800000" cy="1008000"/>
          </a:xfrm>
          <a:noFill/>
          <a:ln>
            <a:noFill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EucrosiaUPC" panose="02020603050405020304" pitchFamily="18" charset="-34"/>
                <a:cs typeface="EucrosiaUPC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D1931-E650-2983-8642-5EF2CF67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C777F2-85BE-4083-BB18-3762A1C5F313}" type="datetime1">
              <a:rPr lang="th-TH" smtClean="0"/>
              <a:t>16/05/68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20072-2187-8C99-7C8E-7BEFC478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536DA-1FB1-C43F-DDD4-FB0E339D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‹#›</a:t>
            </a:fld>
            <a:endParaRPr lang="th-TH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DD1F22F-992C-07D2-C61F-3E87124F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810729"/>
            <a:ext cx="10799999" cy="4322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D27069-6C8D-6FC6-D28B-D8F219DABA6B}"/>
              </a:ext>
            </a:extLst>
          </p:cNvPr>
          <p:cNvGrpSpPr/>
          <p:nvPr userDrawn="1"/>
        </p:nvGrpSpPr>
        <p:grpSpPr>
          <a:xfrm>
            <a:off x="357637" y="586798"/>
            <a:ext cx="144000" cy="6120000"/>
            <a:chOff x="489527" y="441434"/>
            <a:chExt cx="83128" cy="67944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1957A0-EAEF-0EF4-AB62-FE907200E601}"/>
                </a:ext>
              </a:extLst>
            </p:cNvPr>
            <p:cNvSpPr/>
            <p:nvPr userDrawn="1"/>
          </p:nvSpPr>
          <p:spPr>
            <a:xfrm>
              <a:off x="489527" y="441434"/>
              <a:ext cx="83128" cy="226482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FAAAF3-DA07-4634-39A5-4B690CC02D92}"/>
                </a:ext>
              </a:extLst>
            </p:cNvPr>
            <p:cNvSpPr/>
            <p:nvPr userDrawn="1"/>
          </p:nvSpPr>
          <p:spPr>
            <a:xfrm>
              <a:off x="489527" y="2706254"/>
              <a:ext cx="83128" cy="22648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1353F4-C9EC-71BC-091A-E71DB6925E3F}"/>
                </a:ext>
              </a:extLst>
            </p:cNvPr>
            <p:cNvSpPr/>
            <p:nvPr userDrawn="1"/>
          </p:nvSpPr>
          <p:spPr>
            <a:xfrm>
              <a:off x="489527" y="4971074"/>
              <a:ext cx="83128" cy="226482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E5B534-D81D-1CBD-F960-A1EDC49047A0}"/>
              </a:ext>
            </a:extLst>
          </p:cNvPr>
          <p:cNvCxnSpPr/>
          <p:nvPr userDrawn="1"/>
        </p:nvCxnSpPr>
        <p:spPr>
          <a:xfrm>
            <a:off x="695999" y="1526957"/>
            <a:ext cx="10799999" cy="0"/>
          </a:xfrm>
          <a:prstGeom prst="line">
            <a:avLst/>
          </a:prstGeom>
          <a:ln w="571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74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D95C1-9784-62A3-97C8-62ADF467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281996"/>
            <a:ext cx="10800000" cy="1008000"/>
          </a:xfrm>
          <a:noFill/>
          <a:ln>
            <a:noFill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EucrosiaUPC" panose="02020603050405020304" pitchFamily="18" charset="-34"/>
                <a:cs typeface="EucrosiaUPC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D1931-E650-2983-8642-5EF2CF67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C777F2-85BE-4083-BB18-3762A1C5F313}" type="datetime1">
              <a:rPr lang="th-TH" smtClean="0"/>
              <a:t>16/05/68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20072-2187-8C99-7C8E-7BEFC478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536DA-1FB1-C43F-DDD4-FB0E339D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‹#›</a:t>
            </a:fld>
            <a:endParaRPr lang="th-TH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DD1F22F-992C-07D2-C61F-3E87124F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810729"/>
            <a:ext cx="10799999" cy="4322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E5B534-D81D-1CBD-F960-A1EDC49047A0}"/>
              </a:ext>
            </a:extLst>
          </p:cNvPr>
          <p:cNvCxnSpPr/>
          <p:nvPr userDrawn="1"/>
        </p:nvCxnSpPr>
        <p:spPr>
          <a:xfrm>
            <a:off x="695999" y="1033898"/>
            <a:ext cx="10799999" cy="0"/>
          </a:xfrm>
          <a:prstGeom prst="line">
            <a:avLst/>
          </a:prstGeom>
          <a:ln w="571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825140-10D5-EC3F-460C-62BD87239764}"/>
              </a:ext>
            </a:extLst>
          </p:cNvPr>
          <p:cNvGrpSpPr/>
          <p:nvPr userDrawn="1"/>
        </p:nvGrpSpPr>
        <p:grpSpPr>
          <a:xfrm>
            <a:off x="357637" y="586798"/>
            <a:ext cx="144000" cy="6120000"/>
            <a:chOff x="489527" y="441434"/>
            <a:chExt cx="83128" cy="6794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7C29A6-8337-FD9E-F93D-4DA717592D71}"/>
                </a:ext>
              </a:extLst>
            </p:cNvPr>
            <p:cNvSpPr/>
            <p:nvPr userDrawn="1"/>
          </p:nvSpPr>
          <p:spPr>
            <a:xfrm>
              <a:off x="489527" y="441434"/>
              <a:ext cx="83128" cy="226482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29542B-45A3-75DF-7BFF-305011A19C6E}"/>
                </a:ext>
              </a:extLst>
            </p:cNvPr>
            <p:cNvSpPr/>
            <p:nvPr userDrawn="1"/>
          </p:nvSpPr>
          <p:spPr>
            <a:xfrm>
              <a:off x="489527" y="2706254"/>
              <a:ext cx="83128" cy="22648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E21B528-6209-070D-9A20-F02B4249B649}"/>
                </a:ext>
              </a:extLst>
            </p:cNvPr>
            <p:cNvSpPr/>
            <p:nvPr userDrawn="1"/>
          </p:nvSpPr>
          <p:spPr>
            <a:xfrm>
              <a:off x="489527" y="4971074"/>
              <a:ext cx="83128" cy="226482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428838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24537-0019-CFBE-BCA1-4130E5A057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A344AB-3769-4649-909C-62B6EEBD3607}" type="datetime1">
              <a:rPr lang="th-TH" smtClean="0"/>
              <a:t>16/05/68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A91D1F-9B44-D03D-E59E-655DA7F8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7AB49-DEED-00F1-BD01-9032B2AF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‹#›</a:t>
            </a:fld>
            <a:endParaRPr lang="th-T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8C8376-9253-B4E8-F263-AE18D2177F58}"/>
              </a:ext>
            </a:extLst>
          </p:cNvPr>
          <p:cNvGrpSpPr/>
          <p:nvPr userDrawn="1"/>
        </p:nvGrpSpPr>
        <p:grpSpPr>
          <a:xfrm>
            <a:off x="357637" y="586798"/>
            <a:ext cx="144000" cy="6120000"/>
            <a:chOff x="489527" y="441434"/>
            <a:chExt cx="83128" cy="6794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0A835E-7840-C6CF-F584-7FF706249BBF}"/>
                </a:ext>
              </a:extLst>
            </p:cNvPr>
            <p:cNvSpPr/>
            <p:nvPr userDrawn="1"/>
          </p:nvSpPr>
          <p:spPr>
            <a:xfrm>
              <a:off x="489527" y="441434"/>
              <a:ext cx="83128" cy="226482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8DCE66-E12C-BA22-D44B-F8ABCD5BB073}"/>
                </a:ext>
              </a:extLst>
            </p:cNvPr>
            <p:cNvSpPr/>
            <p:nvPr userDrawn="1"/>
          </p:nvSpPr>
          <p:spPr>
            <a:xfrm>
              <a:off x="489527" y="2706254"/>
              <a:ext cx="83128" cy="22648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18F7E7-66AF-FA2E-7018-1DAEE04D5DC2}"/>
                </a:ext>
              </a:extLst>
            </p:cNvPr>
            <p:cNvSpPr/>
            <p:nvPr userDrawn="1"/>
          </p:nvSpPr>
          <p:spPr>
            <a:xfrm>
              <a:off x="489527" y="4971074"/>
              <a:ext cx="83128" cy="226482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90014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64535-BCA1-0FC7-E6C1-62F926B99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99" y="559345"/>
            <a:ext cx="10800000" cy="900000"/>
          </a:xfrm>
          <a:prstGeom prst="rect">
            <a:avLst/>
          </a:prstGeom>
          <a:solidFill>
            <a:srgbClr val="B81F3C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F7379-AB1B-FD55-B9C7-9916DA777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999" y="1662545"/>
            <a:ext cx="10799999" cy="4514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1F661-1FFB-882B-1370-298E22F09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defRPr>
            </a:lvl1pPr>
          </a:lstStyle>
          <a:p>
            <a:endParaRPr lang="th-T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24270-5495-A73F-C139-98F19479B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defRPr>
            </a:lvl1pPr>
          </a:lstStyle>
          <a:p>
            <a:fld id="{D92E7364-E95C-459B-BEF5-B7F8E81A4D6E}" type="slidenum">
              <a:rPr lang="th-TH" smtClean="0"/>
              <a:pPr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1172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4" r:id="rId2"/>
    <p:sldLayoutId id="2147483656" r:id="rId3"/>
    <p:sldLayoutId id="214748365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FreesiaUPC" panose="020B0604020202020204" pitchFamily="34" charset="-34"/>
          <a:ea typeface="+mj-ea"/>
          <a:cs typeface="FreesiaUPC" panose="020B0604020202020204" pitchFamily="34" charset="-34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000" b="0" kern="1200">
          <a:solidFill>
            <a:schemeClr val="tx1"/>
          </a:solidFill>
          <a:latin typeface="FreesiaUPC" panose="020B0604020202020204" pitchFamily="34" charset="-34"/>
          <a:ea typeface="+mn-ea"/>
          <a:cs typeface="FreesiaUPC" panose="020B0604020202020204" pitchFamily="34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b="0" kern="1200">
          <a:solidFill>
            <a:schemeClr val="tx1"/>
          </a:solidFill>
          <a:latin typeface="FreesiaUPC" panose="020B0604020202020204" pitchFamily="34" charset="-34"/>
          <a:ea typeface="+mn-ea"/>
          <a:cs typeface="FreesiaUPC" panose="020B0604020202020204" pitchFamily="34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b="0" kern="1200">
          <a:solidFill>
            <a:schemeClr val="tx1"/>
          </a:solidFill>
          <a:latin typeface="FreesiaUPC" panose="020B0604020202020204" pitchFamily="34" charset="-34"/>
          <a:ea typeface="+mn-ea"/>
          <a:cs typeface="FreesiaUPC" panose="020B0604020202020204" pitchFamily="34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b="0" kern="1200">
          <a:solidFill>
            <a:schemeClr val="tx1"/>
          </a:solidFill>
          <a:latin typeface="FreesiaUPC" panose="020B0604020202020204" pitchFamily="34" charset="-34"/>
          <a:ea typeface="+mn-ea"/>
          <a:cs typeface="FreesiaUPC" panose="020B0604020202020204" pitchFamily="34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b="0" kern="1200">
          <a:solidFill>
            <a:schemeClr val="tx1"/>
          </a:solidFill>
          <a:latin typeface="FreesiaUPC" panose="020B0604020202020204" pitchFamily="34" charset="-34"/>
          <a:ea typeface="+mn-ea"/>
          <a:cs typeface="FreesiaUPC" panose="020B06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wmf"/><Relationship Id="rId7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1.png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microsoft.com/office/2007/relationships/hdphoto" Target="../media/hdphoto3.wdp"/><Relationship Id="rId12" Type="http://schemas.openxmlformats.org/officeDocument/2006/relationships/image" Target="../media/image22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oleObject" Target="../embeddings/oleObject6.bin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microsoft.com/office/2007/relationships/hdphoto" Target="../media/hdphoto3.wdp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.bin"/><Relationship Id="rId18" Type="http://schemas.openxmlformats.org/officeDocument/2006/relationships/image" Target="../media/image38.wmf"/><Relationship Id="rId26" Type="http://schemas.openxmlformats.org/officeDocument/2006/relationships/image" Target="../media/image42.wmf"/><Relationship Id="rId3" Type="http://schemas.openxmlformats.org/officeDocument/2006/relationships/image" Target="../media/image31.wmf"/><Relationship Id="rId21" Type="http://schemas.openxmlformats.org/officeDocument/2006/relationships/oleObject" Target="../embeddings/oleObject16.bin"/><Relationship Id="rId34" Type="http://schemas.openxmlformats.org/officeDocument/2006/relationships/image" Target="../media/image46.wmf"/><Relationship Id="rId7" Type="http://schemas.openxmlformats.org/officeDocument/2006/relationships/image" Target="../media/image33.wmf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33" Type="http://schemas.openxmlformats.org/officeDocument/2006/relationships/oleObject" Target="../embeddings/oleObject22.bin"/><Relationship Id="rId2" Type="http://schemas.openxmlformats.org/officeDocument/2006/relationships/oleObject" Target="../embeddings/oleObject7.bin"/><Relationship Id="rId16" Type="http://schemas.openxmlformats.org/officeDocument/2006/relationships/image" Target="../media/image37.emf"/><Relationship Id="rId20" Type="http://schemas.openxmlformats.org/officeDocument/2006/relationships/image" Target="../media/image39.wmf"/><Relationship Id="rId29" Type="http://schemas.openxmlformats.org/officeDocument/2006/relationships/oleObject" Target="../embeddings/oleObject2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41.wmf"/><Relationship Id="rId32" Type="http://schemas.openxmlformats.org/officeDocument/2006/relationships/image" Target="../media/image45.wmf"/><Relationship Id="rId5" Type="http://schemas.openxmlformats.org/officeDocument/2006/relationships/image" Target="../media/image32.wmf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28" Type="http://schemas.openxmlformats.org/officeDocument/2006/relationships/image" Target="../media/image43.wmf"/><Relationship Id="rId10" Type="http://schemas.openxmlformats.org/officeDocument/2006/relationships/image" Target="../media/image53.png"/><Relationship Id="rId19" Type="http://schemas.openxmlformats.org/officeDocument/2006/relationships/oleObject" Target="../embeddings/oleObject15.bin"/><Relationship Id="rId31" Type="http://schemas.openxmlformats.org/officeDocument/2006/relationships/oleObject" Target="../embeddings/oleObject2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34.wmf"/><Relationship Id="rId14" Type="http://schemas.openxmlformats.org/officeDocument/2006/relationships/image" Target="../media/image36.wmf"/><Relationship Id="rId22" Type="http://schemas.openxmlformats.org/officeDocument/2006/relationships/image" Target="../media/image40.wmf"/><Relationship Id="rId27" Type="http://schemas.openxmlformats.org/officeDocument/2006/relationships/oleObject" Target="../embeddings/oleObject19.bin"/><Relationship Id="rId30" Type="http://schemas.openxmlformats.org/officeDocument/2006/relationships/image" Target="../media/image44.wmf"/><Relationship Id="rId8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wmf"/><Relationship Id="rId4" Type="http://schemas.openxmlformats.org/officeDocument/2006/relationships/oleObject" Target="../embeddings/oleObject2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2.png"/><Relationship Id="rId7" Type="http://schemas.openxmlformats.org/officeDocument/2006/relationships/image" Target="../media/image6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670.png"/><Relationship Id="rId9" Type="http://schemas.openxmlformats.org/officeDocument/2006/relationships/image" Target="../media/image70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1.wmf"/><Relationship Id="rId3" Type="http://schemas.openxmlformats.org/officeDocument/2006/relationships/image" Target="../media/image690.png"/><Relationship Id="rId7" Type="http://schemas.openxmlformats.org/officeDocument/2006/relationships/image" Target="../media/image54.png"/><Relationship Id="rId12" Type="http://schemas.openxmlformats.org/officeDocument/2006/relationships/oleObject" Target="../embeddings/oleObject2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11" Type="http://schemas.openxmlformats.org/officeDocument/2006/relationships/image" Target="../media/image50.wmf"/><Relationship Id="rId5" Type="http://schemas.openxmlformats.org/officeDocument/2006/relationships/image" Target="../media/image720.png"/><Relationship Id="rId10" Type="http://schemas.openxmlformats.org/officeDocument/2006/relationships/oleObject" Target="../embeddings/oleObject24.bin"/><Relationship Id="rId4" Type="http://schemas.openxmlformats.org/officeDocument/2006/relationships/image" Target="../media/image710.png"/><Relationship Id="rId9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8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2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5.emf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F7C549-71AE-3C7C-B46E-B4A08D4B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</a:t>
            </a:fld>
            <a:endParaRPr lang="th-T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62353-50F8-611F-933C-E06BEB2B63A7}"/>
              </a:ext>
            </a:extLst>
          </p:cNvPr>
          <p:cNvSpPr txBox="1"/>
          <p:nvPr/>
        </p:nvSpPr>
        <p:spPr>
          <a:xfrm>
            <a:off x="2249314" y="1169600"/>
            <a:ext cx="9028288" cy="5178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CE 72.12 Finite Element Methods in Engineering</a:t>
            </a:r>
          </a:p>
          <a:p>
            <a:pPr algn="ctr"/>
            <a:endParaRPr lang="en-US" sz="1050" dirty="0">
              <a:solidFill>
                <a:schemeClr val="bg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endParaRPr lang="en-US" dirty="0">
              <a:solidFill>
                <a:schemeClr val="bg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endParaRPr lang="en-US" dirty="0">
              <a:solidFill>
                <a:schemeClr val="bg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endParaRPr lang="en-US" dirty="0">
              <a:solidFill>
                <a:schemeClr val="bg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endParaRPr lang="en-US" dirty="0">
              <a:solidFill>
                <a:schemeClr val="bg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Prepared by	Mr. Tanakit Kertsap		st124841</a:t>
            </a:r>
          </a:p>
          <a:p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		Mr. </a:t>
            </a:r>
            <a:r>
              <a:rPr lang="en-US" sz="2400" dirty="0" err="1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Sikared</a:t>
            </a:r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Nuchnueng</a:t>
            </a:r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	st124929</a:t>
            </a:r>
          </a:p>
          <a:p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		Mr. </a:t>
            </a:r>
            <a:r>
              <a:rPr lang="en-US" sz="2400" dirty="0" err="1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Suyam</a:t>
            </a:r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Man Pradhan	st125149</a:t>
            </a:r>
          </a:p>
          <a:p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		Ms. </a:t>
            </a:r>
            <a:r>
              <a:rPr lang="en-US" sz="2400" dirty="0" err="1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Moragoda</a:t>
            </a:r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Liyanage </a:t>
            </a:r>
            <a:r>
              <a:rPr lang="en-US" sz="2400" dirty="0" err="1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Tharumini</a:t>
            </a:r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Abeysingha</a:t>
            </a:r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	</a:t>
            </a:r>
            <a:r>
              <a:rPr lang="en-US" sz="2400" u="sng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st125456</a:t>
            </a:r>
          </a:p>
          <a:p>
            <a:r>
              <a:rPr lang="en-US" sz="24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		Ms. Saraswati Bhandari	st125502</a:t>
            </a:r>
          </a:p>
          <a:p>
            <a:endParaRPr lang="en-US" sz="2400" b="1" dirty="0">
              <a:solidFill>
                <a:schemeClr val="bg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Present on 14</a:t>
            </a:r>
            <a:r>
              <a:rPr lang="en-US" sz="2000" b="1" baseline="30000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th</a:t>
            </a:r>
            <a:r>
              <a:rPr lang="en-US" sz="2000" b="1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May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88D4C2-355D-88AD-4E8A-12C4A27E3E66}"/>
              </a:ext>
            </a:extLst>
          </p:cNvPr>
          <p:cNvSpPr txBox="1"/>
          <p:nvPr/>
        </p:nvSpPr>
        <p:spPr>
          <a:xfrm>
            <a:off x="825498" y="1169600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Group 2</a:t>
            </a:r>
            <a:endParaRPr lang="th-TH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pic>
        <p:nvPicPr>
          <p:cNvPr id="1030" name="Picture 6" descr="AIT Branding Logo">
            <a:extLst>
              <a:ext uri="{FF2B5EF4-FFF2-40B4-BE49-F238E27FC236}">
                <a16:creationId xmlns:a16="http://schemas.microsoft.com/office/drawing/2014/main" id="{46197C1C-B889-72A7-19CA-84076698E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498" y="357476"/>
            <a:ext cx="2641600" cy="55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61832ED-B3BC-408C-17C0-089B13E2A729}"/>
              </a:ext>
            </a:extLst>
          </p:cNvPr>
          <p:cNvSpPr/>
          <p:nvPr/>
        </p:nvSpPr>
        <p:spPr>
          <a:xfrm>
            <a:off x="2249314" y="2023564"/>
            <a:ext cx="9028288" cy="1099225"/>
          </a:xfrm>
          <a:prstGeom prst="rect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FEM implementation for structural analysis</a:t>
            </a:r>
            <a:endParaRPr lang="en-US" sz="3200" b="1" dirty="0">
              <a:solidFill>
                <a:schemeClr val="bg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19328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D411-409A-A498-A40E-DD471C0C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B5FA42-8A26-3A66-A5F4-34102A30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</a:t>
            </a:fld>
            <a:endParaRPr lang="th-T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6CDDDA-0424-716F-D234-EA7A5E44F03D}"/>
                  </a:ext>
                </a:extLst>
              </p:cNvPr>
              <p:cNvSpPr txBox="1"/>
              <p:nvPr/>
            </p:nvSpPr>
            <p:spPr>
              <a:xfrm>
                <a:off x="696000" y="1089684"/>
                <a:ext cx="10800000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Presentation Outline</a:t>
                </a:r>
              </a:p>
              <a:p>
                <a:pPr marL="514350" indent="-514350">
                  <a:buAutoNum type="arabicPeriod"/>
                </a:pPr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Introduction and Objectives</a:t>
                </a:r>
              </a:p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	- 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Flow-Chart 01 (Methodology) </a:t>
                </a:r>
              </a:p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2. Finite Element Method Formulation (FEM Formulation) with MATLAB Scripts</a:t>
                </a:r>
              </a:p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	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- FEM Formulation in </a:t>
                </a:r>
                <a:r>
                  <a:rPr lang="en-US" b="1" i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element level</a:t>
                </a:r>
              </a:p>
              <a:p>
                <a:r>
                  <a:rPr lang="en-US" b="1" i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	- 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FEM Formulation in </a:t>
                </a:r>
                <a:r>
                  <a:rPr lang="en-US" b="1" i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global</a:t>
                </a:r>
              </a:p>
              <a:p>
                <a:r>
                  <a:rPr lang="en-US" sz="28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	- </a:t>
                </a:r>
                <a:r>
                  <a:rPr lang="en-US" sz="28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Applying of Support Conditions and Boundary Conditions </a:t>
                </a:r>
                <a:endParaRPr lang="th-TH" sz="28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3. Implementation of Non-linear Dynamics</a:t>
                </a:r>
              </a:p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	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- Incremental Displacement </a:t>
                </a:r>
              </a:p>
              <a:p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	- Newmark-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Latin-Modern-Math-Word" panose="02000503000000000000" pitchFamily="2" charset="0"/>
                    <a:cs typeface="Latin-Modern-Math-Word" panose="020005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𝛽</m:t>
                    </m:r>
                  </m:oMath>
                </a14:m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and 3D Element displacement analysis</a:t>
                </a:r>
              </a:p>
              <a:p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	- Stress and Strain Analysis (Eigen analysis for principal strain and stress)</a:t>
                </a:r>
              </a:p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4. Failure Criteria</a:t>
                </a:r>
              </a:p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5. Post-processing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6CDDDA-0424-716F-D234-EA7A5E44F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089684"/>
                <a:ext cx="10800000" cy="5693866"/>
              </a:xfrm>
              <a:prstGeom prst="rect">
                <a:avLst/>
              </a:prstGeom>
              <a:blipFill>
                <a:blip r:embed="rId2"/>
                <a:stretch>
                  <a:fillRect l="-1242" t="-1178" b="-2034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27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5C4E-D12E-099B-5687-CD59D0410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3B56C-CB42-0AF2-0631-B280167C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4382B3-D1C3-2AB9-5E43-2AC7C587BBD4}"/>
              </a:ext>
            </a:extLst>
          </p:cNvPr>
          <p:cNvSpPr/>
          <p:nvPr/>
        </p:nvSpPr>
        <p:spPr>
          <a:xfrm>
            <a:off x="3852945" y="2971800"/>
            <a:ext cx="4757655" cy="914400"/>
          </a:xfrm>
          <a:prstGeom prst="roundRect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Introduction and Objective</a:t>
            </a:r>
            <a:endParaRPr lang="th-TH" sz="4000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4606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1D7E-5045-C738-CA32-A4E7732D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C7A2FA-5E9C-D31B-8F3E-4705B43E4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569"/>
            <a:ext cx="2743200" cy="365125"/>
          </a:xfrm>
        </p:spPr>
        <p:txBody>
          <a:bodyPr/>
          <a:lstStyle/>
          <a:p>
            <a:fld id="{D92E7364-E95C-459B-BEF5-B7F8E81A4D6E}" type="slidenum">
              <a:rPr lang="th-TH" smtClean="0"/>
              <a:t>4</a:t>
            </a:fld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FD0F2-DCA4-D3D2-5868-4F65CA696D18}"/>
              </a:ext>
            </a:extLst>
          </p:cNvPr>
          <p:cNvSpPr txBox="1"/>
          <p:nvPr/>
        </p:nvSpPr>
        <p:spPr>
          <a:xfrm>
            <a:off x="696000" y="1594798"/>
            <a:ext cx="1080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Objectives </a:t>
            </a:r>
          </a:p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1. Develop FEM implementation for structural analysis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 by applying the knowledge of:</a:t>
            </a:r>
          </a:p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- Dynamics analysis </a:t>
            </a:r>
          </a:p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- Material non-linearity</a:t>
            </a:r>
          </a:p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- Interpretation of results</a:t>
            </a:r>
          </a:p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2. FEM Formulation with 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TET4</a:t>
            </a:r>
          </a:p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- Mass matrix formulation</a:t>
            </a:r>
          </a:p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- Material non-linearity</a:t>
            </a:r>
          </a:p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- Dynamics displacement incremental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0BE1417-BAB1-BC6E-68B9-C9B551C8D2AD}"/>
              </a:ext>
            </a:extLst>
          </p:cNvPr>
          <p:cNvGrpSpPr/>
          <p:nvPr/>
        </p:nvGrpSpPr>
        <p:grpSpPr>
          <a:xfrm>
            <a:off x="4627138" y="2704704"/>
            <a:ext cx="6950491" cy="3917195"/>
            <a:chOff x="4901644" y="2873667"/>
            <a:chExt cx="6950491" cy="3917195"/>
          </a:xfrm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85B5A21E-77E6-F304-8DA0-7354CD43F34F}"/>
                </a:ext>
              </a:extLst>
            </p:cNvPr>
            <p:cNvSpPr/>
            <p:nvPr/>
          </p:nvSpPr>
          <p:spPr>
            <a:xfrm>
              <a:off x="7168412" y="3034664"/>
              <a:ext cx="554476" cy="3138896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57BFD28-B3F5-9F9F-2E75-9CC7CD997CC5}"/>
                </a:ext>
              </a:extLst>
            </p:cNvPr>
            <p:cNvCxnSpPr/>
            <p:nvPr/>
          </p:nvCxnSpPr>
          <p:spPr>
            <a:xfrm>
              <a:off x="7638581" y="3122214"/>
              <a:ext cx="817124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FE0C1BC-CE6A-B981-89E3-761FCE5AE53D}"/>
                </a:ext>
              </a:extLst>
            </p:cNvPr>
            <p:cNvCxnSpPr>
              <a:cxnSpLocks/>
            </p:cNvCxnSpPr>
            <p:nvPr/>
          </p:nvCxnSpPr>
          <p:spPr>
            <a:xfrm>
              <a:off x="6700278" y="6173560"/>
              <a:ext cx="8837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A0DF1C-30A5-75E6-821B-EA279697C214}"/>
                </a:ext>
              </a:extLst>
            </p:cNvPr>
            <p:cNvSpPr txBox="1"/>
            <p:nvPr/>
          </p:nvSpPr>
          <p:spPr>
            <a:xfrm>
              <a:off x="6519697" y="5973309"/>
              <a:ext cx="11849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////////</a:t>
              </a:r>
              <a:endParaRPr lang="th-TH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91ABF72-04D1-6DCE-5BDD-17D14BD757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3988" y="5682989"/>
              <a:ext cx="489080" cy="490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04D990E-C285-0E64-399F-0EDDAEF4B627}"/>
                </a:ext>
              </a:extLst>
            </p:cNvPr>
            <p:cNvSpPr txBox="1"/>
            <p:nvPr/>
          </p:nvSpPr>
          <p:spPr>
            <a:xfrm rot="18889328">
              <a:off x="7361092" y="5761112"/>
              <a:ext cx="9348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//////</a:t>
              </a:r>
              <a:endParaRPr lang="th-TH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C96A28C-F26F-044C-4124-3D5D32724D7F}"/>
                </a:ext>
              </a:extLst>
            </p:cNvPr>
            <p:cNvCxnSpPr>
              <a:cxnSpLocks/>
            </p:cNvCxnSpPr>
            <p:nvPr/>
          </p:nvCxnSpPr>
          <p:spPr>
            <a:xfrm>
              <a:off x="7384866" y="4527074"/>
              <a:ext cx="198886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headEnd type="oval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56DC56-DD82-CA58-57D1-F2ADADACB2C5}"/>
                </a:ext>
              </a:extLst>
            </p:cNvPr>
            <p:cNvSpPr txBox="1"/>
            <p:nvPr/>
          </p:nvSpPr>
          <p:spPr>
            <a:xfrm>
              <a:off x="8400759" y="2873667"/>
              <a:ext cx="3451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rgbClr val="C000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Dynamics displacement incremental</a:t>
              </a:r>
              <a:endParaRPr lang="th-TH" sz="2400" b="1" i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F5BC415-0AC2-9550-2211-66C99014DAA4}"/>
                </a:ext>
              </a:extLst>
            </p:cNvPr>
            <p:cNvSpPr txBox="1"/>
            <p:nvPr/>
          </p:nvSpPr>
          <p:spPr>
            <a:xfrm>
              <a:off x="7722888" y="4159600"/>
              <a:ext cx="16914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Material nonlinearity</a:t>
              </a:r>
              <a:endParaRPr lang="th-TH" sz="2000" i="1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7D291D5-5691-2ECE-8950-FD76DFCA61C9}"/>
                </a:ext>
              </a:extLst>
            </p:cNvPr>
            <p:cNvSpPr/>
            <p:nvPr/>
          </p:nvSpPr>
          <p:spPr>
            <a:xfrm>
              <a:off x="8348199" y="5664630"/>
              <a:ext cx="432000" cy="43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5448372-D17D-321B-BEDF-837713BE3ACA}"/>
                </a:ext>
              </a:extLst>
            </p:cNvPr>
            <p:cNvGrpSpPr/>
            <p:nvPr/>
          </p:nvGrpSpPr>
          <p:grpSpPr>
            <a:xfrm>
              <a:off x="8818926" y="5664630"/>
              <a:ext cx="256190" cy="432000"/>
              <a:chOff x="662376" y="3458194"/>
              <a:chExt cx="256190" cy="1178547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BFBB35E5-3D34-F811-C93B-1447B50CC7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816" y="3458194"/>
                <a:ext cx="0" cy="117854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44A8474-2475-7581-A2EB-8332154959E8}"/>
                  </a:ext>
                </a:extLst>
              </p:cNvPr>
              <p:cNvCxnSpPr/>
              <p:nvPr/>
            </p:nvCxnSpPr>
            <p:spPr>
              <a:xfrm>
                <a:off x="662376" y="3458194"/>
                <a:ext cx="2561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6A5FBAD-55E9-0B81-7F5F-17BD194CB54C}"/>
                  </a:ext>
                </a:extLst>
              </p:cNvPr>
              <p:cNvCxnSpPr/>
              <p:nvPr/>
            </p:nvCxnSpPr>
            <p:spPr>
              <a:xfrm>
                <a:off x="662376" y="4630504"/>
                <a:ext cx="2561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F4BFAA16-F55A-EA7B-09AC-30DC0C0439EB}"/>
                </a:ext>
              </a:extLst>
            </p:cNvPr>
            <p:cNvGrpSpPr/>
            <p:nvPr/>
          </p:nvGrpSpPr>
          <p:grpSpPr>
            <a:xfrm rot="5400000">
              <a:off x="8428731" y="6037915"/>
              <a:ext cx="256190" cy="446747"/>
              <a:chOff x="662376" y="3458194"/>
              <a:chExt cx="256190" cy="1178547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7E6F38D2-D30E-1BFC-9CDD-A35E13F7F1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816" y="3458194"/>
                <a:ext cx="0" cy="117854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53D2CE8-2373-FB7E-A6B7-A2B58FDFD7F3}"/>
                  </a:ext>
                </a:extLst>
              </p:cNvPr>
              <p:cNvCxnSpPr/>
              <p:nvPr/>
            </p:nvCxnSpPr>
            <p:spPr>
              <a:xfrm>
                <a:off x="662376" y="3458194"/>
                <a:ext cx="2561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6996877-C1E0-F1A9-8DF6-519544713CDA}"/>
                  </a:ext>
                </a:extLst>
              </p:cNvPr>
              <p:cNvCxnSpPr/>
              <p:nvPr/>
            </p:nvCxnSpPr>
            <p:spPr>
              <a:xfrm>
                <a:off x="662376" y="4630504"/>
                <a:ext cx="2561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8CCC7F7-A154-64CC-0617-F0E481B5A711}"/>
                </a:ext>
              </a:extLst>
            </p:cNvPr>
            <p:cNvSpPr txBox="1"/>
            <p:nvPr/>
          </p:nvSpPr>
          <p:spPr>
            <a:xfrm>
              <a:off x="8140183" y="6329197"/>
              <a:ext cx="8755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0.25 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83447F1-7182-A35C-DB09-C18FF3C2548A}"/>
                </a:ext>
              </a:extLst>
            </p:cNvPr>
            <p:cNvSpPr txBox="1"/>
            <p:nvPr/>
          </p:nvSpPr>
          <p:spPr>
            <a:xfrm>
              <a:off x="8936418" y="5642051"/>
              <a:ext cx="8755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0.25 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717EF27A-E7F3-1DA0-CED1-69CC43CEEB47}"/>
                </a:ext>
              </a:extLst>
            </p:cNvPr>
            <p:cNvGrpSpPr/>
            <p:nvPr/>
          </p:nvGrpSpPr>
          <p:grpSpPr>
            <a:xfrm>
              <a:off x="6760172" y="3191712"/>
              <a:ext cx="256190" cy="2998237"/>
              <a:chOff x="662376" y="3458194"/>
              <a:chExt cx="256190" cy="1178547"/>
            </a:xfrm>
          </p:grpSpPr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744E948-6F34-30C9-266A-4918D6E9D5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816" y="3458194"/>
                <a:ext cx="0" cy="117854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DE29950C-1A91-404E-1440-0C5C9D188FF1}"/>
                  </a:ext>
                </a:extLst>
              </p:cNvPr>
              <p:cNvCxnSpPr/>
              <p:nvPr/>
            </p:nvCxnSpPr>
            <p:spPr>
              <a:xfrm>
                <a:off x="662376" y="3458194"/>
                <a:ext cx="2561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4CD8862-A309-59DB-7025-9C3392A17407}"/>
                  </a:ext>
                </a:extLst>
              </p:cNvPr>
              <p:cNvCxnSpPr/>
              <p:nvPr/>
            </p:nvCxnSpPr>
            <p:spPr>
              <a:xfrm>
                <a:off x="662376" y="4630504"/>
                <a:ext cx="2561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8" name="Picture 97" descr="A diagram of a triangle with lines and dots&#10;&#10;AI-generated content may be incorrect.">
              <a:extLst>
                <a:ext uri="{FF2B5EF4-FFF2-40B4-BE49-F238E27FC236}">
                  <a16:creationId xmlns:a16="http://schemas.microsoft.com/office/drawing/2014/main" id="{BD2099E2-2411-1BEF-9647-C221FB006D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l="8121" t="12746"/>
            <a:stretch/>
          </p:blipFill>
          <p:spPr bwMode="auto">
            <a:xfrm>
              <a:off x="4901644" y="2969416"/>
              <a:ext cx="1590945" cy="1510802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427472B-2760-6945-4D93-3C799FC64AF7}"/>
                </a:ext>
              </a:extLst>
            </p:cNvPr>
            <p:cNvSpPr txBox="1"/>
            <p:nvPr/>
          </p:nvSpPr>
          <p:spPr>
            <a:xfrm>
              <a:off x="6351479" y="4307029"/>
              <a:ext cx="74090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3.0 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pic>
          <p:nvPicPr>
            <p:cNvPr id="3074" name="Picture 2" descr="Red Arrow Icon Vector Art, Icons, and Graphics for Free Download">
              <a:extLst>
                <a:ext uri="{FF2B5EF4-FFF2-40B4-BE49-F238E27FC236}">
                  <a16:creationId xmlns:a16="http://schemas.microsoft.com/office/drawing/2014/main" id="{D4A5CC27-667E-7020-6FCE-89AB8E87D3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rgbClr val="0066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30567">
              <a:off x="5841902" y="2900070"/>
              <a:ext cx="927356" cy="927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E63FCF6-4C12-BCAD-DDAE-759E9BF15DAC}"/>
                </a:ext>
              </a:extLst>
            </p:cNvPr>
            <p:cNvSpPr txBox="1"/>
            <p:nvPr/>
          </p:nvSpPr>
          <p:spPr>
            <a:xfrm>
              <a:off x="5946334" y="2883831"/>
              <a:ext cx="8659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Meshing </a:t>
              </a:r>
              <a:endParaRPr lang="th-TH" sz="2000" i="1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0F39C8E-F81A-7828-6943-EFCF137D64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6523" y="3131417"/>
            <a:ext cx="3033412" cy="25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4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383E15-61AA-4459-E09C-913C7F83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5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D91567-BA13-76B6-7879-83B29DB3BD76}"/>
              </a:ext>
            </a:extLst>
          </p:cNvPr>
          <p:cNvSpPr/>
          <p:nvPr/>
        </p:nvSpPr>
        <p:spPr>
          <a:xfrm>
            <a:off x="1226787" y="704086"/>
            <a:ext cx="2160000" cy="5400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Pre-processing</a:t>
            </a:r>
            <a:endParaRPr lang="th-TH" sz="1800" b="1" dirty="0">
              <a:latin typeface="Latin-Modern-Math-Word" panose="02000503000000000000" pitchFamily="2" charset="0"/>
              <a:ea typeface="Latin-Modern-Math-Word" panose="02000503000000000000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7AC10E-0375-F88A-A49D-CACBA4223973}"/>
              </a:ext>
            </a:extLst>
          </p:cNvPr>
          <p:cNvSpPr/>
          <p:nvPr/>
        </p:nvSpPr>
        <p:spPr>
          <a:xfrm>
            <a:off x="860756" y="1604086"/>
            <a:ext cx="2882523" cy="540000"/>
          </a:xfrm>
          <a:prstGeom prst="roundRect">
            <a:avLst>
              <a:gd name="adj" fmla="val 27312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Local mass matrices</a:t>
            </a:r>
            <a:endParaRPr lang="th-TH" sz="1800" b="1" dirty="0">
              <a:solidFill>
                <a:schemeClr val="tx1"/>
              </a:solidFill>
              <a:latin typeface="Latin-Modern-Math-Word" panose="02000503000000000000" pitchFamily="2" charset="0"/>
              <a:ea typeface="Latin-Modern-Math-Word" panose="02000503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BA3A88-DB3F-AF8D-5A7A-766882018767}"/>
              </a:ext>
            </a:extLst>
          </p:cNvPr>
          <p:cNvSpPr/>
          <p:nvPr/>
        </p:nvSpPr>
        <p:spPr>
          <a:xfrm>
            <a:off x="860755" y="2504086"/>
            <a:ext cx="2882523" cy="540000"/>
          </a:xfrm>
          <a:prstGeom prst="roundRect">
            <a:avLst>
              <a:gd name="adj" fmla="val 27312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Global mass matrix</a:t>
            </a:r>
            <a:endParaRPr lang="th-TH" sz="1800" b="1" dirty="0">
              <a:solidFill>
                <a:schemeClr val="tx1"/>
              </a:solidFill>
              <a:latin typeface="Latin-Modern-Math-Word" panose="02000503000000000000" pitchFamily="2" charset="0"/>
              <a:ea typeface="Latin-Modern-Math-Word" panose="02000503000000000000" pitchFamily="2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570D33A-E9D8-6FC5-7DCE-BD72863EB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251328"/>
              </p:ext>
            </p:extLst>
          </p:nvPr>
        </p:nvGraphicFramePr>
        <p:xfrm>
          <a:off x="3635453" y="4976655"/>
          <a:ext cx="2448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190440" progId="Equation.DSMT4">
                  <p:embed/>
                </p:oleObj>
              </mc:Choice>
              <mc:Fallback>
                <p:oleObj name="Equation" r:id="rId2" imgW="1295280" imgH="1904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ED39BBD-DB81-A786-3EA4-68AF5093EC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35453" y="4976655"/>
                        <a:ext cx="2448000" cy="360000"/>
                      </a:xfrm>
                      <a:prstGeom prst="rect">
                        <a:avLst/>
                      </a:prstGeom>
                      <a:ln w="1905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EB0865-6D6F-5E2C-44A5-DE0CAAB43AF6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302018" y="1244086"/>
            <a:ext cx="0" cy="360000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2B7C67-C7C2-E89A-1D31-D4DB9E41ED91}"/>
              </a:ext>
            </a:extLst>
          </p:cNvPr>
          <p:cNvCxnSpPr>
            <a:cxnSpLocks/>
          </p:cNvCxnSpPr>
          <p:nvPr/>
        </p:nvCxnSpPr>
        <p:spPr>
          <a:xfrm flipH="1">
            <a:off x="2302017" y="2144086"/>
            <a:ext cx="0" cy="360000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2CBAD1-C595-5C7F-ABD7-9A70DE3FEC92}"/>
              </a:ext>
            </a:extLst>
          </p:cNvPr>
          <p:cNvCxnSpPr>
            <a:cxnSpLocks/>
          </p:cNvCxnSpPr>
          <p:nvPr/>
        </p:nvCxnSpPr>
        <p:spPr>
          <a:xfrm>
            <a:off x="2299925" y="5175673"/>
            <a:ext cx="1288026" cy="0"/>
          </a:xfrm>
          <a:prstGeom prst="line">
            <a:avLst/>
          </a:prstGeom>
          <a:ln w="25400">
            <a:solidFill>
              <a:srgbClr val="002060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3BF9BE-F3B7-67A4-92B5-C9E24D9C7773}"/>
              </a:ext>
            </a:extLst>
          </p:cNvPr>
          <p:cNvSpPr/>
          <p:nvPr/>
        </p:nvSpPr>
        <p:spPr>
          <a:xfrm>
            <a:off x="860754" y="3404086"/>
            <a:ext cx="2882523" cy="540000"/>
          </a:xfrm>
          <a:prstGeom prst="roundRect">
            <a:avLst>
              <a:gd name="adj" fmla="val 27312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Local stiffness matrices</a:t>
            </a:r>
            <a:endParaRPr lang="th-TH" sz="1800" b="1" dirty="0">
              <a:solidFill>
                <a:schemeClr val="tx1"/>
              </a:solidFill>
              <a:latin typeface="Latin-Modern-Math-Word" panose="02000503000000000000" pitchFamily="2" charset="0"/>
              <a:ea typeface="Latin-Modern-Math-Word" panose="02000503000000000000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D5A6BF-5A10-1A81-BA41-B377CD665A79}"/>
              </a:ext>
            </a:extLst>
          </p:cNvPr>
          <p:cNvCxnSpPr>
            <a:cxnSpLocks/>
          </p:cNvCxnSpPr>
          <p:nvPr/>
        </p:nvCxnSpPr>
        <p:spPr>
          <a:xfrm flipH="1">
            <a:off x="2302016" y="3044086"/>
            <a:ext cx="0" cy="360000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F8D8C2-48AE-0A2E-4B1C-A291CDC3D002}"/>
              </a:ext>
            </a:extLst>
          </p:cNvPr>
          <p:cNvCxnSpPr>
            <a:cxnSpLocks/>
          </p:cNvCxnSpPr>
          <p:nvPr/>
        </p:nvCxnSpPr>
        <p:spPr>
          <a:xfrm flipH="1">
            <a:off x="2299925" y="3944086"/>
            <a:ext cx="0" cy="360000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79225D-E16E-7B2F-70D0-C87FAC545156}"/>
              </a:ext>
            </a:extLst>
          </p:cNvPr>
          <p:cNvSpPr/>
          <p:nvPr/>
        </p:nvSpPr>
        <p:spPr>
          <a:xfrm>
            <a:off x="860754" y="4304086"/>
            <a:ext cx="2882523" cy="540000"/>
          </a:xfrm>
          <a:prstGeom prst="roundRect">
            <a:avLst>
              <a:gd name="adj" fmla="val 27312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Global stiffness matrix</a:t>
            </a:r>
            <a:endParaRPr lang="th-TH" sz="1800" b="1" dirty="0">
              <a:solidFill>
                <a:schemeClr val="tx1"/>
              </a:solidFill>
              <a:latin typeface="Latin-Modern-Math-Word" panose="02000503000000000000" pitchFamily="2" charset="0"/>
              <a:ea typeface="Latin-Modern-Math-Word" panose="02000503000000000000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E9EFD0-9B8C-40DD-84AE-5AB25CB819CD}"/>
              </a:ext>
            </a:extLst>
          </p:cNvPr>
          <p:cNvCxnSpPr>
            <a:cxnSpLocks/>
          </p:cNvCxnSpPr>
          <p:nvPr/>
        </p:nvCxnSpPr>
        <p:spPr>
          <a:xfrm flipH="1">
            <a:off x="2306787" y="4844086"/>
            <a:ext cx="1796" cy="672413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83B8A3-48F0-5DE1-C8CA-5C1CCAD767E7}"/>
              </a:ext>
            </a:extLst>
          </p:cNvPr>
          <p:cNvSpPr/>
          <p:nvPr/>
        </p:nvSpPr>
        <p:spPr>
          <a:xfrm>
            <a:off x="634603" y="5554525"/>
            <a:ext cx="3354016" cy="801827"/>
          </a:xfrm>
          <a:prstGeom prst="roundRect">
            <a:avLst>
              <a:gd name="adj" fmla="val 17175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Solve dynamics equation using </a:t>
            </a:r>
            <a:r>
              <a:rPr lang="en-US" sz="1800" b="1" u="sng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Newmark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AB90ED-27F3-C841-0584-8922B2DE6F84}"/>
              </a:ext>
            </a:extLst>
          </p:cNvPr>
          <p:cNvSpPr/>
          <p:nvPr/>
        </p:nvSpPr>
        <p:spPr>
          <a:xfrm>
            <a:off x="4240607" y="5434111"/>
            <a:ext cx="7841921" cy="970903"/>
          </a:xfrm>
          <a:prstGeom prst="rect">
            <a:avLst/>
          </a:prstGeom>
          <a:solidFill>
            <a:srgbClr val="C00000">
              <a:alpha val="10196"/>
            </a:srgbClr>
          </a:solidFill>
          <a:ln w="2222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800">
              <a:latin typeface="Latin-Modern-Math-Word" panose="02000503000000000000" pitchFamily="2" charset="0"/>
              <a:ea typeface="Latin-Modern-Math-Word" panose="0200050300000000000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5FF31E-F529-5146-6BC6-C4C786E9986A}"/>
              </a:ext>
            </a:extLst>
          </p:cNvPr>
          <p:cNvCxnSpPr>
            <a:cxnSpLocks/>
          </p:cNvCxnSpPr>
          <p:nvPr/>
        </p:nvCxnSpPr>
        <p:spPr>
          <a:xfrm>
            <a:off x="3988619" y="5964915"/>
            <a:ext cx="504723" cy="0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99D672B-1CC5-2E5E-299F-277647139FC3}"/>
                  </a:ext>
                </a:extLst>
              </p:cNvPr>
              <p:cNvSpPr/>
              <p:nvPr/>
            </p:nvSpPr>
            <p:spPr>
              <a:xfrm>
                <a:off x="4500359" y="5518650"/>
                <a:ext cx="1542454" cy="801827"/>
              </a:xfrm>
              <a:prstGeom prst="roundRect">
                <a:avLst>
                  <a:gd name="adj" fmla="val 17175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tx1"/>
                    </a:solidFill>
                    <a:latin typeface="Latin-Modern-Math-Word" panose="02000503000000000000" pitchFamily="2" charset="0"/>
                    <a:ea typeface="Latin-Modern-Math-Word" panose="02000503000000000000" pitchFamily="2" charset="0"/>
                    <a:cs typeface="Latin-Modern-Math-Word" panose="02000503000000000000" pitchFamily="2" charset="0"/>
                  </a:rPr>
                  <a:t>Strain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Latin-Modern-Math-Word" panose="02000503000000000000" pitchFamily="2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𝜀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Latin-Modern-Math-Word" panose="02000503000000000000" pitchFamily="2" charset="0"/>
                    <a:ea typeface="Latin-Modern-Math-Word" panose="02000503000000000000" pitchFamily="2" charset="0"/>
                    <a:cs typeface="Latin-Modern-Math-Word" panose="02000503000000000000" pitchFamily="2" charset="0"/>
                  </a:rPr>
                  <a:t>)</a:t>
                </a:r>
              </a:p>
              <a:p>
                <a:pPr algn="ctr"/>
                <a:r>
                  <a:rPr lang="en-US" sz="1800" dirty="0">
                    <a:solidFill>
                      <a:schemeClr val="tx1"/>
                    </a:solidFill>
                    <a:latin typeface="Latin-Modern-Math-Word" panose="02000503000000000000" pitchFamily="2" charset="0"/>
                    <a:ea typeface="Latin-Modern-Math-Word" panose="02000503000000000000" pitchFamily="2" charset="0"/>
                    <a:cs typeface="Latin-Modern-Math-Word" panose="02000503000000000000" pitchFamily="2" charset="0"/>
                  </a:rPr>
                  <a:t>Stress (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tx1"/>
                        </a:solidFill>
                        <a:latin typeface="Latin-Modern-Math-Word" panose="02000503000000000000" pitchFamily="2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𝜎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Latin-Modern-Math-Word" panose="02000503000000000000" pitchFamily="2" charset="0"/>
                    <a:ea typeface="Latin-Modern-Math-Word" panose="02000503000000000000" pitchFamily="2" charset="0"/>
                    <a:cs typeface="Latin-Modern-Math-Word" panose="02000503000000000000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99D672B-1CC5-2E5E-299F-277647139F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359" y="5518650"/>
                <a:ext cx="1542454" cy="801827"/>
              </a:xfrm>
              <a:prstGeom prst="roundRect">
                <a:avLst>
                  <a:gd name="adj" fmla="val 17175"/>
                </a:avLst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D8E319-81B0-FCD7-9CB9-C21DA412C3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59114" y="5753694"/>
            <a:ext cx="0" cy="360000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03D81C-C7AB-7ACE-D01B-372233CBB9F5}"/>
              </a:ext>
            </a:extLst>
          </p:cNvPr>
          <p:cNvSpPr/>
          <p:nvPr/>
        </p:nvSpPr>
        <p:spPr>
          <a:xfrm>
            <a:off x="6439114" y="5518650"/>
            <a:ext cx="1542454" cy="801827"/>
          </a:xfrm>
          <a:prstGeom prst="roundRect">
            <a:avLst>
              <a:gd name="adj" fmla="val 17175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Principal strain and Stress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7A6AE7-E8C2-0F11-DA80-C24EDC004C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61568" y="5767823"/>
            <a:ext cx="0" cy="360000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C04B729-BB8E-A3EC-62D5-97889BAAAE79}"/>
              </a:ext>
            </a:extLst>
          </p:cNvPr>
          <p:cNvSpPr/>
          <p:nvPr/>
        </p:nvSpPr>
        <p:spPr>
          <a:xfrm>
            <a:off x="8341568" y="5532779"/>
            <a:ext cx="1542454" cy="801827"/>
          </a:xfrm>
          <a:prstGeom prst="roundRect">
            <a:avLst>
              <a:gd name="adj" fmla="val 17175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Failure Criteria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D797667-AE36-8DB7-0F26-54D257B3DE5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064022" y="5767823"/>
            <a:ext cx="0" cy="360000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E7E4678-6585-0F6A-C0F7-612787BDE4FC}"/>
              </a:ext>
            </a:extLst>
          </p:cNvPr>
          <p:cNvSpPr/>
          <p:nvPr/>
        </p:nvSpPr>
        <p:spPr>
          <a:xfrm>
            <a:off x="10244021" y="5532779"/>
            <a:ext cx="1698793" cy="801827"/>
          </a:xfrm>
          <a:prstGeom prst="roundRect">
            <a:avLst>
              <a:gd name="adj" fmla="val 17175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Residual Force (R)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CBA0D6-9DC1-C4A7-3A5D-D3865D803FA8}"/>
              </a:ext>
            </a:extLst>
          </p:cNvPr>
          <p:cNvSpPr txBox="1"/>
          <p:nvPr/>
        </p:nvSpPr>
        <p:spPr>
          <a:xfrm>
            <a:off x="5573373" y="3285930"/>
            <a:ext cx="1799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 Roman 10" panose="00000500000000000000" pitchFamily="50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Non-linearity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D53A21-5AE4-7324-BFCD-BD864308E28C}"/>
              </a:ext>
            </a:extLst>
          </p:cNvPr>
          <p:cNvCxnSpPr>
            <a:cxnSpLocks/>
          </p:cNvCxnSpPr>
          <p:nvPr/>
        </p:nvCxnSpPr>
        <p:spPr>
          <a:xfrm flipH="1">
            <a:off x="3773024" y="3691991"/>
            <a:ext cx="5339771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9F8E1E9-8038-3DAC-9565-22DAD712A9A8}"/>
              </a:ext>
            </a:extLst>
          </p:cNvPr>
          <p:cNvCxnSpPr>
            <a:cxnSpLocks/>
          </p:cNvCxnSpPr>
          <p:nvPr/>
        </p:nvCxnSpPr>
        <p:spPr>
          <a:xfrm flipH="1" flipV="1">
            <a:off x="3386787" y="947529"/>
            <a:ext cx="463461" cy="0"/>
          </a:xfrm>
          <a:prstGeom prst="straightConnector1">
            <a:avLst/>
          </a:prstGeom>
          <a:ln w="28575">
            <a:solidFill>
              <a:srgbClr val="00206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7C05822-0AF0-588F-492A-9CBFF694B2C4}"/>
              </a:ext>
            </a:extLst>
          </p:cNvPr>
          <p:cNvSpPr/>
          <p:nvPr/>
        </p:nvSpPr>
        <p:spPr>
          <a:xfrm>
            <a:off x="3977037" y="1002019"/>
            <a:ext cx="2577076" cy="602067"/>
          </a:xfrm>
          <a:prstGeom prst="roundRect">
            <a:avLst>
              <a:gd name="adj" fmla="val 10437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Load vector 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(displacement at top)</a:t>
            </a:r>
            <a:endParaRPr lang="th-TH" sz="1800" b="1" dirty="0">
              <a:solidFill>
                <a:schemeClr val="tx1"/>
              </a:solidFill>
              <a:latin typeface="Latin-Modern-Math-Word" panose="02000503000000000000" pitchFamily="2" charset="0"/>
              <a:ea typeface="Latin-Modern-Math-Word" panose="02000503000000000000" pitchFamily="2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565FC5C-A398-2EEE-B369-79A5DE3B7608}"/>
              </a:ext>
            </a:extLst>
          </p:cNvPr>
          <p:cNvSpPr/>
          <p:nvPr/>
        </p:nvSpPr>
        <p:spPr>
          <a:xfrm>
            <a:off x="3989213" y="450170"/>
            <a:ext cx="1553527" cy="369332"/>
          </a:xfrm>
          <a:prstGeom prst="roundRect">
            <a:avLst>
              <a:gd name="adj" fmla="val 13557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Meshing</a:t>
            </a:r>
            <a:endParaRPr lang="th-TH" sz="1800" b="1" dirty="0">
              <a:solidFill>
                <a:schemeClr val="tx1"/>
              </a:solidFill>
              <a:latin typeface="Latin-Modern-Math-Word" panose="02000503000000000000" pitchFamily="2" charset="0"/>
              <a:ea typeface="Latin-Modern-Math-Word" panose="02000503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7CBC2E-3D42-0B61-3105-5DF976B4FA56}"/>
              </a:ext>
            </a:extLst>
          </p:cNvPr>
          <p:cNvSpPr txBox="1"/>
          <p:nvPr/>
        </p:nvSpPr>
        <p:spPr>
          <a:xfrm>
            <a:off x="5564156" y="464280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(</a:t>
            </a:r>
            <a:r>
              <a:rPr lang="en-US" sz="1800" b="1" dirty="0" err="1"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Gmsh</a:t>
            </a:r>
            <a:r>
              <a:rPr lang="en-US" sz="1800" b="1" dirty="0">
                <a:latin typeface="Latin-Modern-Math-Word" panose="02000503000000000000" pitchFamily="2" charset="0"/>
                <a:ea typeface="Latin-Modern-Math-Word" panose="02000503000000000000" pitchFamily="2" charset="0"/>
                <a:cs typeface="Latin-Modern-Math-Word" panose="02000503000000000000" pitchFamily="2" charset="0"/>
              </a:rPr>
              <a:t>)</a:t>
            </a:r>
            <a:endParaRPr lang="th-TH" sz="1800" b="1" dirty="0">
              <a:latin typeface="Latin-Modern-Math-Word" panose="02000503000000000000" pitchFamily="2" charset="0"/>
              <a:ea typeface="Latin-Modern-Math-Word" panose="02000503000000000000" pitchFamily="2" charset="0"/>
              <a:cs typeface="FreesiaUPC" panose="020B0604020202020204" pitchFamily="34" charset="-34"/>
            </a:endParaRPr>
          </a:p>
        </p:txBody>
      </p:sp>
      <p:sp>
        <p:nvSpPr>
          <p:cNvPr id="39" name="Left Bracket 38">
            <a:extLst>
              <a:ext uri="{FF2B5EF4-FFF2-40B4-BE49-F238E27FC236}">
                <a16:creationId xmlns:a16="http://schemas.microsoft.com/office/drawing/2014/main" id="{34F98543-47AD-606D-24C0-D9600668F184}"/>
              </a:ext>
            </a:extLst>
          </p:cNvPr>
          <p:cNvSpPr/>
          <p:nvPr/>
        </p:nvSpPr>
        <p:spPr>
          <a:xfrm>
            <a:off x="3850248" y="634671"/>
            <a:ext cx="134442" cy="678829"/>
          </a:xfrm>
          <a:prstGeom prst="leftBracket">
            <a:avLst>
              <a:gd name="adj" fmla="val 0"/>
            </a:avLst>
          </a:prstGeom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h-TH" sz="1800">
              <a:latin typeface="Latin-Modern-Math-Word" panose="02000503000000000000" pitchFamily="2" charset="0"/>
              <a:ea typeface="Latin-Modern-Math-Word" panose="02000503000000000000" pitchFamily="2" charset="0"/>
            </a:endParaRPr>
          </a:p>
        </p:txBody>
      </p:sp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CEE310F1-1C67-B9B0-DEFE-B76E7705F3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030471"/>
              </p:ext>
            </p:extLst>
          </p:nvPr>
        </p:nvGraphicFramePr>
        <p:xfrm>
          <a:off x="4717045" y="6476680"/>
          <a:ext cx="11890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400" imgH="190440" progId="Equation.DSMT4">
                  <p:embed/>
                </p:oleObj>
              </mc:Choice>
              <mc:Fallback>
                <p:oleObj name="Equation" r:id="rId5" imgW="698400" imgH="1904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83CDEDA-7851-4F03-E8D8-801FD92FCD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7045" y="6476680"/>
                        <a:ext cx="1189037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" name="Picture 2" descr="gmsh / fem · GitLab">
            <a:extLst>
              <a:ext uri="{FF2B5EF4-FFF2-40B4-BE49-F238E27FC236}">
                <a16:creationId xmlns:a16="http://schemas.microsoft.com/office/drawing/2014/main" id="{9F760A1B-DE0A-325A-5AC5-CEF5263BB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071" y="-51152"/>
            <a:ext cx="602086" cy="60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F65673-A1D0-1088-3FBB-4B10C3A4EACB}"/>
              </a:ext>
            </a:extLst>
          </p:cNvPr>
          <p:cNvCxnSpPr>
            <a:cxnSpLocks/>
          </p:cNvCxnSpPr>
          <p:nvPr/>
        </p:nvCxnSpPr>
        <p:spPr>
          <a:xfrm flipH="1" flipV="1">
            <a:off x="9103000" y="3692025"/>
            <a:ext cx="0" cy="1840754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1AA0208-C342-3F2B-D9CA-050CB3C2B38F}"/>
              </a:ext>
            </a:extLst>
          </p:cNvPr>
          <p:cNvGrpSpPr/>
          <p:nvPr/>
        </p:nvGrpSpPr>
        <p:grpSpPr>
          <a:xfrm>
            <a:off x="6160168" y="5149965"/>
            <a:ext cx="4933250" cy="372653"/>
            <a:chOff x="6160168" y="4996603"/>
            <a:chExt cx="4933250" cy="52194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FB0C05F-907C-75CB-3358-3404E7120D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93417" y="4996603"/>
              <a:ext cx="1" cy="521946"/>
            </a:xfrm>
            <a:prstGeom prst="line">
              <a:avLst/>
            </a:prstGeom>
            <a:ln w="254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47F4D97-A646-436C-D564-A7115CFD91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0168" y="5010833"/>
              <a:ext cx="4933249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B3749DF-B7C7-3CCE-4B96-6A6511E024C0}"/>
              </a:ext>
            </a:extLst>
          </p:cNvPr>
          <p:cNvSpPr txBox="1"/>
          <p:nvPr/>
        </p:nvSpPr>
        <p:spPr>
          <a:xfrm>
            <a:off x="6663016" y="197441"/>
            <a:ext cx="2439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Non-linearity section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29CDEF-9A53-D428-D26C-AE2282E73EF1}"/>
              </a:ext>
            </a:extLst>
          </p:cNvPr>
          <p:cNvSpPr txBox="1"/>
          <p:nvPr/>
        </p:nvSpPr>
        <p:spPr>
          <a:xfrm>
            <a:off x="6205792" y="6376995"/>
            <a:ext cx="2005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Eigen Analysis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31B4DB1-6E5D-6C62-7818-32015B52B1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3249" y="111711"/>
            <a:ext cx="5539701" cy="383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15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36EB2-5D3A-7263-5262-9B55A89C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5568-B7C5-9A92-4649-1EFA74C0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316F21-4340-B615-7A27-8A5E7926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6</a:t>
            </a:fld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7D18F-9482-D4E4-7DEE-1EE93162E82F}"/>
              </a:ext>
            </a:extLst>
          </p:cNvPr>
          <p:cNvSpPr txBox="1"/>
          <p:nvPr/>
        </p:nvSpPr>
        <p:spPr>
          <a:xfrm>
            <a:off x="695999" y="1027512"/>
            <a:ext cx="10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Introduction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28E605-16E1-D2EE-3B42-6F265273A665}"/>
                  </a:ext>
                </a:extLst>
              </p:cNvPr>
              <p:cNvSpPr txBox="1"/>
              <p:nvPr/>
            </p:nvSpPr>
            <p:spPr>
              <a:xfrm>
                <a:off x="695998" y="1451305"/>
                <a:ext cx="6175858" cy="310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1. Material Model (Element Properties)</a:t>
                </a:r>
              </a:p>
              <a:p>
                <a:pPr lvl="1"/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- </a:t>
                </a:r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Plain concrete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with </a:t>
                </a:r>
                <a:r>
                  <a:rPr lang="en-US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FreesiaUPC" panose="020B0604020202020204" pitchFamily="34" charset="-34"/>
                    <a:cs typeface="FreesiaUPC" panose="020B0604020202020204" pitchFamily="34" charset="-34"/>
                  </a:rPr>
                  <a:t>Modified Hardin </a:t>
                </a:r>
                <a:r>
                  <a:rPr lang="en-US" sz="2400" b="1" i="1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FreesiaUPC" panose="020B0604020202020204" pitchFamily="34" charset="-34"/>
                    <a:cs typeface="FreesiaUPC" panose="020B0604020202020204" pitchFamily="34" charset="-34"/>
                  </a:rPr>
                  <a:t>Drevich</a:t>
                </a:r>
                <a:r>
                  <a:rPr lang="en-US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FreesiaUPC" panose="020B0604020202020204" pitchFamily="34" charset="-34"/>
                    <a:cs typeface="FreesiaUPC" panose="020B0604020202020204" pitchFamily="34" charset="-34"/>
                  </a:rPr>
                  <a:t> (HD) stress-strain</a:t>
                </a:r>
                <a:r>
                  <a:rPr 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FreesiaUPC" panose="020B0604020202020204" pitchFamily="34" charset="-34"/>
                    <a:cs typeface="FreesiaUPC" panose="020B0604020202020204" pitchFamily="34" charset="-34"/>
                  </a:rPr>
                  <a:t> curve. </a:t>
                </a:r>
              </a:p>
              <a:p>
                <a:pPr lvl="1"/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- </a:t>
                </a:r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Concrete density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2,400 kg/m</a:t>
                </a:r>
                <a:r>
                  <a:rPr lang="en-US" sz="2400" baseline="300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3</a:t>
                </a:r>
                <a:endParaRPr lang="en-US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  <a:p>
                <a:pPr lvl="1"/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- </a:t>
                </a:r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Poisson ratio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FreesiaUPC" panose="020B0604020202020204" pitchFamily="34" charset="-34"/>
                      </a:rPr>
                      <m:t>𝜈</m:t>
                    </m:r>
                  </m:oMath>
                </a14:m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)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= 0.20 </a:t>
                </a:r>
              </a:p>
              <a:p>
                <a:pPr lvl="1"/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- </a:t>
                </a:r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Initial tangent modulus (E</a:t>
                </a:r>
                <a:r>
                  <a:rPr lang="en-US" sz="2400" b="1" baseline="-250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0</a:t>
                </a:r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)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= 3.163 x 10</a:t>
                </a:r>
                <a:r>
                  <a:rPr lang="en-US" sz="2400" baseline="300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10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MPa</a:t>
                </a:r>
              </a:p>
              <a:p>
                <a:pPr lvl="1"/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- </a:t>
                </a:r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Maximum compressive stress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FreesiaUPC" panose="020B0604020202020204" pitchFamily="34" charset="-34"/>
                      </a:rPr>
                      <m:t>𝝈</m:t>
                    </m:r>
                  </m:oMath>
                </a14:m>
                <a:r>
                  <a:rPr lang="en-US" sz="2400" b="1" baseline="-250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c, max</a:t>
                </a:r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) =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35 MPa</a:t>
                </a:r>
              </a:p>
              <a:p>
                <a:pPr lvl="1"/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- Maximum tensile stress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FreesiaUPC" panose="020B0604020202020204" pitchFamily="34" charset="-34"/>
                      </a:rPr>
                      <m:t>𝝈</m:t>
                    </m:r>
                  </m:oMath>
                </a14:m>
                <a:r>
                  <a:rPr lang="en-US" sz="2400" b="1" baseline="-250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T, max</a:t>
                </a:r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) =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3.66 MPa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28E605-16E1-D2EE-3B42-6F265273A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98" y="1451305"/>
                <a:ext cx="6175858" cy="3108736"/>
              </a:xfrm>
              <a:prstGeom prst="rect">
                <a:avLst/>
              </a:prstGeom>
              <a:blipFill>
                <a:blip r:embed="rId3"/>
                <a:stretch>
                  <a:fillRect l="-1974" t="-1961" b="-4118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529ED2-00D0-5B59-E4A4-529701C9A850}"/>
              </a:ext>
            </a:extLst>
          </p:cNvPr>
          <p:cNvSpPr/>
          <p:nvPr/>
        </p:nvSpPr>
        <p:spPr>
          <a:xfrm>
            <a:off x="838200" y="4721350"/>
            <a:ext cx="1982003" cy="41547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MATLAB: </a:t>
            </a:r>
            <a:r>
              <a:rPr lang="en-US" sz="2400" dirty="0">
                <a:latin typeface="FreesiaUPC" panose="020B0604020202020204" pitchFamily="34" charset="-34"/>
                <a:cs typeface="FreesiaUPC" panose="020B0604020202020204" pitchFamily="34" charset="-34"/>
              </a:rPr>
              <a:t>G2.m</a:t>
            </a:r>
            <a:endParaRPr lang="th-TH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8A51DA-C24B-51BE-B8D6-5D6240171810}"/>
              </a:ext>
            </a:extLst>
          </p:cNvPr>
          <p:cNvSpPr/>
          <p:nvPr/>
        </p:nvSpPr>
        <p:spPr>
          <a:xfrm>
            <a:off x="838200" y="5046029"/>
            <a:ext cx="5359267" cy="1568918"/>
          </a:xfrm>
          <a:prstGeom prst="roundRect">
            <a:avLst>
              <a:gd name="adj" fmla="val 7465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22EC6-2F0E-46DA-8F99-6D4A5B7131B4}"/>
              </a:ext>
            </a:extLst>
          </p:cNvPr>
          <p:cNvSpPr txBox="1"/>
          <p:nvPr/>
        </p:nvSpPr>
        <p:spPr>
          <a:xfrm>
            <a:off x="965334" y="5132657"/>
            <a:ext cx="53298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E=3.163e10; 	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%Young Modulus 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nu=0.2; 		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%Poisson ratio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rho = 2400; 	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%Density of concrete kg/m</a:t>
            </a:r>
            <a:r>
              <a:rPr lang="en-US" sz="1400" b="0" i="0" baseline="3000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3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g = 9.81; 		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%Acceleration due to gravity, m/s</a:t>
            </a:r>
            <a:r>
              <a:rPr lang="en-US" sz="1400" b="0" i="0" baseline="3000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2</a:t>
            </a:r>
            <a:endParaRPr lang="en-US" sz="1400" b="0" i="0" baseline="3000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SigmaMax_C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35*e</a:t>
            </a:r>
            <a:r>
              <a:rPr lang="en-US" sz="1400" dirty="0">
                <a:latin typeface="Lucida Fax" panose="02060602050505020204" pitchFamily="18" charset="0"/>
              </a:rPr>
              <a:t>6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; </a:t>
            </a:r>
            <a:r>
              <a:rPr lang="en-US" sz="1400" dirty="0">
                <a:latin typeface="Lucida Fax" panose="02060602050505020204" pitchFamily="18" charset="0"/>
              </a:rPr>
              <a:t> 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max. compressive stress N/m</a:t>
            </a:r>
            <a:r>
              <a:rPr lang="en-US" sz="1400" b="0" i="0" baseline="3000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2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r>
              <a:rPr lang="en-US" sz="1400" b="0" i="0" dirty="0" err="1">
                <a:effectLst/>
                <a:latin typeface="Lucida Fax" panose="02060602050505020204" pitchFamily="18" charset="0"/>
              </a:rPr>
              <a:t>SigmaMax_T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10*e</a:t>
            </a:r>
            <a:r>
              <a:rPr lang="en-US" sz="1400" dirty="0">
                <a:latin typeface="Lucida Fax" panose="02060602050505020204" pitchFamily="18" charset="0"/>
              </a:rPr>
              <a:t>6*0.62*sqrt(</a:t>
            </a:r>
            <a:r>
              <a:rPr lang="en-US" sz="1400" dirty="0" err="1">
                <a:latin typeface="Lucida Fax" panose="02060602050505020204" pitchFamily="18" charset="0"/>
              </a:rPr>
              <a:t>SigmaMax_C</a:t>
            </a:r>
            <a:r>
              <a:rPr lang="en-US" sz="1400" dirty="0">
                <a:latin typeface="Lucida Fax" panose="02060602050505020204" pitchFamily="18" charset="0"/>
              </a:rPr>
              <a:t>/10^6);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F48A14-E98E-03F9-D6D6-8CFFBB4A3D31}"/>
              </a:ext>
            </a:extLst>
          </p:cNvPr>
          <p:cNvSpPr txBox="1"/>
          <p:nvPr/>
        </p:nvSpPr>
        <p:spPr>
          <a:xfrm>
            <a:off x="2744224" y="4650552"/>
            <a:ext cx="1547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eesiaUPC" panose="020B0604020202020204" pitchFamily="34" charset="-34"/>
                <a:cs typeface="FreesiaUPC" panose="020B0604020202020204" pitchFamily="34" charset="-34"/>
              </a:rPr>
              <a:t>(Line 10-16 )</a:t>
            </a:r>
            <a:endParaRPr lang="th-TH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ED698DD-B211-E36D-11B3-CDB5A8180711}"/>
              </a:ext>
            </a:extLst>
          </p:cNvPr>
          <p:cNvGrpSpPr/>
          <p:nvPr/>
        </p:nvGrpSpPr>
        <p:grpSpPr>
          <a:xfrm>
            <a:off x="7291259" y="2346386"/>
            <a:ext cx="3908416" cy="3006262"/>
            <a:chOff x="7246064" y="1008800"/>
            <a:chExt cx="3908416" cy="3006262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7E14348-E213-D2E7-835D-C3D953661422}"/>
                </a:ext>
              </a:extLst>
            </p:cNvPr>
            <p:cNvSpPr/>
            <p:nvPr/>
          </p:nvSpPr>
          <p:spPr>
            <a:xfrm>
              <a:off x="8342591" y="1694240"/>
              <a:ext cx="2075393" cy="1684217"/>
            </a:xfrm>
            <a:custGeom>
              <a:avLst/>
              <a:gdLst>
                <a:gd name="connsiteX0" fmla="*/ 0 w 3321011"/>
                <a:gd name="connsiteY0" fmla="*/ 2804908 h 2804908"/>
                <a:gd name="connsiteX1" fmla="*/ 280491 w 3321011"/>
                <a:gd name="connsiteY1" fmla="*/ 2058802 h 2804908"/>
                <a:gd name="connsiteX2" fmla="*/ 762935 w 3321011"/>
                <a:gd name="connsiteY2" fmla="*/ 1368795 h 2804908"/>
                <a:gd name="connsiteX3" fmla="*/ 1739043 w 3321011"/>
                <a:gd name="connsiteY3" fmla="*/ 645128 h 2804908"/>
                <a:gd name="connsiteX4" fmla="*/ 3321011 w 3321011"/>
                <a:gd name="connsiteY4" fmla="*/ 0 h 2804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1011" h="2804908">
                  <a:moveTo>
                    <a:pt x="0" y="2804908"/>
                  </a:moveTo>
                  <a:cubicBezTo>
                    <a:pt x="76667" y="2551531"/>
                    <a:pt x="153335" y="2298154"/>
                    <a:pt x="280491" y="2058802"/>
                  </a:cubicBezTo>
                  <a:cubicBezTo>
                    <a:pt x="407647" y="1819450"/>
                    <a:pt x="519843" y="1604407"/>
                    <a:pt x="762935" y="1368795"/>
                  </a:cubicBezTo>
                  <a:cubicBezTo>
                    <a:pt x="1006027" y="1133183"/>
                    <a:pt x="1312697" y="873260"/>
                    <a:pt x="1739043" y="645128"/>
                  </a:cubicBezTo>
                  <a:cubicBezTo>
                    <a:pt x="2165389" y="416996"/>
                    <a:pt x="2743200" y="208498"/>
                    <a:pt x="3321011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ADFD4C6-BE55-D365-251F-54A452B6665A}"/>
                </a:ext>
              </a:extLst>
            </p:cNvPr>
            <p:cNvSpPr txBox="1"/>
            <p:nvPr/>
          </p:nvSpPr>
          <p:spPr>
            <a:xfrm>
              <a:off x="8410636" y="1497754"/>
              <a:ext cx="13404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Compression</a:t>
              </a:r>
              <a:endParaRPr lang="th-TH" sz="2400" i="1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5F7BE68-4BFE-B9FD-5F1B-680354F372B1}"/>
                </a:ext>
              </a:extLst>
            </p:cNvPr>
            <p:cNvSpPr txBox="1"/>
            <p:nvPr/>
          </p:nvSpPr>
          <p:spPr>
            <a:xfrm>
              <a:off x="7246064" y="3553397"/>
              <a:ext cx="8739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Tension</a:t>
              </a:r>
              <a:endParaRPr lang="th-TH" sz="2400" i="1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758357-23F1-7729-D18A-C4914F988E1D}"/>
                </a:ext>
              </a:extLst>
            </p:cNvPr>
            <p:cNvSpPr txBox="1"/>
            <p:nvPr/>
          </p:nvSpPr>
          <p:spPr>
            <a:xfrm>
              <a:off x="8342590" y="2074683"/>
              <a:ext cx="3866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E</a:t>
              </a:r>
              <a:r>
                <a:rPr lang="en-US" sz="2400" baseline="-250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0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graphicFrame>
          <p:nvGraphicFramePr>
            <p:cNvPr id="47" name="Object 46">
              <a:extLst>
                <a:ext uri="{FF2B5EF4-FFF2-40B4-BE49-F238E27FC236}">
                  <a16:creationId xmlns:a16="http://schemas.microsoft.com/office/drawing/2014/main" id="{38BE4225-A92B-E222-B888-58F7DCF7EA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1518038"/>
                </p:ext>
              </p:extLst>
            </p:nvPr>
          </p:nvGraphicFramePr>
          <p:xfrm>
            <a:off x="10892543" y="3265408"/>
            <a:ext cx="261937" cy="287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2318" imgH="288052" progId="Equation.DSMT4">
                    <p:embed/>
                  </p:oleObj>
                </mc:Choice>
                <mc:Fallback>
                  <p:oleObj name="Equation" r:id="rId4" imgW="262318" imgH="288052" progId="Equation.DSMT4">
                    <p:embed/>
                    <p:pic>
                      <p:nvPicPr>
                        <p:cNvPr id="48" name="Object 47">
                          <a:extLst>
                            <a:ext uri="{FF2B5EF4-FFF2-40B4-BE49-F238E27FC236}">
                              <a16:creationId xmlns:a16="http://schemas.microsoft.com/office/drawing/2014/main" id="{76D155E9-3B3A-7608-EF27-0297723017A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892543" y="3265408"/>
                          <a:ext cx="261937" cy="2873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47">
              <a:extLst>
                <a:ext uri="{FF2B5EF4-FFF2-40B4-BE49-F238E27FC236}">
                  <a16:creationId xmlns:a16="http://schemas.microsoft.com/office/drawing/2014/main" id="{2BD721FA-1BD9-AE3E-0DE2-CEEA250BB9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2987039"/>
                </p:ext>
              </p:extLst>
            </p:nvPr>
          </p:nvGraphicFramePr>
          <p:xfrm>
            <a:off x="8223529" y="1008800"/>
            <a:ext cx="238125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37850" imgH="216670" progId="Equation.DSMT4">
                    <p:embed/>
                  </p:oleObj>
                </mc:Choice>
                <mc:Fallback>
                  <p:oleObj name="Equation" r:id="rId6" imgW="237850" imgH="216670" progId="Equation.DSMT4">
                    <p:embed/>
                    <p:pic>
                      <p:nvPicPr>
                        <p:cNvPr id="49" name="Object 48">
                          <a:extLst>
                            <a:ext uri="{FF2B5EF4-FFF2-40B4-BE49-F238E27FC236}">
                              <a16:creationId xmlns:a16="http://schemas.microsoft.com/office/drawing/2014/main" id="{DD9E964C-BB59-D5D2-05CD-D87989C880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223529" y="1008800"/>
                          <a:ext cx="238125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48">
              <a:extLst>
                <a:ext uri="{FF2B5EF4-FFF2-40B4-BE49-F238E27FC236}">
                  <a16:creationId xmlns:a16="http://schemas.microsoft.com/office/drawing/2014/main" id="{1581485F-745B-9870-4432-74B735104A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9035966"/>
                </p:ext>
              </p:extLst>
            </p:nvPr>
          </p:nvGraphicFramePr>
          <p:xfrm>
            <a:off x="9080852" y="2308214"/>
            <a:ext cx="1644452" cy="97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08489" imgH="1009085" progId="Equation.DSMT4">
                    <p:embed/>
                  </p:oleObj>
                </mc:Choice>
                <mc:Fallback>
                  <p:oleObj name="Equation" r:id="rId8" imgW="1708489" imgH="1009085" progId="Equation.DSMT4">
                    <p:embed/>
                    <p:pic>
                      <p:nvPicPr>
                        <p:cNvPr id="50" name="Object 49">
                          <a:extLst>
                            <a:ext uri="{FF2B5EF4-FFF2-40B4-BE49-F238E27FC236}">
                              <a16:creationId xmlns:a16="http://schemas.microsoft.com/office/drawing/2014/main" id="{AC1A9E0D-FEAF-1846-6E77-1994FF6502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080852" y="2308214"/>
                          <a:ext cx="1644452" cy="972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E93386F1-BFA7-9CEE-0519-D45D08A98C59}"/>
              </a:ext>
            </a:extLst>
          </p:cNvPr>
          <p:cNvSpPr txBox="1"/>
          <p:nvPr/>
        </p:nvSpPr>
        <p:spPr>
          <a:xfrm>
            <a:off x="6197467" y="18847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Modified Hardin </a:t>
            </a:r>
            <a:r>
              <a:rPr lang="en-US" sz="2400" b="1" i="1" dirty="0" err="1">
                <a:latin typeface="FreesiaUPC" panose="020B0604020202020204" pitchFamily="34" charset="-34"/>
                <a:cs typeface="FreesiaUPC" panose="020B0604020202020204" pitchFamily="34" charset="-34"/>
              </a:rPr>
              <a:t>Drevich</a:t>
            </a:r>
            <a:r>
              <a:rPr lang="en-US" sz="2400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 stress-strain curve. </a:t>
            </a:r>
            <a:endParaRPr lang="th-TH" sz="2400" b="1" i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DCD0F9A-5D6E-AD66-167F-0144F4F4C6D5}"/>
              </a:ext>
            </a:extLst>
          </p:cNvPr>
          <p:cNvGrpSpPr/>
          <p:nvPr/>
        </p:nvGrpSpPr>
        <p:grpSpPr>
          <a:xfrm>
            <a:off x="10770499" y="2425066"/>
            <a:ext cx="310786" cy="1142053"/>
            <a:chOff x="10725697" y="2465304"/>
            <a:chExt cx="310786" cy="1142053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1FB0DBF-E615-244B-E460-2BB1548DE207}"/>
                </a:ext>
              </a:extLst>
            </p:cNvPr>
            <p:cNvSpPr/>
            <p:nvPr/>
          </p:nvSpPr>
          <p:spPr>
            <a:xfrm>
              <a:off x="10725697" y="2775656"/>
              <a:ext cx="310786" cy="5349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356012F-FE86-57F8-9714-C8607F7770CD}"/>
                </a:ext>
              </a:extLst>
            </p:cNvPr>
            <p:cNvCxnSpPr/>
            <p:nvPr/>
          </p:nvCxnSpPr>
          <p:spPr>
            <a:xfrm>
              <a:off x="10863672" y="2465304"/>
              <a:ext cx="0" cy="310352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BFAAA61-5E3D-6A19-5827-B8F6C97236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7721" y="3297005"/>
              <a:ext cx="0" cy="310352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0A86DD5-9BD7-DC9A-5516-DDC2A3384BC2}"/>
                </a:ext>
              </a:extLst>
            </p:cNvPr>
            <p:cNvCxnSpPr>
              <a:cxnSpLocks/>
            </p:cNvCxnSpPr>
            <p:nvPr/>
          </p:nvCxnSpPr>
          <p:spPr>
            <a:xfrm>
              <a:off x="10877721" y="2835340"/>
              <a:ext cx="0" cy="416329"/>
            </a:xfrm>
            <a:prstGeom prst="line">
              <a:avLst/>
            </a:prstGeom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D73EFF1-DFEF-4E36-3F4D-F6EA2BACFE98}"/>
              </a:ext>
            </a:extLst>
          </p:cNvPr>
          <p:cNvGrpSpPr/>
          <p:nvPr/>
        </p:nvGrpSpPr>
        <p:grpSpPr>
          <a:xfrm>
            <a:off x="7302262" y="5342104"/>
            <a:ext cx="310786" cy="1142053"/>
            <a:chOff x="8726548" y="4894951"/>
            <a:chExt cx="310786" cy="1142053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4911E3D-B7F7-6313-BD48-63F1F77A502D}"/>
                </a:ext>
              </a:extLst>
            </p:cNvPr>
            <p:cNvSpPr/>
            <p:nvPr/>
          </p:nvSpPr>
          <p:spPr>
            <a:xfrm>
              <a:off x="8726548" y="5205303"/>
              <a:ext cx="310786" cy="5349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D9A5D7A-BC77-995B-A4BC-395D5A4248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5743" y="4894951"/>
              <a:ext cx="0" cy="310352"/>
            </a:xfrm>
            <a:prstGeom prst="straightConnector1">
              <a:avLst/>
            </a:prstGeom>
            <a:ln w="28575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1598DC1-1B5F-6881-7808-2F300067B7A3}"/>
                </a:ext>
              </a:extLst>
            </p:cNvPr>
            <p:cNvCxnSpPr>
              <a:cxnSpLocks/>
            </p:cNvCxnSpPr>
            <p:nvPr/>
          </p:nvCxnSpPr>
          <p:spPr>
            <a:xfrm>
              <a:off x="8878572" y="5726652"/>
              <a:ext cx="0" cy="310352"/>
            </a:xfrm>
            <a:prstGeom prst="straightConnector1">
              <a:avLst/>
            </a:prstGeom>
            <a:ln w="28575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4030DBC-FC7A-54D5-5202-6A77154DE4B1}"/>
                </a:ext>
              </a:extLst>
            </p:cNvPr>
            <p:cNvCxnSpPr>
              <a:cxnSpLocks/>
            </p:cNvCxnSpPr>
            <p:nvPr/>
          </p:nvCxnSpPr>
          <p:spPr>
            <a:xfrm>
              <a:off x="8878572" y="5264987"/>
              <a:ext cx="0" cy="416329"/>
            </a:xfrm>
            <a:prstGeom prst="line">
              <a:avLst/>
            </a:prstGeom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7123EF-FC18-4CBD-E64C-463C3E8A53C2}"/>
              </a:ext>
            </a:extLst>
          </p:cNvPr>
          <p:cNvCxnSpPr>
            <a:cxnSpLocks/>
          </p:cNvCxnSpPr>
          <p:nvPr/>
        </p:nvCxnSpPr>
        <p:spPr>
          <a:xfrm flipV="1">
            <a:off x="8277092" y="4729491"/>
            <a:ext cx="0" cy="302563"/>
          </a:xfrm>
          <a:prstGeom prst="line">
            <a:avLst/>
          </a:prstGeom>
          <a:ln w="12700">
            <a:solidFill>
              <a:srgbClr val="0066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EBAEB7-C424-8E1C-861A-A03D542AA4DC}"/>
              </a:ext>
            </a:extLst>
          </p:cNvPr>
          <p:cNvCxnSpPr>
            <a:cxnSpLocks/>
          </p:cNvCxnSpPr>
          <p:nvPr/>
        </p:nvCxnSpPr>
        <p:spPr>
          <a:xfrm flipH="1">
            <a:off x="8279971" y="4705883"/>
            <a:ext cx="107816" cy="329986"/>
          </a:xfrm>
          <a:prstGeom prst="line">
            <a:avLst/>
          </a:prstGeom>
          <a:ln w="28575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BF3F81-50DD-69B1-CC5A-FFE7EED014F3}"/>
              </a:ext>
            </a:extLst>
          </p:cNvPr>
          <p:cNvCxnSpPr>
            <a:cxnSpLocks/>
          </p:cNvCxnSpPr>
          <p:nvPr/>
        </p:nvCxnSpPr>
        <p:spPr>
          <a:xfrm>
            <a:off x="7309595" y="4716043"/>
            <a:ext cx="3611859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2828D4-25B6-1C30-EA94-090FE02A340B}"/>
              </a:ext>
            </a:extLst>
          </p:cNvPr>
          <p:cNvCxnSpPr>
            <a:cxnSpLocks/>
          </p:cNvCxnSpPr>
          <p:nvPr/>
        </p:nvCxnSpPr>
        <p:spPr>
          <a:xfrm flipV="1">
            <a:off x="8389756" y="2554410"/>
            <a:ext cx="0" cy="3185843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E2453D-FA8D-6EDA-B240-E21816EA051A}"/>
              </a:ext>
            </a:extLst>
          </p:cNvPr>
          <p:cNvCxnSpPr>
            <a:cxnSpLocks/>
          </p:cNvCxnSpPr>
          <p:nvPr/>
        </p:nvCxnSpPr>
        <p:spPr>
          <a:xfrm flipV="1">
            <a:off x="8391079" y="3575805"/>
            <a:ext cx="411542" cy="1126615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2FEA72E-362D-5A84-A66A-947DBCB3E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0100" y="4865956"/>
            <a:ext cx="2797008" cy="1618271"/>
          </a:xfrm>
        </p:spPr>
        <p:txBody>
          <a:bodyPr>
            <a:normAutofit fontScale="92500" lnSpcReduction="10000"/>
          </a:bodyPr>
          <a:lstStyle/>
          <a:p>
            <a:r>
              <a:rPr lang="en-US" sz="2500" b="1" i="1" dirty="0"/>
              <a:t>Material Assumptions:</a:t>
            </a:r>
          </a:p>
          <a:p>
            <a:r>
              <a:rPr lang="en-US" sz="2500" dirty="0"/>
              <a:t>1. Isotropic Materials</a:t>
            </a:r>
          </a:p>
          <a:p>
            <a:r>
              <a:rPr lang="en-US" sz="2500" dirty="0"/>
              <a:t>2. Homogenous</a:t>
            </a:r>
          </a:p>
          <a:p>
            <a:r>
              <a:rPr lang="en-US" sz="2500" dirty="0"/>
              <a:t>3. Incompressible</a:t>
            </a:r>
          </a:p>
          <a:p>
            <a:endParaRPr lang="en-US" sz="2500" dirty="0"/>
          </a:p>
          <a:p>
            <a:pPr marL="514350" indent="-514350">
              <a:buAutoNum type="arabicPeriod"/>
            </a:pPr>
            <a:endParaRPr lang="th-TH" sz="2500" dirty="0"/>
          </a:p>
        </p:txBody>
      </p:sp>
    </p:spTree>
    <p:extLst>
      <p:ext uri="{BB962C8B-B14F-4D97-AF65-F5344CB8AC3E}">
        <p14:creationId xmlns:p14="http://schemas.microsoft.com/office/powerpoint/2010/main" val="1680263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0C85-EAF3-43BE-3B29-5AB97384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3C32D-89AF-02DA-C498-9F0B547F0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52E37-4452-6B37-4686-A53D8395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1386" y="6076099"/>
            <a:ext cx="2743200" cy="365125"/>
          </a:xfrm>
        </p:spPr>
        <p:txBody>
          <a:bodyPr/>
          <a:lstStyle/>
          <a:p>
            <a:fld id="{D92E7364-E95C-459B-BEF5-B7F8E81A4D6E}" type="slidenum">
              <a:rPr lang="th-TH" smtClean="0"/>
              <a:t>7</a:t>
            </a:fld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194E07-8E50-56E8-5D96-8F4A98306E28}"/>
              </a:ext>
            </a:extLst>
          </p:cNvPr>
          <p:cNvSpPr txBox="1"/>
          <p:nvPr/>
        </p:nvSpPr>
        <p:spPr>
          <a:xfrm>
            <a:off x="695999" y="1027512"/>
            <a:ext cx="10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Introduction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F1FA4-0D17-6AEE-6FBA-0B5114FA509F}"/>
              </a:ext>
            </a:extLst>
          </p:cNvPr>
          <p:cNvSpPr txBox="1"/>
          <p:nvPr/>
        </p:nvSpPr>
        <p:spPr>
          <a:xfrm>
            <a:off x="695998" y="1451305"/>
            <a:ext cx="735063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2. Meshing </a:t>
            </a:r>
          </a:p>
          <a:p>
            <a:pPr lvl="1" algn="thaiDist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- Four-Node Tetrahedral Elements (TET4)</a:t>
            </a:r>
          </a:p>
          <a:p>
            <a:pPr lvl="1" algn="thaiDist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- Import </a:t>
            </a:r>
            <a:r>
              <a:rPr lang="en-US" b="1" i="1" dirty="0" err="1">
                <a:latin typeface="FreesiaUPC" panose="020B0604020202020204" pitchFamily="34" charset="-34"/>
                <a:cs typeface="FreesiaUPC" panose="020B0604020202020204" pitchFamily="34" charset="-34"/>
              </a:rPr>
              <a:t>gmsh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 to MATLAB then we get </a:t>
            </a:r>
          </a:p>
          <a:p>
            <a:pPr lvl="1" algn="thaiDist"/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	Number of TET4 element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= 122 elements </a:t>
            </a:r>
          </a:p>
          <a:p>
            <a:pPr lvl="1" algn="thaiDist"/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	Number of node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 (</a:t>
            </a:r>
            <a:r>
              <a:rPr lang="en-US" dirty="0" err="1">
                <a:latin typeface="FreesiaUPC" panose="020B0604020202020204" pitchFamily="34" charset="-34"/>
                <a:cs typeface="FreesiaUPC" panose="020B0604020202020204" pitchFamily="34" charset="-34"/>
              </a:rPr>
              <a:t>nNode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) = 54 nodes</a:t>
            </a:r>
          </a:p>
          <a:p>
            <a:pPr lvl="1" algn="thaiDist"/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	Element connectivity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(</a:t>
            </a:r>
            <a:r>
              <a:rPr lang="en-US" dirty="0" err="1">
                <a:latin typeface="FreesiaUPC" panose="020B0604020202020204" pitchFamily="34" charset="-34"/>
                <a:cs typeface="FreesiaUPC" panose="020B0604020202020204" pitchFamily="34" charset="-34"/>
              </a:rPr>
              <a:t>ELEMCon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)</a:t>
            </a:r>
          </a:p>
          <a:p>
            <a:pPr lvl="1" algn="thaiDist"/>
            <a:endParaRPr lang="en-US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C94C14-2DC1-8E1A-2754-FD99A51A6EC3}"/>
              </a:ext>
            </a:extLst>
          </p:cNvPr>
          <p:cNvGrpSpPr/>
          <p:nvPr/>
        </p:nvGrpSpPr>
        <p:grpSpPr>
          <a:xfrm>
            <a:off x="805564" y="4254067"/>
            <a:ext cx="6259286" cy="2184049"/>
            <a:chOff x="838200" y="4391955"/>
            <a:chExt cx="6259286" cy="218404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79F49EF-2FBB-5E5D-E65E-2A67213656BF}"/>
                </a:ext>
              </a:extLst>
            </p:cNvPr>
            <p:cNvSpPr/>
            <p:nvPr/>
          </p:nvSpPr>
          <p:spPr>
            <a:xfrm>
              <a:off x="838200" y="4462753"/>
              <a:ext cx="1982003" cy="415475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MATLAB: </a:t>
              </a:r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G2.m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26421B3-7222-24F9-0DBC-C65D47AB8F12}"/>
                </a:ext>
              </a:extLst>
            </p:cNvPr>
            <p:cNvSpPr/>
            <p:nvPr/>
          </p:nvSpPr>
          <p:spPr>
            <a:xfrm>
              <a:off x="838200" y="4787432"/>
              <a:ext cx="6259286" cy="1788572"/>
            </a:xfrm>
            <a:prstGeom prst="roundRect">
              <a:avLst>
                <a:gd name="adj" fmla="val 7465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5835CE3-AD9B-1775-14BD-5A2E1002A536}"/>
                </a:ext>
              </a:extLst>
            </p:cNvPr>
            <p:cNvSpPr txBox="1"/>
            <p:nvPr/>
          </p:nvSpPr>
          <p:spPr>
            <a:xfrm>
              <a:off x="2744224" y="4391955"/>
              <a:ext cx="1547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(Line 19-25 )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B40F38-CB44-CDC5-8197-80E908AF6BCF}"/>
                </a:ext>
              </a:extLst>
            </p:cNvPr>
            <p:cNvSpPr txBox="1"/>
            <p:nvPr/>
          </p:nvSpPr>
          <p:spPr>
            <a:xfrm>
              <a:off x="1001486" y="4870393"/>
              <a:ext cx="6096000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Fax" panose="02060602050505020204" pitchFamily="18" charset="0"/>
                </a:rPr>
                <a:t>%% Run mesh file to get the node coordinates and nodes:</a:t>
              </a:r>
              <a:endParaRPr lang="en-US" sz="1400" b="0" i="0" dirty="0">
                <a:effectLst/>
                <a:latin typeface="Lucida Fax" panose="020606020505050202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effectLst/>
                  <a:highlight>
                    <a:srgbClr val="FFFF00"/>
                  </a:highlight>
                  <a:latin typeface="Lucida Fax" panose="02060602050505020204" pitchFamily="18" charset="0"/>
                </a:rPr>
                <a:t>MeshG2 </a:t>
              </a:r>
            </a:p>
            <a:p>
              <a:pPr>
                <a:buNone/>
              </a:pP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nodeCoordinates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 = 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msh.POS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; 	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Fax" panose="02060602050505020204" pitchFamily="18" charset="0"/>
                </a:rPr>
                <a:t>% Node Coordinates of each node</a:t>
              </a:r>
              <a:endParaRPr lang="en-US" sz="1400" b="0" i="0" dirty="0">
                <a:effectLst/>
                <a:latin typeface="Lucida Fax" panose="02060602050505020204" pitchFamily="18" charset="0"/>
              </a:endParaRPr>
            </a:p>
            <a:p>
              <a:pPr>
                <a:buNone/>
              </a:pP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ELEMCon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 = 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msh.TETS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(:,1:4);	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Fax" panose="02060602050505020204" pitchFamily="18" charset="0"/>
                </a:rPr>
                <a:t>% Element Connectivity </a:t>
              </a:r>
              <a:endParaRPr lang="en-US" sz="1400" b="0" i="0" dirty="0">
                <a:effectLst/>
                <a:latin typeface="Lucida Fax" panose="020606020505050202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NE=length(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ELEMCon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); 	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Fax" panose="02060602050505020204" pitchFamily="18" charset="0"/>
                </a:rPr>
                <a:t>% Number of Elements</a:t>
              </a:r>
              <a:endParaRPr lang="en-US" sz="1400" b="0" i="0" dirty="0">
                <a:effectLst/>
                <a:latin typeface="Lucida Fax" panose="02060602050505020204" pitchFamily="18" charset="0"/>
              </a:endParaRPr>
            </a:p>
            <a:p>
              <a:pPr>
                <a:buNone/>
              </a:pP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nNode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=length(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nodeCoordinates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); 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Fax" panose="02060602050505020204" pitchFamily="18" charset="0"/>
                </a:rPr>
                <a:t>% Number of Nodes</a:t>
              </a:r>
              <a:endParaRPr lang="en-US" sz="1400" b="0" i="0" dirty="0">
                <a:effectLst/>
                <a:latin typeface="Lucida Fax" panose="02060602050505020204" pitchFamily="18" charset="0"/>
              </a:endParaRPr>
            </a:p>
            <a:p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nDOF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 = 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nNode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*3;		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Fax" panose="02060602050505020204" pitchFamily="18" charset="0"/>
                </a:rPr>
                <a:t>% 1 node = 3DOFs</a:t>
              </a:r>
              <a:endParaRPr lang="en-US" sz="1400" b="0" i="0" dirty="0">
                <a:effectLst/>
                <a:latin typeface="Lucida Fax" panose="02060602050505020204" pitchFamily="18" charset="0"/>
              </a:endParaRPr>
            </a:p>
          </p:txBody>
        </p:sp>
      </p:grpSp>
      <p:sp>
        <p:nvSpPr>
          <p:cNvPr id="9" name="AutoShape 4">
            <a:extLst>
              <a:ext uri="{FF2B5EF4-FFF2-40B4-BE49-F238E27FC236}">
                <a16:creationId xmlns:a16="http://schemas.microsoft.com/office/drawing/2014/main" id="{9770A5E5-551F-1036-62DE-5E8C4A4F6C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8EB45664-4AAB-EE44-0B3F-5300AE5D35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1B8159CC-04B9-3010-54B8-12D406C787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FCC6EB-50AD-5BE8-AC20-04DE51A0C1D4}"/>
              </a:ext>
            </a:extLst>
          </p:cNvPr>
          <p:cNvSpPr txBox="1"/>
          <p:nvPr/>
        </p:nvSpPr>
        <p:spPr>
          <a:xfrm>
            <a:off x="7830362" y="6336835"/>
            <a:ext cx="484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reesiaUPC" panose="020B0604020202020204" pitchFamily="34" charset="-34"/>
                <a:cs typeface="FreesiaUPC" panose="020B0604020202020204" pitchFamily="34" charset="-34"/>
              </a:rPr>
              <a:t>Mesh size = 0.25 m (122 elements)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522E2-A0AF-4E5F-6466-FF0515DD2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510" y="365390"/>
            <a:ext cx="2496924" cy="590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4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3D3CD0-C771-92BC-74E7-FA030E8C2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8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1D4EFA-2F01-C913-CECA-405DD9768CC1}"/>
              </a:ext>
            </a:extLst>
          </p:cNvPr>
          <p:cNvSpPr/>
          <p:nvPr/>
        </p:nvSpPr>
        <p:spPr>
          <a:xfrm>
            <a:off x="4155233" y="2971800"/>
            <a:ext cx="3881534" cy="914400"/>
          </a:xfrm>
          <a:prstGeom prst="roundRect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FEM Formulation</a:t>
            </a:r>
            <a:endParaRPr lang="th-TH" sz="4000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55403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E78F49-D6B3-8212-EE49-ED5A6396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9</a:t>
            </a:fld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DD455-078C-B9E6-89B1-E36F6D71AEBB}"/>
              </a:ext>
            </a:extLst>
          </p:cNvPr>
          <p:cNvSpPr txBox="1"/>
          <p:nvPr/>
        </p:nvSpPr>
        <p:spPr>
          <a:xfrm>
            <a:off x="636104" y="457200"/>
            <a:ext cx="3293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Overview of FEM Formulation 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0702F-095D-4DF3-57D5-1EF4BB66D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113"/>
          <a:stretch/>
        </p:blipFill>
        <p:spPr>
          <a:xfrm>
            <a:off x="760326" y="3570375"/>
            <a:ext cx="3911273" cy="828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4C7144-2FB3-CF09-C860-566398ABB6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041"/>
          <a:stretch/>
        </p:blipFill>
        <p:spPr>
          <a:xfrm>
            <a:off x="571657" y="880849"/>
            <a:ext cx="7799894" cy="205553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F837512-EFA4-46C3-B745-0242FB262259}"/>
              </a:ext>
            </a:extLst>
          </p:cNvPr>
          <p:cNvGrpSpPr/>
          <p:nvPr/>
        </p:nvGrpSpPr>
        <p:grpSpPr>
          <a:xfrm>
            <a:off x="4471604" y="1428560"/>
            <a:ext cx="6336258" cy="1512000"/>
            <a:chOff x="5856270" y="1160733"/>
            <a:chExt cx="6336258" cy="148382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8A8DF-4448-114E-17FD-E7B63772CBE0}"/>
                </a:ext>
              </a:extLst>
            </p:cNvPr>
            <p:cNvSpPr/>
            <p:nvPr/>
          </p:nvSpPr>
          <p:spPr>
            <a:xfrm>
              <a:off x="5856270" y="1391565"/>
              <a:ext cx="6077351" cy="1248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9C157C-42A9-9E88-3AC3-120A723E4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576" r="38096"/>
            <a:stretch/>
          </p:blipFill>
          <p:spPr>
            <a:xfrm>
              <a:off x="5856270" y="1160733"/>
              <a:ext cx="1702086" cy="148382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ED9E1C9-7532-5E9E-5D7E-9363FA98B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837" r="61994"/>
            <a:stretch/>
          </p:blipFill>
          <p:spPr>
            <a:xfrm>
              <a:off x="7598597" y="1243240"/>
              <a:ext cx="1818526" cy="567311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B958263-3D7E-12C4-2CA3-75D1674C4C7E}"/>
                </a:ext>
              </a:extLst>
            </p:cNvPr>
            <p:cNvCxnSpPr/>
            <p:nvPr/>
          </p:nvCxnSpPr>
          <p:spPr>
            <a:xfrm>
              <a:off x="7532764" y="1902643"/>
              <a:ext cx="1950191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8EDC0DC-D852-2335-640F-0C816070E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523195" y="1534631"/>
              <a:ext cx="2669333" cy="7920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8FFEA42-E8A8-4A18-842F-70ECB08216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382" y="4112701"/>
            <a:ext cx="5862245" cy="20033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A0131E-9285-DDFA-80C8-1CF8885EB1F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6688" r="54778" b="76057"/>
          <a:stretch/>
        </p:blipFill>
        <p:spPr>
          <a:xfrm>
            <a:off x="895093" y="4609986"/>
            <a:ext cx="3776506" cy="8695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A0C136-D506-2A16-3EA0-68741D61D5C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8058" r="28614"/>
          <a:stretch/>
        </p:blipFill>
        <p:spPr>
          <a:xfrm>
            <a:off x="636104" y="5638049"/>
            <a:ext cx="3717555" cy="864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E1B3B99-993A-593C-3DF4-56CE5F322B56}"/>
              </a:ext>
            </a:extLst>
          </p:cNvPr>
          <p:cNvSpPr txBox="1"/>
          <p:nvPr/>
        </p:nvSpPr>
        <p:spPr>
          <a:xfrm>
            <a:off x="5307419" y="3728971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B</a:t>
            </a:r>
            <a:r>
              <a:rPr lang="en-US" b="1" baseline="-25000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= LN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FAA53A-F69E-6A26-2BA4-2581F461D8FA}"/>
              </a:ext>
            </a:extLst>
          </p:cNvPr>
          <p:cNvCxnSpPr/>
          <p:nvPr/>
        </p:nvCxnSpPr>
        <p:spPr>
          <a:xfrm>
            <a:off x="3627455" y="2105310"/>
            <a:ext cx="705576" cy="0"/>
          </a:xfrm>
          <a:prstGeom prst="straightConnector1">
            <a:avLst/>
          </a:prstGeom>
          <a:ln w="22225">
            <a:solidFill>
              <a:srgbClr val="C0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71FE08-58C1-0DDE-763B-75436A2BC7FF}"/>
              </a:ext>
            </a:extLst>
          </p:cNvPr>
          <p:cNvCxnSpPr>
            <a:cxnSpLocks/>
          </p:cNvCxnSpPr>
          <p:nvPr/>
        </p:nvCxnSpPr>
        <p:spPr>
          <a:xfrm>
            <a:off x="2882932" y="2911693"/>
            <a:ext cx="0" cy="668730"/>
          </a:xfrm>
          <a:prstGeom prst="straightConnector1">
            <a:avLst/>
          </a:prstGeom>
          <a:ln w="22225">
            <a:solidFill>
              <a:srgbClr val="C0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0776B4-654D-0EE7-B4A8-D1F951C9CF59}"/>
              </a:ext>
            </a:extLst>
          </p:cNvPr>
          <p:cNvCxnSpPr>
            <a:cxnSpLocks/>
          </p:cNvCxnSpPr>
          <p:nvPr/>
        </p:nvCxnSpPr>
        <p:spPr>
          <a:xfrm>
            <a:off x="3642683" y="2926724"/>
            <a:ext cx="1664736" cy="945631"/>
          </a:xfrm>
          <a:prstGeom prst="straightConnector1">
            <a:avLst/>
          </a:prstGeom>
          <a:ln w="22225">
            <a:solidFill>
              <a:srgbClr val="C0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BFE05D-F00A-0501-A00E-09E9641DE2AE}"/>
              </a:ext>
            </a:extLst>
          </p:cNvPr>
          <p:cNvCxnSpPr>
            <a:cxnSpLocks/>
          </p:cNvCxnSpPr>
          <p:nvPr/>
        </p:nvCxnSpPr>
        <p:spPr>
          <a:xfrm flipH="1">
            <a:off x="3004457" y="2936384"/>
            <a:ext cx="0" cy="2861515"/>
          </a:xfrm>
          <a:prstGeom prst="straightConnector1">
            <a:avLst/>
          </a:prstGeom>
          <a:ln w="22225">
            <a:solidFill>
              <a:srgbClr val="C0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5A0C11-0A23-39E2-A222-3350389E0F4E}"/>
              </a:ext>
            </a:extLst>
          </p:cNvPr>
          <p:cNvCxnSpPr>
            <a:cxnSpLocks/>
          </p:cNvCxnSpPr>
          <p:nvPr/>
        </p:nvCxnSpPr>
        <p:spPr>
          <a:xfrm flipH="1">
            <a:off x="3125982" y="4160479"/>
            <a:ext cx="2196665" cy="743117"/>
          </a:xfrm>
          <a:prstGeom prst="straightConnector1">
            <a:avLst/>
          </a:prstGeom>
          <a:ln w="22225">
            <a:solidFill>
              <a:srgbClr val="C0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808A29-1B78-E867-86D8-4A8E7E84F1EF}"/>
              </a:ext>
            </a:extLst>
          </p:cNvPr>
          <p:cNvCxnSpPr>
            <a:cxnSpLocks/>
          </p:cNvCxnSpPr>
          <p:nvPr/>
        </p:nvCxnSpPr>
        <p:spPr>
          <a:xfrm flipH="1">
            <a:off x="3930074" y="2802524"/>
            <a:ext cx="5877115" cy="2104137"/>
          </a:xfrm>
          <a:prstGeom prst="straightConnector1">
            <a:avLst/>
          </a:prstGeom>
          <a:ln w="22225">
            <a:solidFill>
              <a:srgbClr val="0000FF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7366BCA-031C-6C72-A028-237102448F2B}"/>
              </a:ext>
            </a:extLst>
          </p:cNvPr>
          <p:cNvGrpSpPr/>
          <p:nvPr/>
        </p:nvGrpSpPr>
        <p:grpSpPr>
          <a:xfrm>
            <a:off x="6493418" y="526262"/>
            <a:ext cx="4543858" cy="599672"/>
            <a:chOff x="6493418" y="526262"/>
            <a:chExt cx="4543858" cy="599672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05A2DFC-E4FA-4773-D84D-71E754BF6D64}"/>
                </a:ext>
              </a:extLst>
            </p:cNvPr>
            <p:cNvSpPr/>
            <p:nvPr/>
          </p:nvSpPr>
          <p:spPr>
            <a:xfrm>
              <a:off x="6493418" y="526263"/>
              <a:ext cx="1768510" cy="315895"/>
            </a:xfrm>
            <a:prstGeom prst="roundRect">
              <a:avLst/>
            </a:prstGeom>
            <a:solidFill>
              <a:srgbClr val="002060"/>
            </a:solidFill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Element level</a:t>
              </a:r>
              <a:endParaRPr lang="th-TH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951430D-2180-57ED-784F-B43F009C4589}"/>
                </a:ext>
              </a:extLst>
            </p:cNvPr>
            <p:cNvSpPr/>
            <p:nvPr/>
          </p:nvSpPr>
          <p:spPr>
            <a:xfrm>
              <a:off x="9268766" y="526262"/>
              <a:ext cx="1768510" cy="315895"/>
            </a:xfrm>
            <a:prstGeom prst="roundRect">
              <a:avLst/>
            </a:prstGeom>
            <a:solidFill>
              <a:srgbClr val="712B8B"/>
            </a:solidFill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Global </a:t>
              </a:r>
              <a:endParaRPr lang="th-TH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BF27254-062A-B3B8-AA2E-50EA0B1CC7D7}"/>
                </a:ext>
              </a:extLst>
            </p:cNvPr>
            <p:cNvCxnSpPr>
              <a:cxnSpLocks/>
            </p:cNvCxnSpPr>
            <p:nvPr/>
          </p:nvCxnSpPr>
          <p:spPr>
            <a:xfrm>
              <a:off x="8441889" y="684209"/>
              <a:ext cx="637233" cy="1"/>
            </a:xfrm>
            <a:prstGeom prst="straightConnector1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5E32EC-E67F-AA3D-69FD-0023B6B7AB79}"/>
                </a:ext>
              </a:extLst>
            </p:cNvPr>
            <p:cNvSpPr txBox="1"/>
            <p:nvPr/>
          </p:nvSpPr>
          <p:spPr>
            <a:xfrm>
              <a:off x="8333895" y="664269"/>
              <a:ext cx="9348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Mapping</a:t>
              </a:r>
              <a:endParaRPr lang="th-TH" sz="2400" i="1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5E71E5E9-D753-CF7A-478E-31C201A67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815055"/>
              </p:ext>
            </p:extLst>
          </p:nvPr>
        </p:nvGraphicFramePr>
        <p:xfrm>
          <a:off x="5258167" y="5938518"/>
          <a:ext cx="81597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15382" imgH="684260" progId="Equation.DSMT4">
                  <p:embed/>
                </p:oleObj>
              </mc:Choice>
              <mc:Fallback>
                <p:oleObj name="Equation" r:id="rId11" imgW="815382" imgH="6842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58167" y="5938518"/>
                        <a:ext cx="815975" cy="68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0090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B92AC-67FB-7EA1-63B6-44EEA8CB4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C0C98FE-414A-D9BA-F14F-179E65F3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FEM Formulation: </a:t>
            </a:r>
            <a:r>
              <a:rPr lang="en-US" b="0" dirty="0"/>
              <a:t>Shape function (</a:t>
            </a:r>
            <a:r>
              <a:rPr lang="en-US" dirty="0"/>
              <a:t>N</a:t>
            </a:r>
            <a:r>
              <a:rPr lang="en-US" b="0" dirty="0"/>
              <a:t>)</a:t>
            </a:r>
            <a:endParaRPr lang="th-TH" b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BA617-0CDD-424B-3CE9-5984FDBF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10</a:t>
            </a:fld>
            <a:endParaRPr lang="th-TH"/>
          </a:p>
        </p:txBody>
      </p:sp>
      <p:pic>
        <p:nvPicPr>
          <p:cNvPr id="4" name="Picture 3" descr="A diagram of a triangle with lines and dots&#10;&#10;AI-generated content may be incorrect.">
            <a:extLst>
              <a:ext uri="{FF2B5EF4-FFF2-40B4-BE49-F238E27FC236}">
                <a16:creationId xmlns:a16="http://schemas.microsoft.com/office/drawing/2014/main" id="{1CFE7BA1-0429-70C7-49A9-CEFE56E50C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21" t="12746"/>
          <a:stretch/>
        </p:blipFill>
        <p:spPr bwMode="auto">
          <a:xfrm>
            <a:off x="4175789" y="1288780"/>
            <a:ext cx="2578832" cy="24489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3AB8AF-B107-21C0-9B56-0CE84142C8B7}"/>
              </a:ext>
            </a:extLst>
          </p:cNvPr>
          <p:cNvCxnSpPr>
            <a:cxnSpLocks/>
          </p:cNvCxnSpPr>
          <p:nvPr/>
        </p:nvCxnSpPr>
        <p:spPr>
          <a:xfrm>
            <a:off x="631596" y="6263718"/>
            <a:ext cx="42687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D6F14F-7EDD-2E36-AFE4-125CEAFC9480}"/>
              </a:ext>
            </a:extLst>
          </p:cNvPr>
          <p:cNvSpPr txBox="1"/>
          <p:nvPr/>
        </p:nvSpPr>
        <p:spPr>
          <a:xfrm>
            <a:off x="934089" y="6308079"/>
            <a:ext cx="4051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Appendix A </a:t>
            </a:r>
            <a:r>
              <a:rPr lang="en-US" sz="2400" dirty="0">
                <a:latin typeface="FreesiaUPC" panose="020B0604020202020204" pitchFamily="34" charset="-34"/>
                <a:cs typeface="FreesiaUPC" panose="020B0604020202020204" pitchFamily="34" charset="-34"/>
              </a:rPr>
              <a:t>(Derivation of FEM formulation)</a:t>
            </a:r>
            <a:endParaRPr lang="th-TH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11" name="Action Button: Go Forward or Next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EB8297E-143F-3609-FA88-2BDF5F6873E7}"/>
              </a:ext>
            </a:extLst>
          </p:cNvPr>
          <p:cNvSpPr/>
          <p:nvPr/>
        </p:nvSpPr>
        <p:spPr>
          <a:xfrm>
            <a:off x="644821" y="6383370"/>
            <a:ext cx="289268" cy="311084"/>
          </a:xfrm>
          <a:prstGeom prst="actionButtonForwardNex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5BF6A0-279F-E22B-0256-A602E2424D6E}"/>
              </a:ext>
            </a:extLst>
          </p:cNvPr>
          <p:cNvSpPr txBox="1"/>
          <p:nvPr/>
        </p:nvSpPr>
        <p:spPr>
          <a:xfrm>
            <a:off x="568597" y="1088212"/>
            <a:ext cx="2167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Shape function (N)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C1ED81-A985-288A-28F3-97485FD984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8351"/>
          <a:stretch/>
        </p:blipFill>
        <p:spPr>
          <a:xfrm>
            <a:off x="568597" y="1382835"/>
            <a:ext cx="7799894" cy="24489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0A4DAAB-2934-4F91-9D13-F722D5A60D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58" t="45316" r="7446" b="34969"/>
          <a:stretch/>
        </p:blipFill>
        <p:spPr>
          <a:xfrm>
            <a:off x="696000" y="3710515"/>
            <a:ext cx="6364443" cy="11592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73D719-3A71-C4BE-9733-9F0A49D56D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2901"/>
          <a:stretch/>
        </p:blipFill>
        <p:spPr>
          <a:xfrm>
            <a:off x="8095277" y="103427"/>
            <a:ext cx="3510770" cy="12240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8251469-9271-DE35-7B4F-B34B0231D490}"/>
              </a:ext>
            </a:extLst>
          </p:cNvPr>
          <p:cNvGrpSpPr/>
          <p:nvPr/>
        </p:nvGrpSpPr>
        <p:grpSpPr>
          <a:xfrm>
            <a:off x="7204276" y="1420620"/>
            <a:ext cx="4614139" cy="4622371"/>
            <a:chOff x="838200" y="4462753"/>
            <a:chExt cx="4614139" cy="462237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1895546-9CE8-38E6-6035-73EB99C29891}"/>
                </a:ext>
              </a:extLst>
            </p:cNvPr>
            <p:cNvSpPr/>
            <p:nvPr/>
          </p:nvSpPr>
          <p:spPr>
            <a:xfrm>
              <a:off x="838200" y="4462753"/>
              <a:ext cx="1982003" cy="415475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MATLAB: </a:t>
              </a:r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G2.m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8CC552C-9F5F-417E-C2EE-B169518FA21E}"/>
                </a:ext>
              </a:extLst>
            </p:cNvPr>
            <p:cNvSpPr/>
            <p:nvPr/>
          </p:nvSpPr>
          <p:spPr>
            <a:xfrm>
              <a:off x="838200" y="4787432"/>
              <a:ext cx="4614139" cy="4297692"/>
            </a:xfrm>
            <a:prstGeom prst="roundRect">
              <a:avLst>
                <a:gd name="adj" fmla="val 2176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DF87542-96EC-1619-8873-CF4F72327692}"/>
              </a:ext>
            </a:extLst>
          </p:cNvPr>
          <p:cNvSpPr txBox="1"/>
          <p:nvPr/>
        </p:nvSpPr>
        <p:spPr>
          <a:xfrm>
            <a:off x="7252208" y="1934225"/>
            <a:ext cx="451827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Shape Function % x= xi ; y=eta ; z=zeta</a:t>
            </a:r>
            <a:endParaRPr lang="pt-BR" sz="1400" dirty="0">
              <a:solidFill>
                <a:srgbClr val="008013"/>
              </a:solidFill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pt-BR" sz="1400" b="0" i="0" dirty="0">
                <a:effectLst/>
                <a:latin typeface="Lucida Fax" panose="02060602050505020204" pitchFamily="18" charset="0"/>
              </a:rPr>
              <a:t>syms </a:t>
            </a:r>
            <a:r>
              <a:rPr lang="pt-BR" sz="1400" b="0" i="0" dirty="0">
                <a:solidFill>
                  <a:srgbClr val="A709F5"/>
                </a:solidFill>
                <a:effectLst/>
                <a:latin typeface="Lucida Fax" panose="02060602050505020204" pitchFamily="18" charset="0"/>
              </a:rPr>
              <a:t>xi eta zeta</a:t>
            </a:r>
          </a:p>
          <a:p>
            <a:pPr>
              <a:buNone/>
            </a:pPr>
            <a:endParaRPr lang="pt-BR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pt-BR" sz="1400" b="0" i="0" dirty="0">
                <a:effectLst/>
                <a:latin typeface="Lucida Fax" panose="02060602050505020204" pitchFamily="18" charset="0"/>
              </a:rPr>
              <a:t>N(1)=1-xi-eta-zeta;</a:t>
            </a:r>
          </a:p>
          <a:p>
            <a:pPr>
              <a:buNone/>
            </a:pPr>
            <a:r>
              <a:rPr lang="pt-BR" sz="1400" b="0" i="0" dirty="0">
                <a:effectLst/>
                <a:latin typeface="Lucida Fax" panose="02060602050505020204" pitchFamily="18" charset="0"/>
              </a:rPr>
              <a:t>N(2)= xi; </a:t>
            </a:r>
          </a:p>
          <a:p>
            <a:pPr>
              <a:buNone/>
            </a:pPr>
            <a:r>
              <a:rPr lang="pt-BR" sz="1400" b="0" i="0" dirty="0">
                <a:effectLst/>
                <a:latin typeface="Lucida Fax" panose="02060602050505020204" pitchFamily="18" charset="0"/>
              </a:rPr>
              <a:t>N(3)= eta; </a:t>
            </a:r>
          </a:p>
          <a:p>
            <a:pPr>
              <a:buNone/>
            </a:pPr>
            <a:r>
              <a:rPr lang="pt-BR" sz="1400" b="0" i="0" dirty="0">
                <a:effectLst/>
                <a:latin typeface="Lucida Fax" panose="02060602050505020204" pitchFamily="18" charset="0"/>
              </a:rPr>
              <a:t>N(4)= zeta;</a:t>
            </a:r>
          </a:p>
          <a:p>
            <a:pPr>
              <a:buNone/>
            </a:pPr>
            <a:r>
              <a:rPr lang="pt-BR" sz="1400" b="0" i="0" dirty="0">
                <a:effectLst/>
                <a:latin typeface="Lucida Fax" panose="02060602050505020204" pitchFamily="18" charset="0"/>
              </a:rPr>
              <a:t>nN=length(N);</a:t>
            </a:r>
          </a:p>
          <a:p>
            <a:pPr>
              <a:buNone/>
            </a:pPr>
            <a:br>
              <a:rPr lang="pt-BR" sz="1400" b="0" i="0" dirty="0">
                <a:effectLst/>
                <a:latin typeface="Lucida Fax" panose="02060602050505020204" pitchFamily="18" charset="0"/>
              </a:rPr>
            </a:br>
            <a:endParaRPr lang="pt-BR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pt-BR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%for TET4</a:t>
            </a:r>
            <a:endParaRPr lang="pt-BR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pt-BR" sz="1400" b="0" i="0" dirty="0">
                <a:effectLst/>
                <a:latin typeface="Lucida Fax" panose="02060602050505020204" pitchFamily="18" charset="0"/>
              </a:rPr>
              <a:t>N_matrix = [N(1) 0 0 N(2) 0 0 N(3) 0 0 N(4) 0 0;</a:t>
            </a:r>
          </a:p>
          <a:p>
            <a:pPr>
              <a:buNone/>
            </a:pPr>
            <a:r>
              <a:rPr lang="pt-BR" sz="1400" b="0" i="0" dirty="0">
                <a:effectLst/>
                <a:latin typeface="Lucida Fax" panose="02060602050505020204" pitchFamily="18" charset="0"/>
              </a:rPr>
              <a:t>	0 N(1) 0 0 N(2) 0 0 N(3) 0 0 N(4) 0;</a:t>
            </a:r>
          </a:p>
          <a:p>
            <a:pPr>
              <a:buNone/>
            </a:pPr>
            <a:r>
              <a:rPr lang="pt-BR" sz="1400" b="0" i="0" dirty="0">
                <a:effectLst/>
                <a:latin typeface="Lucida Fax" panose="02060602050505020204" pitchFamily="18" charset="0"/>
              </a:rPr>
              <a:t>	0 0 N(1) 0 0 N(2) 0 0 N(3) 0 0 N(4)];</a:t>
            </a:r>
          </a:p>
          <a:p>
            <a:pPr>
              <a:buNone/>
            </a:pPr>
            <a:endParaRPr lang="pt-BR" sz="1400" dirty="0">
              <a:solidFill>
                <a:srgbClr val="008013"/>
              </a:solidFill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fr-FR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 % </a:t>
            </a:r>
            <a:r>
              <a:rPr lang="fr-FR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Int_N</a:t>
            </a:r>
            <a:r>
              <a:rPr lang="fr-FR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 for mass matrix M</a:t>
            </a:r>
            <a:endParaRPr lang="fr-FR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fr-FR" sz="1400" b="0" i="0" dirty="0" err="1">
                <a:effectLst/>
                <a:latin typeface="Lucida Fax" panose="02060602050505020204" pitchFamily="18" charset="0"/>
              </a:rPr>
              <a:t>int_N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 = double(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int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int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int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N_matrix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'*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N_matrix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, 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zeta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, 0, 1 - xi - 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eta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), 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eta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, 0, 1 - xi), xi, 0, 1));</a:t>
            </a:r>
          </a:p>
          <a:p>
            <a:br>
              <a:rPr lang="fr-FR" sz="1800" b="0" i="0" dirty="0">
                <a:effectLst/>
                <a:latin typeface="Menlo"/>
              </a:rPr>
            </a:br>
            <a:endParaRPr lang="fr-FR" sz="1800" b="0" i="0" dirty="0">
              <a:effectLst/>
              <a:latin typeface="Menlo"/>
            </a:endParaRPr>
          </a:p>
          <a:p>
            <a:endParaRPr lang="pt-BR" sz="1400" b="0" i="0" dirty="0">
              <a:effectLst/>
              <a:latin typeface="Lucida Fax" panose="020606020505050202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4E217AE-94B3-E054-A08E-13D2B55E96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315" r="30409"/>
          <a:stretch/>
        </p:blipFill>
        <p:spPr>
          <a:xfrm>
            <a:off x="631596" y="5230060"/>
            <a:ext cx="3633735" cy="936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894E27A-44C1-F5B1-3973-833CC608995E}"/>
              </a:ext>
            </a:extLst>
          </p:cNvPr>
          <p:cNvSpPr txBox="1"/>
          <p:nvPr/>
        </p:nvSpPr>
        <p:spPr>
          <a:xfrm>
            <a:off x="696000" y="4699401"/>
            <a:ext cx="5194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To determine the mass matrix, we have to know</a:t>
            </a:r>
            <a:endParaRPr lang="th-TH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74873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2F69C-A5AF-9140-8293-12528633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B5BD35D-8477-C0FF-9AED-FE50CDAD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FEM Formulation: </a:t>
            </a:r>
            <a:r>
              <a:rPr lang="en-US" b="0" dirty="0"/>
              <a:t>Shape function (</a:t>
            </a:r>
            <a:r>
              <a:rPr lang="en-US" dirty="0"/>
              <a:t>N</a:t>
            </a:r>
            <a:r>
              <a:rPr lang="en-US" b="0" dirty="0"/>
              <a:t>)</a:t>
            </a:r>
            <a:endParaRPr lang="th-TH" b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0BB91-0870-DDC2-ADED-9F19471C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11</a:t>
            </a:fld>
            <a:endParaRPr lang="th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5D602B-EEBB-DF37-DCCC-D129A47F0EFE}"/>
              </a:ext>
            </a:extLst>
          </p:cNvPr>
          <p:cNvSpPr txBox="1"/>
          <p:nvPr/>
        </p:nvSpPr>
        <p:spPr>
          <a:xfrm>
            <a:off x="568597" y="1088212"/>
            <a:ext cx="2424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Body force vector (b)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4B293-64B7-C90E-2BFC-B2E1EE80171F}"/>
              </a:ext>
            </a:extLst>
          </p:cNvPr>
          <p:cNvSpPr txBox="1"/>
          <p:nvPr/>
        </p:nvSpPr>
        <p:spPr>
          <a:xfrm>
            <a:off x="595771" y="1452386"/>
            <a:ext cx="11560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The </a:t>
            </a: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body force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also called the consistent nodal force vector) due to a distributed body force like gravity</a:t>
            </a:r>
            <a:endParaRPr lang="th-TH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DC28B061-3099-05CB-999B-3510C378B7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29"/>
          <a:stretch/>
        </p:blipFill>
        <p:spPr bwMode="auto">
          <a:xfrm>
            <a:off x="1008238" y="2138668"/>
            <a:ext cx="1360068" cy="367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9D6C079B-049E-EDC3-61B3-1620610A225F}"/>
              </a:ext>
            </a:extLst>
          </p:cNvPr>
          <p:cNvGrpSpPr/>
          <p:nvPr/>
        </p:nvGrpSpPr>
        <p:grpSpPr>
          <a:xfrm>
            <a:off x="595771" y="5501472"/>
            <a:ext cx="2076366" cy="1265125"/>
            <a:chOff x="2409392" y="2300167"/>
            <a:chExt cx="2076366" cy="12651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1CCE28F-9A72-2C01-D968-71741F0847D1}"/>
                </a:ext>
              </a:extLst>
            </p:cNvPr>
            <p:cNvGrpSpPr/>
            <p:nvPr/>
          </p:nvGrpSpPr>
          <p:grpSpPr>
            <a:xfrm>
              <a:off x="2409392" y="2300167"/>
              <a:ext cx="652993" cy="1124931"/>
              <a:chOff x="2176058" y="4916704"/>
              <a:chExt cx="652993" cy="1124931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F7C995A-A0D7-E6A3-BDAD-7007ED7165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00377" y="5457502"/>
                <a:ext cx="302493" cy="189722"/>
              </a:xfrm>
              <a:prstGeom prst="straightConnector1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C5F7335-B252-ED9E-909E-87A30A810E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4911" y="5642203"/>
                <a:ext cx="307959" cy="185683"/>
              </a:xfrm>
              <a:prstGeom prst="straightConnector1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549A686-5582-9357-3385-527A4A2506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00377" y="5266771"/>
                <a:ext cx="0" cy="381461"/>
              </a:xfrm>
              <a:prstGeom prst="straightConnector1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51A37C-370E-9585-CB42-ABAE9B608A57}"/>
                  </a:ext>
                </a:extLst>
              </p:cNvPr>
              <p:cNvSpPr txBox="1"/>
              <p:nvPr/>
            </p:nvSpPr>
            <p:spPr>
              <a:xfrm>
                <a:off x="2546887" y="5220457"/>
                <a:ext cx="2728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x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ED38EC-8CDF-908E-1F0D-31776380E6E4}"/>
                  </a:ext>
                </a:extLst>
              </p:cNvPr>
              <p:cNvSpPr txBox="1"/>
              <p:nvPr/>
            </p:nvSpPr>
            <p:spPr>
              <a:xfrm>
                <a:off x="2556219" y="5579970"/>
                <a:ext cx="2728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y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6E4504E-E91F-6520-BB0A-5583AB1F68E0}"/>
                  </a:ext>
                </a:extLst>
              </p:cNvPr>
              <p:cNvSpPr txBox="1"/>
              <p:nvPr/>
            </p:nvSpPr>
            <p:spPr>
              <a:xfrm>
                <a:off x="2176058" y="4916704"/>
                <a:ext cx="2728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z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p:grp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587E359-4705-528C-A6E7-65B799A73CEB}"/>
                </a:ext>
              </a:extLst>
            </p:cNvPr>
            <p:cNvSpPr/>
            <p:nvPr/>
          </p:nvSpPr>
          <p:spPr>
            <a:xfrm>
              <a:off x="2433863" y="2384158"/>
              <a:ext cx="234016" cy="893727"/>
            </a:xfrm>
            <a:custGeom>
              <a:avLst/>
              <a:gdLst>
                <a:gd name="connsiteX0" fmla="*/ 0 w 234016"/>
                <a:gd name="connsiteY0" fmla="*/ 117008 h 893727"/>
                <a:gd name="connsiteX1" fmla="*/ 117008 w 234016"/>
                <a:gd name="connsiteY1" fmla="*/ 0 h 893727"/>
                <a:gd name="connsiteX2" fmla="*/ 117008 w 234016"/>
                <a:gd name="connsiteY2" fmla="*/ 0 h 893727"/>
                <a:gd name="connsiteX3" fmla="*/ 234016 w 234016"/>
                <a:gd name="connsiteY3" fmla="*/ 117008 h 893727"/>
                <a:gd name="connsiteX4" fmla="*/ 234016 w 234016"/>
                <a:gd name="connsiteY4" fmla="*/ 460058 h 893727"/>
                <a:gd name="connsiteX5" fmla="*/ 234016 w 234016"/>
                <a:gd name="connsiteY5" fmla="*/ 776719 h 893727"/>
                <a:gd name="connsiteX6" fmla="*/ 117008 w 234016"/>
                <a:gd name="connsiteY6" fmla="*/ 893727 h 893727"/>
                <a:gd name="connsiteX7" fmla="*/ 117008 w 234016"/>
                <a:gd name="connsiteY7" fmla="*/ 893727 h 893727"/>
                <a:gd name="connsiteX8" fmla="*/ 0 w 234016"/>
                <a:gd name="connsiteY8" fmla="*/ 776719 h 893727"/>
                <a:gd name="connsiteX9" fmla="*/ 0 w 234016"/>
                <a:gd name="connsiteY9" fmla="*/ 460058 h 893727"/>
                <a:gd name="connsiteX10" fmla="*/ 0 w 234016"/>
                <a:gd name="connsiteY10" fmla="*/ 117008 h 893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4016" h="893727" extrusionOk="0">
                  <a:moveTo>
                    <a:pt x="0" y="117008"/>
                  </a:moveTo>
                  <a:cubicBezTo>
                    <a:pt x="-8362" y="47228"/>
                    <a:pt x="41564" y="4062"/>
                    <a:pt x="117008" y="0"/>
                  </a:cubicBezTo>
                  <a:lnTo>
                    <a:pt x="117008" y="0"/>
                  </a:lnTo>
                  <a:cubicBezTo>
                    <a:pt x="187866" y="1313"/>
                    <a:pt x="227951" y="52579"/>
                    <a:pt x="234016" y="117008"/>
                  </a:cubicBezTo>
                  <a:cubicBezTo>
                    <a:pt x="274781" y="231350"/>
                    <a:pt x="215265" y="294649"/>
                    <a:pt x="234016" y="460058"/>
                  </a:cubicBezTo>
                  <a:cubicBezTo>
                    <a:pt x="252767" y="625467"/>
                    <a:pt x="202219" y="687391"/>
                    <a:pt x="234016" y="776719"/>
                  </a:cubicBezTo>
                  <a:cubicBezTo>
                    <a:pt x="243957" y="842520"/>
                    <a:pt x="188094" y="880425"/>
                    <a:pt x="117008" y="893727"/>
                  </a:cubicBezTo>
                  <a:lnTo>
                    <a:pt x="117008" y="893727"/>
                  </a:lnTo>
                  <a:cubicBezTo>
                    <a:pt x="45026" y="892600"/>
                    <a:pt x="-13214" y="853782"/>
                    <a:pt x="0" y="776719"/>
                  </a:cubicBezTo>
                  <a:cubicBezTo>
                    <a:pt x="-34405" y="674881"/>
                    <a:pt x="24946" y="528151"/>
                    <a:pt x="0" y="460058"/>
                  </a:cubicBezTo>
                  <a:cubicBezTo>
                    <a:pt x="-24946" y="391965"/>
                    <a:pt x="30001" y="242329"/>
                    <a:pt x="0" y="117008"/>
                  </a:cubicBezTo>
                  <a:close/>
                </a:path>
              </a:pathLst>
            </a:custGeom>
            <a:noFill/>
            <a:ln>
              <a:solidFill>
                <a:srgbClr val="C00000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5000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63F0A9A-966C-7541-D57A-D3C1F8C62AE8}"/>
                </a:ext>
              </a:extLst>
            </p:cNvPr>
            <p:cNvCxnSpPr/>
            <p:nvPr/>
          </p:nvCxnSpPr>
          <p:spPr>
            <a:xfrm>
              <a:off x="2534465" y="3025666"/>
              <a:ext cx="0" cy="42706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273A49-2CCD-6371-9D7E-4535252B3F4F}"/>
                </a:ext>
              </a:extLst>
            </p:cNvPr>
            <p:cNvSpPr txBox="1"/>
            <p:nvPr/>
          </p:nvSpPr>
          <p:spPr>
            <a:xfrm>
              <a:off x="2965560" y="2857406"/>
              <a:ext cx="15201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solidFill>
                    <a:srgbClr val="C000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-z is direction of body force</a:t>
              </a:r>
              <a:endParaRPr lang="th-TH" sz="2000" i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07933C5-1745-8B1E-6A07-D07C41FB5F36}"/>
              </a:ext>
            </a:extLst>
          </p:cNvPr>
          <p:cNvSpPr txBox="1"/>
          <p:nvPr/>
        </p:nvSpPr>
        <p:spPr>
          <a:xfrm>
            <a:off x="2748250" y="1991578"/>
            <a:ext cx="86055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Body force vector (b) per unit volume:</a:t>
            </a:r>
          </a:p>
          <a:p>
            <a:pPr algn="thaiDist"/>
            <a:endParaRPr lang="en-US" sz="1050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algn="thaiDist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To integral of the body force distributed to the nodes of a finite element, the </a:t>
            </a: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consistent nodal force vector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due to body force is </a:t>
            </a:r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26BCAE5-A154-A4C6-1A44-24F08D7B5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019" y="1900640"/>
            <a:ext cx="1370118" cy="84384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4928837-8751-76A3-1037-498F222A69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913" r="30631"/>
          <a:stretch/>
        </p:blipFill>
        <p:spPr>
          <a:xfrm>
            <a:off x="6837357" y="3430403"/>
            <a:ext cx="3508125" cy="984120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9C29AD8C-EDEE-9BC8-5217-A9CF41DC1889}"/>
              </a:ext>
            </a:extLst>
          </p:cNvPr>
          <p:cNvGrpSpPr/>
          <p:nvPr/>
        </p:nvGrpSpPr>
        <p:grpSpPr>
          <a:xfrm>
            <a:off x="2825682" y="4203219"/>
            <a:ext cx="8167286" cy="1236441"/>
            <a:chOff x="838200" y="4462753"/>
            <a:chExt cx="8167286" cy="1236441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E6B8DB7A-0F81-F3B7-2942-CE8F505134ED}"/>
                </a:ext>
              </a:extLst>
            </p:cNvPr>
            <p:cNvSpPr/>
            <p:nvPr/>
          </p:nvSpPr>
          <p:spPr>
            <a:xfrm>
              <a:off x="838200" y="4462753"/>
              <a:ext cx="1982003" cy="415475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MATLAB: </a:t>
              </a:r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G2.m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1F012C9-77FC-3299-53F9-5638E170055E}"/>
                </a:ext>
              </a:extLst>
            </p:cNvPr>
            <p:cNvSpPr/>
            <p:nvPr/>
          </p:nvSpPr>
          <p:spPr>
            <a:xfrm>
              <a:off x="838200" y="4787432"/>
              <a:ext cx="8167286" cy="911762"/>
            </a:xfrm>
            <a:prstGeom prst="roundRect">
              <a:avLst>
                <a:gd name="adj" fmla="val 781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D638891-4300-F7FC-704A-2D45E1B224C5}"/>
              </a:ext>
            </a:extLst>
          </p:cNvPr>
          <p:cNvSpPr txBox="1"/>
          <p:nvPr/>
        </p:nvSpPr>
        <p:spPr>
          <a:xfrm>
            <a:off x="2979662" y="4610058"/>
            <a:ext cx="83049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for body force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b = [0; 0; -rho*g];</a:t>
            </a:r>
          </a:p>
          <a:p>
            <a:r>
              <a:rPr lang="en-US" sz="1400" b="0" i="0" dirty="0" err="1">
                <a:effectLst/>
                <a:latin typeface="Lucida Fax" panose="02060602050505020204" pitchFamily="18" charset="0"/>
              </a:rPr>
              <a:t>int_Nb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double(int(int(int(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N_matrix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'*b, zeta, 0, 1 - xi - eta), eta, 0, 1 - xi), xi, 0, 1));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A746D88-581A-1A01-CC56-FB34820D8C49}"/>
              </a:ext>
            </a:extLst>
          </p:cNvPr>
          <p:cNvGrpSpPr/>
          <p:nvPr/>
        </p:nvGrpSpPr>
        <p:grpSpPr>
          <a:xfrm>
            <a:off x="2825682" y="5530156"/>
            <a:ext cx="5784918" cy="1236441"/>
            <a:chOff x="838200" y="4462753"/>
            <a:chExt cx="5784918" cy="1236441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71B1760F-5366-F8F6-C1A4-C61BE12A6EF8}"/>
                </a:ext>
              </a:extLst>
            </p:cNvPr>
            <p:cNvSpPr/>
            <p:nvPr/>
          </p:nvSpPr>
          <p:spPr>
            <a:xfrm>
              <a:off x="838200" y="4462753"/>
              <a:ext cx="1982003" cy="415475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MATLAB: </a:t>
              </a:r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G2.m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FDF05C84-0420-B83A-3B31-382C907F9919}"/>
                </a:ext>
              </a:extLst>
            </p:cNvPr>
            <p:cNvSpPr/>
            <p:nvPr/>
          </p:nvSpPr>
          <p:spPr>
            <a:xfrm>
              <a:off x="838200" y="4787432"/>
              <a:ext cx="5784918" cy="911762"/>
            </a:xfrm>
            <a:prstGeom prst="roundRect">
              <a:avLst>
                <a:gd name="adj" fmla="val 781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3668772-3677-19B9-C6CD-139855727BC4}"/>
              </a:ext>
            </a:extLst>
          </p:cNvPr>
          <p:cNvSpPr txBox="1"/>
          <p:nvPr/>
        </p:nvSpPr>
        <p:spPr>
          <a:xfrm>
            <a:off x="2979662" y="5936995"/>
            <a:ext cx="54773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%% -----Element body force (Constant for each element)------</a:t>
            </a:r>
            <a:br>
              <a:rPr lang="en-US" sz="1400" b="0" i="0" dirty="0">
                <a:effectLst/>
                <a:latin typeface="Lucida Fax" panose="02060602050505020204" pitchFamily="18" charset="0"/>
              </a:rPr>
            </a:b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BodyForce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int_Nb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*double(det(J));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190F985-7A23-D214-DD8D-AD87798668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058" r="28614"/>
          <a:stretch/>
        </p:blipFill>
        <p:spPr>
          <a:xfrm>
            <a:off x="8564153" y="5936995"/>
            <a:ext cx="3562657" cy="8280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01B62704-386D-0AFC-3265-EEC6E3C08892}"/>
              </a:ext>
            </a:extLst>
          </p:cNvPr>
          <p:cNvSpPr txBox="1"/>
          <p:nvPr/>
        </p:nvSpPr>
        <p:spPr>
          <a:xfrm>
            <a:off x="8625227" y="5422411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Element body force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17190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D06F-5A48-BEC0-727A-EB486BC5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Forming the element-level matrices (M, K, b) and Assembling then into global matrices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CC5E6C-DD8C-776D-0095-46377FA1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12</a:t>
            </a:fld>
            <a:endParaRPr lang="th-TH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D84273-3DFE-B0F9-7338-341C363F5590}"/>
              </a:ext>
            </a:extLst>
          </p:cNvPr>
          <p:cNvGrpSpPr/>
          <p:nvPr/>
        </p:nvGrpSpPr>
        <p:grpSpPr>
          <a:xfrm>
            <a:off x="696000" y="1360794"/>
            <a:ext cx="7322935" cy="5423794"/>
            <a:chOff x="699311" y="1611674"/>
            <a:chExt cx="7322935" cy="542379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C53F2E3-EE3E-49B1-2F6E-80F8AD93FD05}"/>
                </a:ext>
              </a:extLst>
            </p:cNvPr>
            <p:cNvGrpSpPr/>
            <p:nvPr/>
          </p:nvGrpSpPr>
          <p:grpSpPr>
            <a:xfrm>
              <a:off x="699311" y="1611674"/>
              <a:ext cx="4981319" cy="5423794"/>
              <a:chOff x="838200" y="4462753"/>
              <a:chExt cx="4981319" cy="5423794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2D1810F-350F-9CED-7995-349522440309}"/>
                  </a:ext>
                </a:extLst>
              </p:cNvPr>
              <p:cNvSpPr/>
              <p:nvPr/>
            </p:nvSpPr>
            <p:spPr>
              <a:xfrm>
                <a:off x="838200" y="4462753"/>
                <a:ext cx="1982003" cy="415475"/>
              </a:xfrm>
              <a:prstGeom prst="round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MATLAB: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G2.m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67BCCEAD-BB84-CDE1-A794-11919539F69A}"/>
                  </a:ext>
                </a:extLst>
              </p:cNvPr>
              <p:cNvSpPr/>
              <p:nvPr/>
            </p:nvSpPr>
            <p:spPr>
              <a:xfrm>
                <a:off x="838201" y="4787432"/>
                <a:ext cx="4981318" cy="5099115"/>
              </a:xfrm>
              <a:prstGeom prst="roundRect">
                <a:avLst>
                  <a:gd name="adj" fmla="val 1209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C72C6D-2616-7611-27B6-E989B247B51E}"/>
                </a:ext>
              </a:extLst>
            </p:cNvPr>
            <p:cNvSpPr txBox="1"/>
            <p:nvPr/>
          </p:nvSpPr>
          <p:spPr>
            <a:xfrm>
              <a:off x="719607" y="2027149"/>
              <a:ext cx="73026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endParaRPr lang="en-US" sz="1400" b="0" i="0" dirty="0">
                <a:effectLst/>
                <a:latin typeface="Lucida Fax" panose="020606020505050202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D420142-F835-C0DF-FAA2-32E5E7C69435}"/>
              </a:ext>
            </a:extLst>
          </p:cNvPr>
          <p:cNvSpPr txBox="1"/>
          <p:nvPr/>
        </p:nvSpPr>
        <p:spPr>
          <a:xfrm>
            <a:off x="838200" y="1702407"/>
            <a:ext cx="490945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%% -------------B matrix and D matrix-------------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%B=zeros(6,3*length(N));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B = zeros(6, 3*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nN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);</a:t>
            </a:r>
          </a:p>
          <a:p>
            <a:pPr>
              <a:buNone/>
            </a:pPr>
            <a:r>
              <a:rPr lang="en-US" sz="1400" b="0" i="0" dirty="0">
                <a:solidFill>
                  <a:srgbClr val="0E00FF"/>
                </a:solidFill>
                <a:effectLst/>
                <a:latin typeface="Lucida Fax" panose="02060602050505020204" pitchFamily="18" charset="0"/>
              </a:rPr>
              <a:t>for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1:nN</a:t>
            </a:r>
          </a:p>
          <a:p>
            <a:pPr>
              <a:buNone/>
            </a:pPr>
            <a:r>
              <a:rPr lang="en-US" sz="1400" dirty="0">
                <a:latin typeface="Lucida Fax" panose="02060602050505020204" pitchFamily="18" charset="0"/>
              </a:rPr>
              <a:t>      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j = 3*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- 2;</a:t>
            </a: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      k = 3*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- 1;</a:t>
            </a: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      l = 3*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;</a:t>
            </a: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B(:, [j, k, l]) = [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(1,i), 0, 0; </a:t>
            </a:r>
          </a:p>
          <a:p>
            <a:pPr lvl="3"/>
            <a:r>
              <a:rPr lang="en-US" sz="1400" b="0" i="0" dirty="0">
                <a:effectLst/>
                <a:latin typeface="Lucida Fax" panose="02060602050505020204" pitchFamily="18" charset="0"/>
              </a:rPr>
              <a:t>0,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(2,i), 0;</a:t>
            </a:r>
          </a:p>
          <a:p>
            <a:pPr lvl="3"/>
            <a:r>
              <a:rPr lang="en-US" sz="1400" b="0" i="0" dirty="0">
                <a:effectLst/>
                <a:latin typeface="Lucida Fax" panose="02060602050505020204" pitchFamily="18" charset="0"/>
              </a:rPr>
              <a:t>0, 0,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(3,i);</a:t>
            </a:r>
          </a:p>
          <a:p>
            <a:pPr lvl="3"/>
            <a:r>
              <a:rPr lang="en-US" sz="1400" b="0" i="0" dirty="0" err="1">
                <a:effectLst/>
                <a:latin typeface="Lucida Fax" panose="02060602050505020204" pitchFamily="18" charset="0"/>
              </a:rPr>
              <a:t>dN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(2,i),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(1,i), 0;</a:t>
            </a:r>
          </a:p>
          <a:p>
            <a:pPr lvl="3"/>
            <a:r>
              <a:rPr lang="en-US" sz="1400" b="0" i="0" dirty="0">
                <a:effectLst/>
                <a:latin typeface="Lucida Fax" panose="02060602050505020204" pitchFamily="18" charset="0"/>
              </a:rPr>
              <a:t>0,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(3,i),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(2,i);</a:t>
            </a:r>
          </a:p>
          <a:p>
            <a:pPr lvl="3"/>
            <a:r>
              <a:rPr lang="en-US" sz="1400" b="0" i="0" dirty="0" err="1">
                <a:effectLst/>
                <a:latin typeface="Lucida Fax" panose="02060602050505020204" pitchFamily="18" charset="0"/>
              </a:rPr>
              <a:t>dN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(3,i), 0,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(1,i)];</a:t>
            </a:r>
          </a:p>
          <a:p>
            <a:pPr>
              <a:buNone/>
            </a:pPr>
            <a:r>
              <a:rPr lang="en-US" sz="1400" b="0" i="0" dirty="0">
                <a:solidFill>
                  <a:srgbClr val="0E00FF"/>
                </a:solidFill>
                <a:effectLst/>
                <a:latin typeface="Lucida Fax" panose="02060602050505020204" pitchFamily="18" charset="0"/>
              </a:rPr>
              <a:t>end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).B=B;</a:t>
            </a: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Define constitutive matrix (D)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D = E / ((1+nu)*(1-2*nu)) * [1-nu, nu, nu, 0, 0, 0;</a:t>
            </a:r>
          </a:p>
          <a:p>
            <a:pPr lvl="5"/>
            <a:r>
              <a:rPr lang="en-US" sz="1400" b="0" i="0" dirty="0">
                <a:effectLst/>
                <a:latin typeface="Lucida Fax" panose="02060602050505020204" pitchFamily="18" charset="0"/>
              </a:rPr>
              <a:t>nu, 1-nu, nu, 0, 0, 0;</a:t>
            </a:r>
          </a:p>
          <a:p>
            <a:pPr lvl="5"/>
            <a:r>
              <a:rPr lang="en-US" sz="1400" b="0" i="0" dirty="0">
                <a:effectLst/>
                <a:latin typeface="Lucida Fax" panose="02060602050505020204" pitchFamily="18" charset="0"/>
              </a:rPr>
              <a:t>nu, nu, 1-nu, 0, 0, 0;</a:t>
            </a:r>
          </a:p>
          <a:p>
            <a:pPr lvl="5"/>
            <a:r>
              <a:rPr lang="en-US" sz="1400" b="0" i="0" dirty="0">
                <a:effectLst/>
                <a:latin typeface="Lucida Fax" panose="02060602050505020204" pitchFamily="18" charset="0"/>
              </a:rPr>
              <a:t>0, 0, 0, (1 - 2*nu)/2, 0, 0;</a:t>
            </a:r>
          </a:p>
          <a:p>
            <a:pPr lvl="5"/>
            <a:r>
              <a:rPr lang="en-US" sz="1400" b="0" i="0" dirty="0">
                <a:effectLst/>
                <a:latin typeface="Lucida Fax" panose="02060602050505020204" pitchFamily="18" charset="0"/>
              </a:rPr>
              <a:t>0, 0, 0, 0, (1-2*nu)/2, 0;</a:t>
            </a:r>
          </a:p>
          <a:p>
            <a:pPr lvl="5"/>
            <a:r>
              <a:rPr lang="en-US" sz="1400" b="0" i="0" dirty="0">
                <a:effectLst/>
                <a:latin typeface="Lucida Fax" panose="02060602050505020204" pitchFamily="18" charset="0"/>
              </a:rPr>
              <a:t>0, 0, 0, 0, 0, (1-2*nu)/2];</a:t>
            </a:r>
          </a:p>
          <a:p>
            <a:r>
              <a:rPr lang="en-US" sz="1400" b="0" i="0" dirty="0"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).D = D;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969D9C-8988-EC5D-9D27-D825120DF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350" y="1454346"/>
            <a:ext cx="6380089" cy="324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E5F12B-2242-3713-700E-2DAC888F7D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06" r="31182"/>
          <a:stretch/>
        </p:blipFill>
        <p:spPr>
          <a:xfrm>
            <a:off x="8752800" y="281996"/>
            <a:ext cx="2743200" cy="3279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AD210DB-F520-AD95-56A3-15B9B0B5A65A}"/>
              </a:ext>
            </a:extLst>
          </p:cNvPr>
          <p:cNvSpPr/>
          <p:nvPr/>
        </p:nvSpPr>
        <p:spPr>
          <a:xfrm>
            <a:off x="6177636" y="1729192"/>
            <a:ext cx="1449487" cy="2641843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657744-A669-4803-3B93-DE3A53A48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850" y="4800364"/>
            <a:ext cx="5705035" cy="19495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7F265B0-4A86-DE2F-5193-9CE8C119F884}"/>
              </a:ext>
            </a:extLst>
          </p:cNvPr>
          <p:cNvSpPr txBox="1"/>
          <p:nvPr/>
        </p:nvSpPr>
        <p:spPr>
          <a:xfrm>
            <a:off x="5792526" y="4334088"/>
            <a:ext cx="2611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Constitutive matrix (D)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8F67A9-86AA-D49A-E7D1-3F0B6D086211}"/>
              </a:ext>
            </a:extLst>
          </p:cNvPr>
          <p:cNvSpPr txBox="1"/>
          <p:nvPr/>
        </p:nvSpPr>
        <p:spPr>
          <a:xfrm>
            <a:off x="5674014" y="1169041"/>
            <a:ext cx="214353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The matrix B = LN,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F47016-6125-9990-612C-E3E976EEC079}"/>
              </a:ext>
            </a:extLst>
          </p:cNvPr>
          <p:cNvSpPr txBox="1"/>
          <p:nvPr/>
        </p:nvSpPr>
        <p:spPr>
          <a:xfrm>
            <a:off x="651458" y="936797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B matrix and Constitutive D matrix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0132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38B2-3FA5-4368-1CE0-E1759462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ucrosiaUPC" panose="02020603050405020304" pitchFamily="18" charset="-34"/>
                <a:ea typeface="+mj-ea"/>
                <a:cs typeface="EucrosiaUPC" panose="02020603050405020304" pitchFamily="18" charset="-34"/>
              </a:rPr>
              <a:t>Forming the element-level matrices (M, K, b) and Assembling then into global matrices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5EDC57-51B7-BD79-E65F-8E0790BE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13</a:t>
            </a:fld>
            <a:endParaRPr lang="th-TH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859EA3E-047E-D33C-EE3D-279F67202F7A}"/>
              </a:ext>
            </a:extLst>
          </p:cNvPr>
          <p:cNvGrpSpPr/>
          <p:nvPr/>
        </p:nvGrpSpPr>
        <p:grpSpPr>
          <a:xfrm>
            <a:off x="696000" y="1400528"/>
            <a:ext cx="7322935" cy="5318364"/>
            <a:chOff x="699311" y="1540876"/>
            <a:chExt cx="7322935" cy="531836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2C5037C-6CD2-E2EA-AED4-5491E56B4820}"/>
                </a:ext>
              </a:extLst>
            </p:cNvPr>
            <p:cNvGrpSpPr/>
            <p:nvPr/>
          </p:nvGrpSpPr>
          <p:grpSpPr>
            <a:xfrm>
              <a:off x="699311" y="1540876"/>
              <a:ext cx="7111569" cy="5318364"/>
              <a:chOff x="838200" y="4391955"/>
              <a:chExt cx="7111569" cy="5318364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E9E6661-B8BE-D38B-3FA3-312967B0EE7D}"/>
                  </a:ext>
                </a:extLst>
              </p:cNvPr>
              <p:cNvSpPr/>
              <p:nvPr/>
            </p:nvSpPr>
            <p:spPr>
              <a:xfrm>
                <a:off x="838200" y="4462753"/>
                <a:ext cx="1982003" cy="415475"/>
              </a:xfrm>
              <a:prstGeom prst="round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MATLAB: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G2.m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9E16A91B-66EC-15F3-97F7-3D3B164F5E06}"/>
                  </a:ext>
                </a:extLst>
              </p:cNvPr>
              <p:cNvSpPr/>
              <p:nvPr/>
            </p:nvSpPr>
            <p:spPr>
              <a:xfrm>
                <a:off x="838200" y="4787432"/>
                <a:ext cx="7111569" cy="4922887"/>
              </a:xfrm>
              <a:prstGeom prst="roundRect">
                <a:avLst>
                  <a:gd name="adj" fmla="val 1209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A35245-E3DB-4985-2F98-256E695B4F77}"/>
                  </a:ext>
                </a:extLst>
              </p:cNvPr>
              <p:cNvSpPr txBox="1"/>
              <p:nvPr/>
            </p:nvSpPr>
            <p:spPr>
              <a:xfrm>
                <a:off x="2825249" y="4391955"/>
                <a:ext cx="16129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(Line 97-107)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5737FF-282F-31E3-052E-D8AF6A827118}"/>
                </a:ext>
              </a:extLst>
            </p:cNvPr>
            <p:cNvSpPr txBox="1"/>
            <p:nvPr/>
          </p:nvSpPr>
          <p:spPr>
            <a:xfrm>
              <a:off x="719607" y="2027149"/>
              <a:ext cx="73026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endParaRPr lang="en-US" sz="1400" b="0" i="0" dirty="0">
                <a:effectLst/>
                <a:latin typeface="Lucida Fax" panose="02060602050505020204" pitchFamily="18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AA15E6B-D9A1-1686-A012-EBD86418E247}"/>
              </a:ext>
            </a:extLst>
          </p:cNvPr>
          <p:cNvSpPr txBox="1"/>
          <p:nvPr/>
        </p:nvSpPr>
        <p:spPr>
          <a:xfrm>
            <a:off x="838200" y="1856653"/>
            <a:ext cx="664782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%% ---------------------Element Stiffness Matrix------------------------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%Integrand is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k_int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double(B'*D*B*det(J));</a:t>
            </a:r>
          </a:p>
          <a:p>
            <a:pPr>
              <a:buNone/>
            </a:pP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%Direct Integration option 1: Direct Stiffness method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ELEMENT(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).stiffness=double(int(int(int(f, zeta, 0, 1 - xi - eta), eta, 0, 1 - xi), xi, 0, 1));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%Gauss Points option 2: Gauss Points 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mehtod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endParaRPr lang="en-US" sz="1400" b="0" i="0" dirty="0">
              <a:solidFill>
                <a:srgbClr val="008013"/>
              </a:solidFill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).stiffness=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wg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(2)*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wg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(2)*subs(f,[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xi,eta,zeta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],[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(2),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(2)])+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wg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(1)*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wg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(2)*subs(f,[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xi,eta,zeta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],[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(1),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(2)])+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wg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(1)*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wg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(1)*subs(f,[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xi,eta,zeta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],[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(1),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(1)])+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wg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(2)*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wg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(1)*subs(f,[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xi,eta,zeta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],[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(2),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xg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(1)]);</a:t>
            </a:r>
            <a:br>
              <a:rPr lang="en-US" sz="1400" b="0" i="0" dirty="0">
                <a:effectLst/>
                <a:latin typeface="Lucida Fax" panose="02060602050505020204" pitchFamily="18" charset="0"/>
              </a:rPr>
            </a:b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%Option 3: only 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fo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 TET4 elements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%For Tetrahedral element with 4 nodes (linear element), there are no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%variables in integral. So, for faster computation, we are using the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%constant value i.e. 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int(int(int(1, zeta, 0, 1 - xi - eta), eta, 0, 1 -xi), xi, 0, 1) = 1/6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r>
              <a:rPr lang="en-US" sz="1400" b="0" i="0" dirty="0"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).stiffness = 1/6*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k_int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;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F17DF8C-8D06-A864-5E08-DC6CE1300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778"/>
          <a:stretch/>
        </p:blipFill>
        <p:spPr>
          <a:xfrm>
            <a:off x="8140839" y="1653117"/>
            <a:ext cx="3776506" cy="50393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E98BD81-8DEE-5EC5-F15C-2D375910BED4}"/>
              </a:ext>
            </a:extLst>
          </p:cNvPr>
          <p:cNvSpPr txBox="1"/>
          <p:nvPr/>
        </p:nvSpPr>
        <p:spPr>
          <a:xfrm>
            <a:off x="620216" y="1011306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Element Stiffness (K</a:t>
            </a:r>
            <a:r>
              <a:rPr lang="en-US" b="1" i="0" baseline="300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e</a:t>
            </a:r>
            <a:r>
              <a:rPr lang="en-US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)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E7094935-4A5F-D9B1-9D49-F678E4C89294}"/>
              </a:ext>
            </a:extLst>
          </p:cNvPr>
          <p:cNvSpPr/>
          <p:nvPr/>
        </p:nvSpPr>
        <p:spPr>
          <a:xfrm>
            <a:off x="10187332" y="6166951"/>
            <a:ext cx="360000" cy="360000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7373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4911EB5C-AA55-A482-EA19-1A4A9AAF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Forming the element-level matrices (M, K, b) and Assembling then into global matrices</a:t>
            </a:r>
            <a:endParaRPr lang="th-TH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CD7500-4B5C-B01B-0C8B-9F3F629C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14</a:t>
            </a:fld>
            <a:endParaRPr lang="th-TH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BCEED2-1DFB-79F7-D542-9EB487B9D269}"/>
              </a:ext>
            </a:extLst>
          </p:cNvPr>
          <p:cNvGrpSpPr/>
          <p:nvPr/>
        </p:nvGrpSpPr>
        <p:grpSpPr>
          <a:xfrm>
            <a:off x="696000" y="3182241"/>
            <a:ext cx="11198163" cy="3073131"/>
            <a:chOff x="838200" y="4391955"/>
            <a:chExt cx="11198163" cy="30731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3D7BAC8-968B-ED32-3F69-E045B8D39469}"/>
                </a:ext>
              </a:extLst>
            </p:cNvPr>
            <p:cNvSpPr/>
            <p:nvPr/>
          </p:nvSpPr>
          <p:spPr>
            <a:xfrm>
              <a:off x="838200" y="4462753"/>
              <a:ext cx="1982003" cy="415475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MATLAB: </a:t>
              </a:r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G2.m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751C1E9-6DB4-F2A1-859B-A982247C8B56}"/>
                </a:ext>
              </a:extLst>
            </p:cNvPr>
            <p:cNvSpPr/>
            <p:nvPr/>
          </p:nvSpPr>
          <p:spPr>
            <a:xfrm>
              <a:off x="838201" y="4787432"/>
              <a:ext cx="11198162" cy="2677654"/>
            </a:xfrm>
            <a:prstGeom prst="roundRect">
              <a:avLst>
                <a:gd name="adj" fmla="val 1209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D4D5FF-A173-E5B3-8F20-AB48488F7237}"/>
                </a:ext>
              </a:extLst>
            </p:cNvPr>
            <p:cNvSpPr txBox="1"/>
            <p:nvPr/>
          </p:nvSpPr>
          <p:spPr>
            <a:xfrm>
              <a:off x="2825249" y="4391955"/>
              <a:ext cx="14782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(Line 84-96)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113C769-CBCB-E673-3F45-93F12DD119D1}"/>
              </a:ext>
            </a:extLst>
          </p:cNvPr>
          <p:cNvSpPr txBox="1"/>
          <p:nvPr/>
        </p:nvSpPr>
        <p:spPr>
          <a:xfrm>
            <a:off x="834889" y="3714707"/>
            <a:ext cx="11353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%% -------------------------Jacobian-----------------------------------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J=[diff(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x,xi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 diff(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y,xi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 diff(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z,xi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);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diff(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x,eta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 diff(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y,eta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 diff(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z,eta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);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diff(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x,zeta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 diff(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y,zeta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 diff(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z,zeta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)];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%Constant for an element(for TET4 only)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J = [ELEMENT(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).X(2)-ELEMENT(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).X(1) 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).Y(2)-ELEMENT(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).Y(1) 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).Z(2)-ELEMENT(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).Z(1);</a:t>
            </a: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).X(3)-ELEMENT(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).X(1) 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).Y(3)-ELEMENT(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).Y(1) 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).Z(3)-ELEMENT(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).Z(1);</a:t>
            </a: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).X(4)-ELEMENT(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).X(1) 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).Y(4)-ELEMENT(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).Y(1) 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).Z(4)-ELEMENT(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).Z(1)];</a:t>
            </a:r>
          </a:p>
          <a:p>
            <a:pPr>
              <a:buNone/>
            </a:pP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det_J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det(J); </a:t>
            </a: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).J = J;</a:t>
            </a:r>
          </a:p>
          <a:p>
            <a:pPr>
              <a:buNone/>
            </a:pPr>
            <a:endParaRPr lang="en-US" sz="1400" b="0" i="0" dirty="0">
              <a:effectLst/>
              <a:latin typeface="Lucida Fax" panose="020606020505050202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250959-7494-35CD-D816-DBC2202DF7ED}"/>
              </a:ext>
            </a:extLst>
          </p:cNvPr>
          <p:cNvGrpSpPr/>
          <p:nvPr/>
        </p:nvGrpSpPr>
        <p:grpSpPr>
          <a:xfrm>
            <a:off x="3147055" y="1552968"/>
            <a:ext cx="6336258" cy="1483821"/>
            <a:chOff x="5856270" y="1160733"/>
            <a:chExt cx="6336258" cy="148382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DEF701-041E-1FB3-D8C9-E779D89C1F20}"/>
                </a:ext>
              </a:extLst>
            </p:cNvPr>
            <p:cNvSpPr/>
            <p:nvPr/>
          </p:nvSpPr>
          <p:spPr>
            <a:xfrm>
              <a:off x="5856270" y="1391565"/>
              <a:ext cx="6077351" cy="1248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8124D09-2863-51C9-2000-4E2ED56CA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8576" r="38096"/>
            <a:stretch/>
          </p:blipFill>
          <p:spPr>
            <a:xfrm>
              <a:off x="5856270" y="1160733"/>
              <a:ext cx="1702086" cy="148382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1A566CF-E0B9-75B0-65D0-E4836803B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37" r="61994"/>
            <a:stretch/>
          </p:blipFill>
          <p:spPr>
            <a:xfrm>
              <a:off x="7598597" y="1243240"/>
              <a:ext cx="1818526" cy="567311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BA82ACD-0D5B-752C-41BD-0601B8B6255F}"/>
                </a:ext>
              </a:extLst>
            </p:cNvPr>
            <p:cNvCxnSpPr/>
            <p:nvPr/>
          </p:nvCxnSpPr>
          <p:spPr>
            <a:xfrm>
              <a:off x="7532764" y="1902643"/>
              <a:ext cx="1950191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69052E0-571D-70D8-D692-B20B3915E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523195" y="1534631"/>
              <a:ext cx="2669333" cy="792000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F02C239-5CBF-7EDC-7240-A835D421C6CD}"/>
              </a:ext>
            </a:extLst>
          </p:cNvPr>
          <p:cNvSpPr txBox="1"/>
          <p:nvPr/>
        </p:nvSpPr>
        <p:spPr>
          <a:xfrm>
            <a:off x="696000" y="1029748"/>
            <a:ext cx="5180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Jacobian (J) 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40265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67F20-CD1E-46E4-7E63-2AD85D2D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49">
            <a:extLst>
              <a:ext uri="{FF2B5EF4-FFF2-40B4-BE49-F238E27FC236}">
                <a16:creationId xmlns:a16="http://schemas.microsoft.com/office/drawing/2014/main" id="{E2FD6506-C513-1412-A707-26120F65C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ucrosiaUPC" panose="02020603050405020304" pitchFamily="18" charset="-34"/>
                <a:ea typeface="+mj-ea"/>
                <a:cs typeface="EucrosiaUPC" panose="02020603050405020304" pitchFamily="18" charset="-34"/>
              </a:rPr>
              <a:t>Forming the element-level matrices (M, K, b) and Assembling then into global matrices</a:t>
            </a:r>
            <a:endParaRPr lang="th-TH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50FC76-32EF-473C-8B93-10364753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15</a:t>
            </a:fld>
            <a:endParaRPr lang="th-TH"/>
          </a:p>
        </p:txBody>
      </p:sp>
      <p:pic>
        <p:nvPicPr>
          <p:cNvPr id="4" name="Picture 3" descr="A diagram of a triangle with lines and dots&#10;&#10;AI-generated content may be incorrect.">
            <a:extLst>
              <a:ext uri="{FF2B5EF4-FFF2-40B4-BE49-F238E27FC236}">
                <a16:creationId xmlns:a16="http://schemas.microsoft.com/office/drawing/2014/main" id="{110571C7-722A-61D7-2580-6A84C2D762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21" t="12746"/>
          <a:stretch/>
        </p:blipFill>
        <p:spPr bwMode="auto">
          <a:xfrm>
            <a:off x="7035530" y="1334478"/>
            <a:ext cx="2116080" cy="20094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C3A966-3467-1EB4-8BBD-C27F816B2D1E}"/>
              </a:ext>
            </a:extLst>
          </p:cNvPr>
          <p:cNvSpPr txBox="1"/>
          <p:nvPr/>
        </p:nvSpPr>
        <p:spPr>
          <a:xfrm>
            <a:off x="643710" y="1101980"/>
            <a:ext cx="2949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Element mass matrix (M</a:t>
            </a:r>
            <a:r>
              <a:rPr lang="en-US" b="1" baseline="30000" dirty="0">
                <a:latin typeface="FreesiaUPC" panose="020B0604020202020204" pitchFamily="34" charset="-34"/>
                <a:cs typeface="FreesiaUPC" panose="020B0604020202020204" pitchFamily="34" charset="-34"/>
              </a:rPr>
              <a:t>e</a:t>
            </a:r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)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C00731-DBA1-F020-20FA-C147F1DEF1F7}"/>
              </a:ext>
            </a:extLst>
          </p:cNvPr>
          <p:cNvGrpSpPr/>
          <p:nvPr/>
        </p:nvGrpSpPr>
        <p:grpSpPr>
          <a:xfrm>
            <a:off x="802970" y="3280047"/>
            <a:ext cx="10657800" cy="1181100"/>
            <a:chOff x="838200" y="4391955"/>
            <a:chExt cx="10657800" cy="11811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11BDD04-FF4E-AA11-3D0C-07B4EA0500B2}"/>
                </a:ext>
              </a:extLst>
            </p:cNvPr>
            <p:cNvSpPr/>
            <p:nvPr/>
          </p:nvSpPr>
          <p:spPr>
            <a:xfrm>
              <a:off x="838200" y="4462753"/>
              <a:ext cx="1982003" cy="415475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MATLAB: </a:t>
              </a:r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G2.m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89D514A-9CD5-E2ED-23DC-8E8E4791E4C8}"/>
                </a:ext>
              </a:extLst>
            </p:cNvPr>
            <p:cNvSpPr/>
            <p:nvPr/>
          </p:nvSpPr>
          <p:spPr>
            <a:xfrm>
              <a:off x="838200" y="4787432"/>
              <a:ext cx="10657800" cy="785623"/>
            </a:xfrm>
            <a:prstGeom prst="roundRect">
              <a:avLst>
                <a:gd name="adj" fmla="val 2176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63307F8-4C68-0426-BC6A-602B01C86EDF}"/>
                </a:ext>
              </a:extLst>
            </p:cNvPr>
            <p:cNvSpPr txBox="1"/>
            <p:nvPr/>
          </p:nvSpPr>
          <p:spPr>
            <a:xfrm>
              <a:off x="2825249" y="4391955"/>
              <a:ext cx="14782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(Line 55-56)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BEE6CBC-ADC1-D559-3FBB-52F101D12401}"/>
              </a:ext>
            </a:extLst>
          </p:cNvPr>
          <p:cNvSpPr txBox="1"/>
          <p:nvPr/>
        </p:nvSpPr>
        <p:spPr>
          <a:xfrm>
            <a:off x="896312" y="3722483"/>
            <a:ext cx="86810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</a:t>
            </a:r>
            <a:r>
              <a:rPr lang="fr-FR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Prepare</a:t>
            </a:r>
            <a:r>
              <a:rPr lang="fr-FR" sz="1400" dirty="0">
                <a:solidFill>
                  <a:srgbClr val="008013"/>
                </a:solidFill>
                <a:latin typeface="Lucida Fax" panose="02060602050505020204" pitchFamily="18" charset="0"/>
              </a:rPr>
              <a:t> </a:t>
            </a:r>
            <a:r>
              <a:rPr lang="fr-FR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for mass matrix M</a:t>
            </a:r>
            <a:endParaRPr lang="fr-FR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fr-FR" sz="1400" b="0" i="0" dirty="0" err="1">
                <a:effectLst/>
                <a:latin typeface="Lucida Fax" panose="02060602050505020204" pitchFamily="18" charset="0"/>
              </a:rPr>
              <a:t>int_N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 = double(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int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int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int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N_matrix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’*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N_matrix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, 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zeta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, 0, 1 - xi - 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eta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), </a:t>
            </a:r>
            <a:r>
              <a:rPr lang="fr-FR" sz="1400" b="0" i="0" dirty="0" err="1">
                <a:effectLst/>
                <a:latin typeface="Lucida Fax" panose="02060602050505020204" pitchFamily="18" charset="0"/>
              </a:rPr>
              <a:t>eta</a:t>
            </a:r>
            <a:r>
              <a:rPr lang="fr-FR" sz="1400" b="0" i="0" dirty="0">
                <a:effectLst/>
                <a:latin typeface="Lucida Fax" panose="02060602050505020204" pitchFamily="18" charset="0"/>
              </a:rPr>
              <a:t>, 0, 1 - xi), xi, 0, 1));</a:t>
            </a:r>
          </a:p>
          <a:p>
            <a:endParaRPr lang="fr-FR" sz="1400" b="0" i="0" dirty="0">
              <a:effectLst/>
              <a:latin typeface="Lucida Fax" panose="020606020505050202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14CFD8-1186-8A03-F74D-6552E054D1EB}"/>
              </a:ext>
            </a:extLst>
          </p:cNvPr>
          <p:cNvSpPr txBox="1"/>
          <p:nvPr/>
        </p:nvSpPr>
        <p:spPr>
          <a:xfrm>
            <a:off x="3898133" y="1421611"/>
            <a:ext cx="3137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66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= constant for each element</a:t>
            </a:r>
            <a:endParaRPr lang="th-TH" dirty="0">
              <a:solidFill>
                <a:srgbClr val="0066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C012ACB-FB21-69F9-7C69-4223CEF18BBF}"/>
              </a:ext>
            </a:extLst>
          </p:cNvPr>
          <p:cNvGrpSpPr/>
          <p:nvPr/>
        </p:nvGrpSpPr>
        <p:grpSpPr>
          <a:xfrm>
            <a:off x="784359" y="4530237"/>
            <a:ext cx="10657800" cy="1181100"/>
            <a:chOff x="838200" y="4391955"/>
            <a:chExt cx="10657800" cy="118110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BB626CA2-4230-9B2B-61B5-75B25C11E42F}"/>
                </a:ext>
              </a:extLst>
            </p:cNvPr>
            <p:cNvSpPr/>
            <p:nvPr/>
          </p:nvSpPr>
          <p:spPr>
            <a:xfrm>
              <a:off x="838200" y="4462753"/>
              <a:ext cx="1982003" cy="415475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MATLAB: </a:t>
              </a:r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G2.m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22D9272-6989-BFCD-CCC8-066220FCCF13}"/>
                </a:ext>
              </a:extLst>
            </p:cNvPr>
            <p:cNvSpPr/>
            <p:nvPr/>
          </p:nvSpPr>
          <p:spPr>
            <a:xfrm>
              <a:off x="838200" y="4787432"/>
              <a:ext cx="10657800" cy="785623"/>
            </a:xfrm>
            <a:prstGeom prst="roundRect">
              <a:avLst>
                <a:gd name="adj" fmla="val 2176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9DB7F25-ECD0-411A-732E-5F59A90589A9}"/>
                </a:ext>
              </a:extLst>
            </p:cNvPr>
            <p:cNvSpPr txBox="1"/>
            <p:nvPr/>
          </p:nvSpPr>
          <p:spPr>
            <a:xfrm>
              <a:off x="2825249" y="4391955"/>
              <a:ext cx="1747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(Line 108-110)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5E5A9A3-33FF-3D49-B0DC-C41CE1D2E2B8}"/>
              </a:ext>
            </a:extLst>
          </p:cNvPr>
          <p:cNvSpPr txBox="1"/>
          <p:nvPr/>
        </p:nvSpPr>
        <p:spPr>
          <a:xfrm>
            <a:off x="896312" y="5060992"/>
            <a:ext cx="4591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Mass Matrix</a:t>
            </a: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ELEMENT(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eNo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).Mass = rho*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int_N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*double(det(J));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623F0-01ED-3195-1163-3D8D55A3A7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901"/>
          <a:stretch/>
        </p:blipFill>
        <p:spPr>
          <a:xfrm>
            <a:off x="1260730" y="1837133"/>
            <a:ext cx="3748341" cy="130682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20176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90C8AF-2413-CAA5-6D48-B09DE779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16</a:t>
            </a:fld>
            <a:endParaRPr lang="th-TH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9B78A6-B58F-1751-969E-1D5B36B32D55}"/>
              </a:ext>
            </a:extLst>
          </p:cNvPr>
          <p:cNvSpPr/>
          <p:nvPr/>
        </p:nvSpPr>
        <p:spPr>
          <a:xfrm>
            <a:off x="1317656" y="1075140"/>
            <a:ext cx="3352800" cy="484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Inputs structural properties</a:t>
            </a:r>
            <a:endParaRPr lang="th-TH" b="1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C85574-632B-F58C-8502-D151DF5FF837}"/>
              </a:ext>
            </a:extLst>
          </p:cNvPr>
          <p:cNvSpPr/>
          <p:nvPr/>
        </p:nvSpPr>
        <p:spPr>
          <a:xfrm>
            <a:off x="1317655" y="1794468"/>
            <a:ext cx="3352800" cy="4846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Run Mesh Generation</a:t>
            </a:r>
            <a:endParaRPr lang="th-TH" b="1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206BC1-A23F-3FA8-63E6-073ADBFEC4DC}"/>
              </a:ext>
            </a:extLst>
          </p:cNvPr>
          <p:cNvSpPr/>
          <p:nvPr/>
        </p:nvSpPr>
        <p:spPr>
          <a:xfrm>
            <a:off x="1317655" y="2513796"/>
            <a:ext cx="3352800" cy="48463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Shape function (N</a:t>
            </a:r>
            <a:r>
              <a:rPr lang="en-US" b="1" baseline="-250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)</a:t>
            </a:r>
            <a:endParaRPr lang="th-TH" b="1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DFFA42-5B47-A740-C5E7-1B0F00BF6946}"/>
              </a:ext>
            </a:extLst>
          </p:cNvPr>
          <p:cNvSpPr/>
          <p:nvPr/>
        </p:nvSpPr>
        <p:spPr>
          <a:xfrm>
            <a:off x="1317655" y="3233124"/>
            <a:ext cx="3352800" cy="73761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Form element matrices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N, J, f</a:t>
            </a:r>
            <a:r>
              <a:rPr lang="en-US" baseline="-250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b</a:t>
            </a:r>
            <a:r>
              <a:rPr lang="en-US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, B, D, M, K</a:t>
            </a:r>
            <a:endParaRPr lang="th-TH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D4EE8B-89F2-170A-3D29-2318003AE611}"/>
              </a:ext>
            </a:extLst>
          </p:cNvPr>
          <p:cNvSpPr/>
          <p:nvPr/>
        </p:nvSpPr>
        <p:spPr>
          <a:xfrm>
            <a:off x="1317655" y="4205436"/>
            <a:ext cx="3352800" cy="8473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Assemble Global Matrices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MG, KG, and </a:t>
            </a:r>
            <a:r>
              <a:rPr lang="en-US" dirty="0" err="1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Body_ForceG</a:t>
            </a:r>
            <a:endParaRPr lang="en-US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D43448-A2DB-6F03-8B99-9998FD903B71}"/>
              </a:ext>
            </a:extLst>
          </p:cNvPr>
          <p:cNvSpPr/>
          <p:nvPr/>
        </p:nvSpPr>
        <p:spPr>
          <a:xfrm>
            <a:off x="1317655" y="5287476"/>
            <a:ext cx="3352800" cy="4724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Apply Support Conditions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F3C7A5-256C-4F43-DE07-9F8253601CD6}"/>
              </a:ext>
            </a:extLst>
          </p:cNvPr>
          <p:cNvSpPr/>
          <p:nvPr/>
        </p:nvSpPr>
        <p:spPr>
          <a:xfrm>
            <a:off x="1317655" y="6107388"/>
            <a:ext cx="3352800" cy="4724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Non-linear dynamics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7A7F09-172C-0DB5-4232-BE24C51872F5}"/>
              </a:ext>
            </a:extLst>
          </p:cNvPr>
          <p:cNvSpPr/>
          <p:nvPr/>
        </p:nvSpPr>
        <p:spPr>
          <a:xfrm>
            <a:off x="2220625" y="355812"/>
            <a:ext cx="1546860" cy="4846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Start </a:t>
            </a:r>
            <a:endParaRPr lang="th-TH" b="1" dirty="0">
              <a:solidFill>
                <a:schemeClr val="bg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C0BFC9-3433-D6FB-E822-EB92A1DAB9BD}"/>
              </a:ext>
            </a:extLst>
          </p:cNvPr>
          <p:cNvCxnSpPr>
            <a:stCxn id="14" idx="2"/>
            <a:endCxn id="4" idx="0"/>
          </p:cNvCxnSpPr>
          <p:nvPr/>
        </p:nvCxnSpPr>
        <p:spPr>
          <a:xfrm>
            <a:off x="2994055" y="840444"/>
            <a:ext cx="1" cy="234696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45A574-0D7B-21B0-9E36-E0F1C7A05236}"/>
              </a:ext>
            </a:extLst>
          </p:cNvPr>
          <p:cNvCxnSpPr/>
          <p:nvPr/>
        </p:nvCxnSpPr>
        <p:spPr>
          <a:xfrm>
            <a:off x="2994054" y="1579330"/>
            <a:ext cx="1" cy="234696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C6E2AB-F872-70B4-3454-86B157FDAD15}"/>
              </a:ext>
            </a:extLst>
          </p:cNvPr>
          <p:cNvCxnSpPr>
            <a:cxnSpLocks/>
          </p:cNvCxnSpPr>
          <p:nvPr/>
        </p:nvCxnSpPr>
        <p:spPr>
          <a:xfrm>
            <a:off x="2994053" y="2279100"/>
            <a:ext cx="1" cy="234696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36C9B0-02C5-1403-1F5F-3DFF5FB955ED}"/>
              </a:ext>
            </a:extLst>
          </p:cNvPr>
          <p:cNvCxnSpPr/>
          <p:nvPr/>
        </p:nvCxnSpPr>
        <p:spPr>
          <a:xfrm>
            <a:off x="2994052" y="2996904"/>
            <a:ext cx="1" cy="234696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78F421-E654-55AF-622F-1AB97D586D5F}"/>
              </a:ext>
            </a:extLst>
          </p:cNvPr>
          <p:cNvCxnSpPr/>
          <p:nvPr/>
        </p:nvCxnSpPr>
        <p:spPr>
          <a:xfrm>
            <a:off x="2994051" y="3979884"/>
            <a:ext cx="1" cy="234696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218B61-1AF8-B029-C96A-DB645878852A}"/>
              </a:ext>
            </a:extLst>
          </p:cNvPr>
          <p:cNvCxnSpPr/>
          <p:nvPr/>
        </p:nvCxnSpPr>
        <p:spPr>
          <a:xfrm>
            <a:off x="2994050" y="5052780"/>
            <a:ext cx="1" cy="234696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CB2E41-6EB3-975F-4F9E-3EA65505B5A5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994049" y="5757376"/>
            <a:ext cx="6" cy="350012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AC4D370-413F-8F57-1E9D-EE447BA2CCE7}"/>
              </a:ext>
            </a:extLst>
          </p:cNvPr>
          <p:cNvSpPr/>
          <p:nvPr/>
        </p:nvSpPr>
        <p:spPr>
          <a:xfrm>
            <a:off x="1082959" y="2380954"/>
            <a:ext cx="3840477" cy="1656000"/>
          </a:xfrm>
          <a:prstGeom prst="roundRect">
            <a:avLst>
              <a:gd name="adj" fmla="val 4809"/>
            </a:avLst>
          </a:prstGeom>
          <a:noFill/>
          <a:ln w="22225"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A87D17-A600-B383-AB78-DBC41548C20C}"/>
              </a:ext>
            </a:extLst>
          </p:cNvPr>
          <p:cNvSpPr txBox="1"/>
          <p:nvPr/>
        </p:nvSpPr>
        <p:spPr>
          <a:xfrm rot="5400000">
            <a:off x="24126" y="3038399"/>
            <a:ext cx="1656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Local coordinate</a:t>
            </a:r>
            <a:endParaRPr lang="th-TH" sz="2400" dirty="0">
              <a:solidFill>
                <a:srgbClr val="00206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EE1248-A26A-5366-E288-0E1B7B46D5A3}"/>
              </a:ext>
            </a:extLst>
          </p:cNvPr>
          <p:cNvSpPr/>
          <p:nvPr/>
        </p:nvSpPr>
        <p:spPr>
          <a:xfrm>
            <a:off x="1073628" y="4138808"/>
            <a:ext cx="3840477" cy="1739478"/>
          </a:xfrm>
          <a:prstGeom prst="roundRect">
            <a:avLst>
              <a:gd name="adj" fmla="val 4809"/>
            </a:avLst>
          </a:prstGeom>
          <a:noFill/>
          <a:ln w="22225"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157421-9583-B33F-0D6E-61AD18EFDFCC}"/>
              </a:ext>
            </a:extLst>
          </p:cNvPr>
          <p:cNvSpPr txBox="1"/>
          <p:nvPr/>
        </p:nvSpPr>
        <p:spPr>
          <a:xfrm rot="5400000">
            <a:off x="-85740" y="4864543"/>
            <a:ext cx="1875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12B8B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Global  coordinate</a:t>
            </a:r>
            <a:endParaRPr lang="th-TH" sz="2400" dirty="0">
              <a:solidFill>
                <a:srgbClr val="712B8B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188725E-BA79-7A16-A6D4-BD2554412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188" y="2996905"/>
            <a:ext cx="6694277" cy="3424570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1611BBD-588B-8372-0608-B4BEAD0B3BD2}"/>
              </a:ext>
            </a:extLst>
          </p:cNvPr>
          <p:cNvCxnSpPr>
            <a:stCxn id="11" idx="3"/>
          </p:cNvCxnSpPr>
          <p:nvPr/>
        </p:nvCxnSpPr>
        <p:spPr>
          <a:xfrm>
            <a:off x="4670455" y="4629108"/>
            <a:ext cx="779369" cy="0"/>
          </a:xfrm>
          <a:prstGeom prst="straightConnector1">
            <a:avLst/>
          </a:prstGeom>
          <a:ln w="25400">
            <a:solidFill>
              <a:srgbClr val="712B8B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813EC67-C966-E4DB-60B6-E8B8D8CDE3BE}"/>
              </a:ext>
            </a:extLst>
          </p:cNvPr>
          <p:cNvSpPr txBox="1"/>
          <p:nvPr/>
        </p:nvSpPr>
        <p:spPr>
          <a:xfrm>
            <a:off x="4982374" y="4302150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712B8B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e.g.</a:t>
            </a:r>
            <a:endParaRPr lang="th-TH" sz="2000" i="1" dirty="0">
              <a:solidFill>
                <a:srgbClr val="712B8B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496948B-3C05-11FB-A2CB-13F53AB9277F}"/>
              </a:ext>
            </a:extLst>
          </p:cNvPr>
          <p:cNvGrpSpPr/>
          <p:nvPr/>
        </p:nvGrpSpPr>
        <p:grpSpPr>
          <a:xfrm>
            <a:off x="5922721" y="1032746"/>
            <a:ext cx="1384706" cy="1327864"/>
            <a:chOff x="6252208" y="813663"/>
            <a:chExt cx="1384706" cy="1327864"/>
          </a:xfrm>
        </p:grpSpPr>
        <p:pic>
          <p:nvPicPr>
            <p:cNvPr id="34" name="Picture 33" descr="A diagram of a triangle with lines and dots&#10;&#10;AI-generated content may be incorrect.">
              <a:extLst>
                <a:ext uri="{FF2B5EF4-FFF2-40B4-BE49-F238E27FC236}">
                  <a16:creationId xmlns:a16="http://schemas.microsoft.com/office/drawing/2014/main" id="{D95C5E3F-F8EF-DA20-CC72-56FD6BC5B6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121" t="12746"/>
            <a:stretch/>
          </p:blipFill>
          <p:spPr bwMode="auto">
            <a:xfrm>
              <a:off x="6252208" y="813663"/>
              <a:ext cx="1384706" cy="1314952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2D8F98B-7E94-0E0B-D25D-0C0A4E7C8E97}"/>
                </a:ext>
              </a:extLst>
            </p:cNvPr>
            <p:cNvSpPr txBox="1"/>
            <p:nvPr/>
          </p:nvSpPr>
          <p:spPr>
            <a:xfrm>
              <a:off x="6417838" y="1772195"/>
              <a:ext cx="10534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i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TET4</a:t>
              </a:r>
              <a:endParaRPr lang="th-TH" sz="1800" b="1" i="1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5364FF29-9774-5E62-19E0-70FEA244B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715" y="227782"/>
            <a:ext cx="1281860" cy="3033494"/>
          </a:xfrm>
          <a:prstGeom prst="rect">
            <a:avLst/>
          </a:prstGeom>
        </p:spPr>
      </p:pic>
      <p:sp>
        <p:nvSpPr>
          <p:cNvPr id="38" name="Arrow: Right 37">
            <a:extLst>
              <a:ext uri="{FF2B5EF4-FFF2-40B4-BE49-F238E27FC236}">
                <a16:creationId xmlns:a16="http://schemas.microsoft.com/office/drawing/2014/main" id="{78CD2AB4-A9DD-6EF5-EDD5-110332631400}"/>
              </a:ext>
            </a:extLst>
          </p:cNvPr>
          <p:cNvSpPr/>
          <p:nvPr/>
        </p:nvSpPr>
        <p:spPr>
          <a:xfrm>
            <a:off x="7490098" y="1669769"/>
            <a:ext cx="283464" cy="1173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10782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49AA-1A8B-FCBA-FD60-8C62BE2E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Applying of Support Conditions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558731-7A52-1ADC-E06D-20188A67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17</a:t>
            </a:fld>
            <a:endParaRPr lang="th-TH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4E3D6A-F24E-7B69-7033-E426B40517B6}"/>
              </a:ext>
            </a:extLst>
          </p:cNvPr>
          <p:cNvGrpSpPr/>
          <p:nvPr/>
        </p:nvGrpSpPr>
        <p:grpSpPr>
          <a:xfrm>
            <a:off x="766338" y="1590611"/>
            <a:ext cx="8335788" cy="4478593"/>
            <a:chOff x="699311" y="1611674"/>
            <a:chExt cx="8335788" cy="44785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2B1DF44-1BA8-4AE4-D0AB-F207EE35B990}"/>
                </a:ext>
              </a:extLst>
            </p:cNvPr>
            <p:cNvGrpSpPr/>
            <p:nvPr/>
          </p:nvGrpSpPr>
          <p:grpSpPr>
            <a:xfrm>
              <a:off x="699311" y="1611674"/>
              <a:ext cx="8335788" cy="4478593"/>
              <a:chOff x="838200" y="4462753"/>
              <a:chExt cx="8335788" cy="4478593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E5612589-10CB-9AC7-5C16-469101E84166}"/>
                  </a:ext>
                </a:extLst>
              </p:cNvPr>
              <p:cNvSpPr/>
              <p:nvPr/>
            </p:nvSpPr>
            <p:spPr>
              <a:xfrm>
                <a:off x="838200" y="4462753"/>
                <a:ext cx="1982003" cy="415475"/>
              </a:xfrm>
              <a:prstGeom prst="roundRect">
                <a:avLst/>
              </a:prstGeom>
              <a:solidFill>
                <a:srgbClr val="712B8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MATLAB: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G2.m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244EC0D-1218-EC72-4B3D-0848C72F89B8}"/>
                  </a:ext>
                </a:extLst>
              </p:cNvPr>
              <p:cNvSpPr/>
              <p:nvPr/>
            </p:nvSpPr>
            <p:spPr>
              <a:xfrm>
                <a:off x="838200" y="4787433"/>
                <a:ext cx="8335788" cy="4153913"/>
              </a:xfrm>
              <a:prstGeom prst="roundRect">
                <a:avLst>
                  <a:gd name="adj" fmla="val 1209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rgbClr val="712B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2357A9-9783-A7CB-B06A-A2DB051AD5E1}"/>
                </a:ext>
              </a:extLst>
            </p:cNvPr>
            <p:cNvSpPr txBox="1"/>
            <p:nvPr/>
          </p:nvSpPr>
          <p:spPr>
            <a:xfrm>
              <a:off x="719607" y="2027149"/>
              <a:ext cx="73026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endParaRPr lang="en-US" sz="1400" b="0" i="0" dirty="0">
                <a:effectLst/>
                <a:latin typeface="Lucida Fax" panose="02060602050505020204" pitchFamily="18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900CF5C-2945-8AA9-FD2C-71087FFF85A4}"/>
              </a:ext>
            </a:extLst>
          </p:cNvPr>
          <p:cNvSpPr txBox="1"/>
          <p:nvPr/>
        </p:nvSpPr>
        <p:spPr>
          <a:xfrm>
            <a:off x="853944" y="2006086"/>
            <a:ext cx="84435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%% ------------------------Apply Support Conditions------------------------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%Identifying nodes for boundary conditions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Nodes where z =0 (zero displacement in all directions)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highlight>
                  <a:srgbClr val="FFFF00"/>
                </a:highlight>
                <a:latin typeface="Lucida Fax" panose="02060602050505020204" pitchFamily="18" charset="0"/>
              </a:rPr>
              <a:t>nodes_z0 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= find(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nodeCoordinates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(:,3) == 0);</a:t>
            </a:r>
          </a:p>
          <a:p>
            <a:pPr>
              <a:buNone/>
            </a:pP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Nodes where x == 0.25 and z == 3 (displacement u in x-direction only)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nodes_x025_z3 = find(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nodeCoordinates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(:,1) == breadth &amp;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nodeCoordinates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(:,3) == height);</a:t>
            </a:r>
            <a:br>
              <a:rPr lang="en-US" sz="1400" b="0" i="0" dirty="0">
                <a:effectLst/>
                <a:latin typeface="Lucida Fax" panose="02060602050505020204" pitchFamily="18" charset="0"/>
              </a:rPr>
            </a:b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bdof_s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[];	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%Boundary Degrees Of Freedom - Support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bddis_s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[];	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%Boundary Displacements - Support</a:t>
            </a: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Zero displacement at nodes_z0 (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x,y,z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)---&gt; same for every iteration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E00FF"/>
                </a:solidFill>
                <a:effectLst/>
                <a:latin typeface="Lucida Fax" panose="02060602050505020204" pitchFamily="18" charset="0"/>
              </a:rPr>
              <a:t>for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1:length(</a:t>
            </a:r>
            <a:r>
              <a:rPr lang="en-US" sz="1400" b="0" i="0" dirty="0">
                <a:effectLst/>
                <a:highlight>
                  <a:srgbClr val="FFFF00"/>
                </a:highlight>
                <a:latin typeface="Lucida Fax" panose="02060602050505020204" pitchFamily="18" charset="0"/>
              </a:rPr>
              <a:t>nodes_z0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</a:t>
            </a:r>
          </a:p>
          <a:p>
            <a:pPr lvl="1"/>
            <a:r>
              <a:rPr lang="en-US" sz="1400" b="0" i="0" dirty="0">
                <a:effectLst/>
                <a:latin typeface="Lucida Fax" panose="02060602050505020204" pitchFamily="18" charset="0"/>
              </a:rPr>
              <a:t>node = nodes_z0(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);</a:t>
            </a:r>
          </a:p>
          <a:p>
            <a:pPr lvl="1"/>
            <a:r>
              <a:rPr lang="en-US" sz="1400" b="0" i="0" dirty="0" err="1">
                <a:effectLst/>
                <a:latin typeface="Lucida Fax" panose="02060602050505020204" pitchFamily="18" charset="0"/>
              </a:rPr>
              <a:t>dofs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3*(node-1) + (1:3); 	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DOFs for 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x,y</a:t>
            </a:r>
            <a:r>
              <a:rPr lang="en-US" sz="1400" dirty="0">
                <a:solidFill>
                  <a:srgbClr val="008013"/>
                </a:solidFill>
                <a:latin typeface="Lucida Fax" panose="02060602050505020204" pitchFamily="18" charset="0"/>
              </a:rPr>
              <a:t>, and z respectively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 lvl="1"/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bdof_s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bdof_s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]; 		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Append DOFs to constrained list</a:t>
            </a:r>
          </a:p>
          <a:p>
            <a:pPr lvl="1"/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bddis_s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bddis_s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, zeros(1,3)]; 	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Set all displacements to zero </a:t>
            </a:r>
          </a:p>
          <a:p>
            <a:pPr>
              <a:buNone/>
            </a:pPr>
            <a:r>
              <a:rPr lang="en-US" sz="1400" b="0" i="0" dirty="0">
                <a:solidFill>
                  <a:srgbClr val="0E00FF"/>
                </a:solidFill>
                <a:effectLst/>
                <a:latin typeface="Lucida Fax" panose="02060602050505020204" pitchFamily="18" charset="0"/>
              </a:rPr>
              <a:t>end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r>
              <a:rPr lang="en-US" sz="1400" b="0" i="0" dirty="0">
                <a:effectLst/>
                <a:latin typeface="Lucida Fax" panose="02060602050505020204" pitchFamily="18" charset="0"/>
              </a:rPr>
              <a:t>keyboard;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2A722C-1A52-CBF4-FAE0-B7C2E36FDECF}"/>
              </a:ext>
            </a:extLst>
          </p:cNvPr>
          <p:cNvSpPr txBox="1"/>
          <p:nvPr/>
        </p:nvSpPr>
        <p:spPr>
          <a:xfrm>
            <a:off x="716296" y="1041578"/>
            <a:ext cx="2959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Applying Support Condition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06C3E1-6AF1-D360-7D1F-D3DBB7B6F8D5}"/>
              </a:ext>
            </a:extLst>
          </p:cNvPr>
          <p:cNvGrpSpPr/>
          <p:nvPr/>
        </p:nvGrpSpPr>
        <p:grpSpPr>
          <a:xfrm>
            <a:off x="9132237" y="1132978"/>
            <a:ext cx="3178999" cy="5362920"/>
            <a:chOff x="7174982" y="726652"/>
            <a:chExt cx="3178999" cy="5362920"/>
          </a:xfrm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635F327C-35B6-A65F-B7B4-04104088220F}"/>
                </a:ext>
              </a:extLst>
            </p:cNvPr>
            <p:cNvSpPr/>
            <p:nvPr/>
          </p:nvSpPr>
          <p:spPr>
            <a:xfrm>
              <a:off x="8197470" y="1959345"/>
              <a:ext cx="554476" cy="3138896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B3ED97E-DA63-8ADE-0D47-B73C7FC0A4EB}"/>
                </a:ext>
              </a:extLst>
            </p:cNvPr>
            <p:cNvCxnSpPr/>
            <p:nvPr/>
          </p:nvCxnSpPr>
          <p:spPr>
            <a:xfrm>
              <a:off x="8667639" y="2046895"/>
              <a:ext cx="817124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FD8B182-164D-B8FC-8E9B-79629AE40454}"/>
                </a:ext>
              </a:extLst>
            </p:cNvPr>
            <p:cNvCxnSpPr>
              <a:cxnSpLocks/>
            </p:cNvCxnSpPr>
            <p:nvPr/>
          </p:nvCxnSpPr>
          <p:spPr>
            <a:xfrm>
              <a:off x="7729336" y="5098241"/>
              <a:ext cx="8837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A56161B-BAC3-B469-F3EB-EBEFA96BDFF1}"/>
                </a:ext>
              </a:extLst>
            </p:cNvPr>
            <p:cNvSpPr txBox="1"/>
            <p:nvPr/>
          </p:nvSpPr>
          <p:spPr>
            <a:xfrm>
              <a:off x="7548755" y="4897990"/>
              <a:ext cx="11849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////////</a:t>
              </a:r>
              <a:endParaRPr lang="th-TH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FB0F1BC-9ADA-F44E-EFF0-AF38FABFB5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3046" y="4607670"/>
              <a:ext cx="489080" cy="490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3E6882-973B-F6D2-236A-ED5318A2D108}"/>
                </a:ext>
              </a:extLst>
            </p:cNvPr>
            <p:cNvSpPr txBox="1"/>
            <p:nvPr/>
          </p:nvSpPr>
          <p:spPr>
            <a:xfrm rot="18889328">
              <a:off x="8390150" y="4685793"/>
              <a:ext cx="9348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//////</a:t>
              </a:r>
              <a:endParaRPr lang="th-TH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185F78-56CE-C390-B438-650EEDC96B59}"/>
                </a:ext>
              </a:extLst>
            </p:cNvPr>
            <p:cNvSpPr txBox="1"/>
            <p:nvPr/>
          </p:nvSpPr>
          <p:spPr>
            <a:xfrm>
              <a:off x="8506663" y="2027886"/>
              <a:ext cx="184731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rgbClr val="C000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Dynamics displacement incremental</a:t>
              </a:r>
              <a:endParaRPr lang="th-TH" sz="2400" b="1" i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1057F21-1ABD-FC43-333E-5EE7D9578C75}"/>
                </a:ext>
              </a:extLst>
            </p:cNvPr>
            <p:cNvSpPr txBox="1"/>
            <p:nvPr/>
          </p:nvSpPr>
          <p:spPr>
            <a:xfrm>
              <a:off x="7277546" y="5258575"/>
              <a:ext cx="291229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The nodes at </a:t>
              </a:r>
              <a:r>
                <a:rPr lang="en-US" sz="2400" b="1" dirty="0">
                  <a:highlight>
                    <a:srgbClr val="FFFF00"/>
                  </a:highlight>
                  <a:latin typeface="FreesiaUPC" panose="020B0604020202020204" pitchFamily="34" charset="-34"/>
                  <a:cs typeface="FreesiaUPC" panose="020B0604020202020204" pitchFamily="34" charset="-34"/>
                </a:rPr>
                <a:t>z = 0</a:t>
              </a:r>
              <a:r>
                <a:rPr lang="en-US" sz="2400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 </a:t>
              </a:r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are zero displacement in all directions 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069262C-F2FE-A66D-00A0-89761B4ED6BE}"/>
                </a:ext>
              </a:extLst>
            </p:cNvPr>
            <p:cNvGrpSpPr/>
            <p:nvPr/>
          </p:nvGrpSpPr>
          <p:grpSpPr>
            <a:xfrm>
              <a:off x="7789230" y="2116393"/>
              <a:ext cx="256190" cy="2998237"/>
              <a:chOff x="662376" y="3458194"/>
              <a:chExt cx="256190" cy="1178547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0E72395-EEF7-1F2F-3BCE-8B5FBAAD1B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816" y="3458194"/>
                <a:ext cx="0" cy="117854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90AD2D0-64A3-5EB0-E9BE-2F83F5AFB535}"/>
                  </a:ext>
                </a:extLst>
              </p:cNvPr>
              <p:cNvCxnSpPr/>
              <p:nvPr/>
            </p:nvCxnSpPr>
            <p:spPr>
              <a:xfrm>
                <a:off x="662376" y="3458194"/>
                <a:ext cx="2561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50CAE01-CECA-BCC7-F18C-C4543AE0AE8B}"/>
                  </a:ext>
                </a:extLst>
              </p:cNvPr>
              <p:cNvCxnSpPr/>
              <p:nvPr/>
            </p:nvCxnSpPr>
            <p:spPr>
              <a:xfrm>
                <a:off x="662376" y="4630504"/>
                <a:ext cx="25619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0443B7-639F-D35E-0C0F-570228472AEB}"/>
                </a:ext>
              </a:extLst>
            </p:cNvPr>
            <p:cNvSpPr txBox="1"/>
            <p:nvPr/>
          </p:nvSpPr>
          <p:spPr>
            <a:xfrm>
              <a:off x="7380537" y="3231710"/>
              <a:ext cx="74090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3.0 m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768A513-A5BB-D88A-6EAF-DF8AD8E7D2DA}"/>
                </a:ext>
              </a:extLst>
            </p:cNvPr>
            <p:cNvSpPr txBox="1"/>
            <p:nvPr/>
          </p:nvSpPr>
          <p:spPr>
            <a:xfrm>
              <a:off x="7174982" y="726652"/>
              <a:ext cx="298531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The particular nodes at </a:t>
              </a:r>
              <a:r>
                <a:rPr lang="en-US" sz="2400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z = 3 </a:t>
              </a:r>
              <a:r>
                <a:rPr lang="en-US" sz="2400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are applied displacement u in x-direction</a:t>
              </a:r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2913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DF797-B27B-7674-E18B-327B34B2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1B306F-CB3F-DBE2-0854-350B9461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18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81EE1D-2A47-8B66-6682-9C0B5612BB83}"/>
              </a:ext>
            </a:extLst>
          </p:cNvPr>
          <p:cNvSpPr/>
          <p:nvPr/>
        </p:nvSpPr>
        <p:spPr>
          <a:xfrm>
            <a:off x="2989912" y="2991896"/>
            <a:ext cx="6212175" cy="1107831"/>
          </a:xfrm>
          <a:prstGeom prst="roundRect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Incremental with equilibrium correction</a:t>
            </a:r>
            <a:endParaRPr lang="th-TH" sz="4000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69457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308C1-D516-B6FD-B8C1-8DD1FB26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9DE5D4-33F8-CE8A-0544-8843F48F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19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D0A8DD-0AD1-1B8F-9925-2B98A1B3849A}"/>
              </a:ext>
            </a:extLst>
          </p:cNvPr>
          <p:cNvSpPr/>
          <p:nvPr/>
        </p:nvSpPr>
        <p:spPr>
          <a:xfrm>
            <a:off x="2431698" y="934498"/>
            <a:ext cx="1286189" cy="422031"/>
          </a:xfrm>
          <a:prstGeom prst="roundRect">
            <a:avLst/>
          </a:prstGeom>
          <a:solidFill>
            <a:srgbClr val="002060"/>
          </a:solidFill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START</a:t>
            </a:r>
            <a:endParaRPr lang="th-TH" sz="2400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138B08A-987D-16FF-0C83-357B61DB7215}"/>
              </a:ext>
            </a:extLst>
          </p:cNvPr>
          <p:cNvCxnSpPr>
            <a:cxnSpLocks/>
          </p:cNvCxnSpPr>
          <p:nvPr/>
        </p:nvCxnSpPr>
        <p:spPr>
          <a:xfrm>
            <a:off x="3070392" y="1356529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A169E9A0-AB61-BE63-BA62-D595E6DA16D2}"/>
                  </a:ext>
                </a:extLst>
              </p:cNvPr>
              <p:cNvSpPr/>
              <p:nvPr/>
            </p:nvSpPr>
            <p:spPr>
              <a:xfrm>
                <a:off x="1000431" y="1581866"/>
                <a:ext cx="4013695" cy="1939332"/>
              </a:xfrm>
              <a:prstGeom prst="roundRect">
                <a:avLst>
                  <a:gd name="adj" fmla="val 5293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Initialize parameters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Time step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t) = </a:t>
                </a:r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100 sec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Incremental step: </a:t>
                </a:r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N_INC = 1000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b="1" dirty="0" err="1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dis_step</a:t>
                </a:r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= 0.04H/ N_INC</a:t>
                </a:r>
                <a:endParaRPr lang="th-TH" sz="2400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A169E9A0-AB61-BE63-BA62-D595E6DA1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431" y="1581866"/>
                <a:ext cx="4013695" cy="1939332"/>
              </a:xfrm>
              <a:prstGeom prst="roundRect">
                <a:avLst>
                  <a:gd name="adj" fmla="val 5293"/>
                </a:avLst>
              </a:prstGeom>
              <a:blipFill>
                <a:blip r:embed="rId2"/>
                <a:stretch>
                  <a:fillRect l="-1360"/>
                </a:stretch>
              </a:blipFill>
              <a:ln w="15875"/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845602-62DE-91FE-3D88-3BE98370CBE1}"/>
              </a:ext>
            </a:extLst>
          </p:cNvPr>
          <p:cNvCxnSpPr>
            <a:cxnSpLocks/>
          </p:cNvCxnSpPr>
          <p:nvPr/>
        </p:nvCxnSpPr>
        <p:spPr>
          <a:xfrm>
            <a:off x="3021823" y="3521198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1B1D2B-2258-8C19-CB36-C89A2D34A775}"/>
              </a:ext>
            </a:extLst>
          </p:cNvPr>
          <p:cNvSpPr/>
          <p:nvPr/>
        </p:nvSpPr>
        <p:spPr>
          <a:xfrm>
            <a:off x="1493109" y="3742261"/>
            <a:ext cx="3057428" cy="1060102"/>
          </a:xfrm>
          <a:prstGeom prst="roundRect">
            <a:avLst>
              <a:gd name="adj" fmla="val 5293"/>
            </a:avLst>
          </a:prstGeom>
          <a:solidFill>
            <a:schemeClr val="accent3">
              <a:lumMod val="20000"/>
              <a:lumOff val="80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Initial Condition </a:t>
            </a:r>
          </a:p>
          <a:p>
            <a:r>
              <a:rPr lang="en-US" sz="2400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u =  v = a = 0 </a:t>
            </a:r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(at t = 0) and </a:t>
            </a:r>
          </a:p>
          <a:p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Residual force = </a:t>
            </a:r>
            <a:r>
              <a:rPr lang="en-US" sz="2400" dirty="0" err="1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R_ForceG</a:t>
            </a:r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= 0</a:t>
            </a:r>
            <a:endParaRPr lang="th-TH" sz="2400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51AFB5-5223-4AA6-EC00-AE2136569B83}"/>
              </a:ext>
            </a:extLst>
          </p:cNvPr>
          <p:cNvCxnSpPr>
            <a:stCxn id="8" idx="3"/>
          </p:cNvCxnSpPr>
          <p:nvPr/>
        </p:nvCxnSpPr>
        <p:spPr>
          <a:xfrm>
            <a:off x="4550537" y="4272312"/>
            <a:ext cx="6846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F9EA8F-884B-9B6D-D1F6-0C795B94DAFB}"/>
              </a:ext>
            </a:extLst>
          </p:cNvPr>
          <p:cNvCxnSpPr>
            <a:cxnSpLocks/>
          </p:cNvCxnSpPr>
          <p:nvPr/>
        </p:nvCxnSpPr>
        <p:spPr>
          <a:xfrm flipV="1">
            <a:off x="5235189" y="602902"/>
            <a:ext cx="0" cy="36694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2880C7-7A4B-0E3C-EC99-A448A9AAA767}"/>
              </a:ext>
            </a:extLst>
          </p:cNvPr>
          <p:cNvCxnSpPr>
            <a:cxnSpLocks/>
          </p:cNvCxnSpPr>
          <p:nvPr/>
        </p:nvCxnSpPr>
        <p:spPr>
          <a:xfrm>
            <a:off x="5235189" y="602902"/>
            <a:ext cx="787777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C2B8BB-4BB8-9F04-F9CB-5F13A750D9F7}"/>
              </a:ext>
            </a:extLst>
          </p:cNvPr>
          <p:cNvSpPr txBox="1"/>
          <p:nvPr/>
        </p:nvSpPr>
        <p:spPr>
          <a:xfrm>
            <a:off x="6312400" y="55824"/>
            <a:ext cx="2579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FreesiaUPC" panose="020B0604020202020204" pitchFamily="34" charset="-34"/>
                <a:cs typeface="FreesiaUPC" panose="020B0604020202020204" pitchFamily="34" charset="-34"/>
              </a:rPr>
              <a:t>Time loop: </a:t>
            </a:r>
            <a:r>
              <a:rPr lang="en-US" sz="2400" dirty="0">
                <a:latin typeface="FreesiaUPC" panose="020B0604020202020204" pitchFamily="34" charset="-34"/>
                <a:cs typeface="FreesiaUPC" panose="020B0604020202020204" pitchFamily="34" charset="-34"/>
              </a:rPr>
              <a:t>INC = 1: N_INC</a:t>
            </a:r>
            <a:endParaRPr lang="th-TH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B77387-FD1C-2568-D6F8-89B26A16509B}"/>
              </a:ext>
            </a:extLst>
          </p:cNvPr>
          <p:cNvSpPr/>
          <p:nvPr/>
        </p:nvSpPr>
        <p:spPr>
          <a:xfrm>
            <a:off x="6022966" y="476040"/>
            <a:ext cx="3227556" cy="1084340"/>
          </a:xfrm>
          <a:prstGeom prst="roundRect">
            <a:avLst>
              <a:gd name="adj" fmla="val 5293"/>
            </a:avLst>
          </a:prstGeom>
          <a:solidFill>
            <a:schemeClr val="bg1">
              <a:lumMod val="95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Apply boundary conditions</a:t>
            </a:r>
          </a:p>
          <a:p>
            <a:r>
              <a:rPr lang="en-US" sz="2400" b="1" dirty="0" err="1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bdof_d</a:t>
            </a:r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: Prescribe x-displacement  </a:t>
            </a:r>
          </a:p>
          <a:p>
            <a:r>
              <a:rPr lang="en-US" sz="2400" b="1" dirty="0" err="1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bdof_s</a:t>
            </a:r>
            <a:r>
              <a:rPr lang="en-US" sz="2400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Fixed base</a:t>
            </a:r>
            <a:endParaRPr lang="th-TH" sz="2400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E31C59D-4E27-75BD-F092-516EEA0812E2}"/>
              </a:ext>
            </a:extLst>
          </p:cNvPr>
          <p:cNvCxnSpPr>
            <a:cxnSpLocks/>
          </p:cNvCxnSpPr>
          <p:nvPr/>
        </p:nvCxnSpPr>
        <p:spPr>
          <a:xfrm>
            <a:off x="7633028" y="1577591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08498388-7A25-E628-5901-1ECC28697EE3}"/>
                  </a:ext>
                </a:extLst>
              </p:cNvPr>
              <p:cNvSpPr/>
              <p:nvPr/>
            </p:nvSpPr>
            <p:spPr>
              <a:xfrm>
                <a:off x="5456253" y="1798654"/>
                <a:ext cx="4360983" cy="1577591"/>
              </a:xfrm>
              <a:prstGeom prst="roundRect">
                <a:avLst>
                  <a:gd name="adj" fmla="val 5293"/>
                </a:avLst>
              </a:prstGeom>
              <a:solidFill>
                <a:schemeClr val="bg1">
                  <a:lumMod val="95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Modify stiffness matrix and force</a:t>
                </a:r>
              </a:p>
              <a:p>
                <a:pPr algn="ctr"/>
                <a:r>
                  <a:rPr lang="en-US" sz="2400" b="1" dirty="0" err="1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KG_eff</a:t>
                </a:r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 = KG + MG</a:t>
                </a:r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/(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𝛽</m:t>
                    </m:r>
                    <m:r>
                      <a:rPr lang="el-GR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t</a:t>
                </a:r>
                <a:r>
                  <a:rPr lang="en-US" sz="2400" baseline="300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2</a:t>
                </a:r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)</a:t>
                </a:r>
              </a:p>
              <a:p>
                <a:pPr algn="ctr"/>
                <a:r>
                  <a:rPr lang="en-US" sz="2400" b="1" dirty="0" err="1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F_eff</a:t>
                </a:r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= Body force + Residual + Inertial terms</a:t>
                </a:r>
                <a:endParaRPr lang="th-TH" sz="2400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Enforce BCs by modifying </a:t>
                </a:r>
                <a:r>
                  <a:rPr lang="en-US" sz="2400" b="1" dirty="0" err="1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KG_eff</a:t>
                </a:r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and </a:t>
                </a:r>
                <a:r>
                  <a:rPr lang="en-US" sz="2400" b="1" dirty="0" err="1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F_eff</a:t>
                </a:r>
                <a:endParaRPr lang="th-TH" sz="2400" b="1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788E9C1-AD47-9BFC-59DF-030F95264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253" y="1798654"/>
                <a:ext cx="4360983" cy="1577591"/>
              </a:xfrm>
              <a:prstGeom prst="roundRect">
                <a:avLst>
                  <a:gd name="adj" fmla="val 5293"/>
                </a:avLst>
              </a:prstGeom>
              <a:blipFill>
                <a:blip r:embed="rId3"/>
                <a:stretch>
                  <a:fillRect l="-418" t="-1908" r="-418" b="-7634"/>
                </a:stretch>
              </a:blipFill>
              <a:ln w="15875"/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FD77B5-7C78-36F5-FF72-FC586FBBBD01}"/>
              </a:ext>
            </a:extLst>
          </p:cNvPr>
          <p:cNvCxnSpPr>
            <a:cxnSpLocks/>
          </p:cNvCxnSpPr>
          <p:nvPr/>
        </p:nvCxnSpPr>
        <p:spPr>
          <a:xfrm>
            <a:off x="7619814" y="3376245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DF2BD7D-992E-8F67-5BF6-02077CF25C72}"/>
                  </a:ext>
                </a:extLst>
              </p:cNvPr>
              <p:cNvSpPr/>
              <p:nvPr/>
            </p:nvSpPr>
            <p:spPr>
              <a:xfrm>
                <a:off x="5880068" y="3631730"/>
                <a:ext cx="3455793" cy="785290"/>
              </a:xfrm>
              <a:prstGeom prst="roundRect">
                <a:avLst>
                  <a:gd name="adj" fmla="val 5293"/>
                </a:avLst>
              </a:prstGeom>
              <a:solidFill>
                <a:schemeClr val="bg1">
                  <a:lumMod val="95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Solve for Displacment Incremental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kumimoji="0" lang="el-G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𝚫</m:t>
                    </m:r>
                  </m:oMath>
                </a14:m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u = KG1\</a:t>
                </a:r>
                <a:r>
                  <a:rPr kumimoji="0" lang="en-US" sz="2400" b="1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kumimoji="0" lang="en-US" sz="2400" b="1" i="0" u="none" strike="noStrike" kern="1200" cap="none" spc="0" normalizeH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F_eff</a:t>
                </a:r>
                <a:endParaRPr lang="th-TH" sz="2400" b="1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5A27D29-5E8E-BF2A-7123-95AE27351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068" y="3631730"/>
                <a:ext cx="3455793" cy="785290"/>
              </a:xfrm>
              <a:prstGeom prst="roundRect">
                <a:avLst>
                  <a:gd name="adj" fmla="val 5293"/>
                </a:avLst>
              </a:prstGeom>
              <a:blipFill>
                <a:blip r:embed="rId4"/>
                <a:stretch>
                  <a:fillRect t="-7576" r="-176" b="-18182"/>
                </a:stretch>
              </a:blipFill>
              <a:ln w="15875"/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116D1C-F4FE-C633-7942-353762A20703}"/>
              </a:ext>
            </a:extLst>
          </p:cNvPr>
          <p:cNvCxnSpPr>
            <a:cxnSpLocks/>
          </p:cNvCxnSpPr>
          <p:nvPr/>
        </p:nvCxnSpPr>
        <p:spPr>
          <a:xfrm>
            <a:off x="7619814" y="4431094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460A16D3-4A12-39A1-7E05-7CB22A01B1FA}"/>
                  </a:ext>
                </a:extLst>
              </p:cNvPr>
              <p:cNvSpPr/>
              <p:nvPr/>
            </p:nvSpPr>
            <p:spPr>
              <a:xfrm>
                <a:off x="5764983" y="4652157"/>
                <a:ext cx="3685961" cy="1060102"/>
              </a:xfrm>
              <a:prstGeom prst="roundRect">
                <a:avLst>
                  <a:gd name="adj" fmla="val 5293"/>
                </a:avLst>
              </a:prstGeom>
              <a:solidFill>
                <a:schemeClr val="bg1">
                  <a:lumMod val="95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Update state variable</a:t>
                </a:r>
              </a:p>
              <a:p>
                <a:pPr algn="ctr"/>
                <a:r>
                  <a:rPr lang="en-US" sz="2400" b="1" dirty="0" err="1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disp</a:t>
                </a:r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 = </a:t>
                </a:r>
                <a:r>
                  <a:rPr lang="en-US" sz="2400" b="1" dirty="0" err="1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disp</a:t>
                </a:r>
                <a:r>
                  <a: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 + </a:t>
                </a:r>
                <a14:m>
                  <m:oMath xmlns:m="http://schemas.openxmlformats.org/officeDocument/2006/math">
                    <m:r>
                      <a:rPr kumimoji="0" lang="el-G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𝚫</m:t>
                    </m:r>
                  </m:oMath>
                </a14:m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u </a:t>
                </a:r>
              </a:p>
              <a:p>
                <a:pPr algn="ctr"/>
                <a:r>
                  <a:rPr lang="en-US" sz="2400" dirty="0">
                    <a:solidFill>
                      <a:prstClr val="black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Update u, v, and a using Newmark-</a:t>
                </a:r>
                <a:r>
                  <a:rPr lang="en-US" sz="2400" b="0" dirty="0">
                    <a:solidFill>
                      <a:schemeClr val="tx1"/>
                    </a:solidFill>
                    <a:ea typeface="Latin-Modern-Math-Word" panose="02000503000000000000" pitchFamily="2" charset="0"/>
                    <a:cs typeface="Latin-Modern-Math-Word" panose="020005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𝛽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62F58F5-57DD-0449-88A8-EBAA6C2A88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983" y="4652157"/>
                <a:ext cx="3685961" cy="1060102"/>
              </a:xfrm>
              <a:prstGeom prst="roundRect">
                <a:avLst>
                  <a:gd name="adj" fmla="val 5293"/>
                </a:avLst>
              </a:prstGeom>
              <a:blipFill>
                <a:blip r:embed="rId5"/>
                <a:stretch>
                  <a:fillRect l="-988" t="-9605" b="-18644"/>
                </a:stretch>
              </a:blipFill>
              <a:ln w="15875"/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0B6D4FA-4E64-3F8A-13A6-6C10094FC413}"/>
              </a:ext>
            </a:extLst>
          </p:cNvPr>
          <p:cNvSpPr/>
          <p:nvPr/>
        </p:nvSpPr>
        <p:spPr>
          <a:xfrm>
            <a:off x="5427471" y="5928069"/>
            <a:ext cx="4360983" cy="730894"/>
          </a:xfrm>
          <a:prstGeom prst="roundRect">
            <a:avLst>
              <a:gd name="adj" fmla="val 5293"/>
            </a:avLst>
          </a:prstGeom>
          <a:solidFill>
            <a:schemeClr val="bg1">
              <a:lumMod val="95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Element-level calculation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Strain, Stress, and Principal strains and stress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F603B3-82D9-88BF-FB80-E191E8773F20}"/>
              </a:ext>
            </a:extLst>
          </p:cNvPr>
          <p:cNvCxnSpPr>
            <a:cxnSpLocks/>
          </p:cNvCxnSpPr>
          <p:nvPr/>
        </p:nvCxnSpPr>
        <p:spPr>
          <a:xfrm>
            <a:off x="7607962" y="5712259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F83C2F-C7E8-5892-406F-D3749FF63C94}"/>
              </a:ext>
            </a:extLst>
          </p:cNvPr>
          <p:cNvCxnSpPr>
            <a:cxnSpLocks/>
          </p:cNvCxnSpPr>
          <p:nvPr/>
        </p:nvCxnSpPr>
        <p:spPr>
          <a:xfrm>
            <a:off x="9788454" y="6356350"/>
            <a:ext cx="308463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958109F-F418-50A7-7D2C-9A199057C24A}"/>
              </a:ext>
            </a:extLst>
          </p:cNvPr>
          <p:cNvSpPr txBox="1"/>
          <p:nvPr/>
        </p:nvSpPr>
        <p:spPr>
          <a:xfrm>
            <a:off x="7672343" y="5617222"/>
            <a:ext cx="2730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FreesiaUPC" panose="020B0604020202020204" pitchFamily="34" charset="-34"/>
                <a:cs typeface="FreesiaUPC" panose="020B0604020202020204" pitchFamily="34" charset="-34"/>
              </a:rPr>
              <a:t>Let’s consider stress-strain curve</a:t>
            </a:r>
            <a:endParaRPr lang="th-TH" sz="2000" i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C542E2-14B7-7E36-CC79-4540DC06A559}"/>
              </a:ext>
            </a:extLst>
          </p:cNvPr>
          <p:cNvSpPr txBox="1"/>
          <p:nvPr/>
        </p:nvSpPr>
        <p:spPr>
          <a:xfrm>
            <a:off x="10094641" y="6031906"/>
            <a:ext cx="615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…..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79443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59AE-A45C-2E6E-B3B8-50C84F5C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Incremental Method with Equilibrium Correction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E8F20D-7DD1-2022-ACCA-E0968E17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20</a:t>
            </a:fld>
            <a:endParaRPr lang="th-TH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1C64B2-B2BC-5EF3-581A-AFF0AC412971}"/>
              </a:ext>
            </a:extLst>
          </p:cNvPr>
          <p:cNvSpPr txBox="1"/>
          <p:nvPr/>
        </p:nvSpPr>
        <p:spPr>
          <a:xfrm>
            <a:off x="695999" y="1049320"/>
            <a:ext cx="110605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Incremental Method with Equilibrium Correction </a:t>
            </a:r>
          </a:p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In this study, we use the incremental analysis with </a:t>
            </a: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constant stiffness for each iteration only if no element fails.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C0579D0-ABD2-F05F-E0C7-F283F6F54730}"/>
              </a:ext>
            </a:extLst>
          </p:cNvPr>
          <p:cNvCxnSpPr>
            <a:cxnSpLocks/>
          </p:cNvCxnSpPr>
          <p:nvPr/>
        </p:nvCxnSpPr>
        <p:spPr>
          <a:xfrm flipV="1">
            <a:off x="2541956" y="2740766"/>
            <a:ext cx="0" cy="3264518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D47893-19E8-E1AD-A6C9-221A6E876EA7}"/>
              </a:ext>
            </a:extLst>
          </p:cNvPr>
          <p:cNvCxnSpPr>
            <a:cxnSpLocks/>
          </p:cNvCxnSpPr>
          <p:nvPr/>
        </p:nvCxnSpPr>
        <p:spPr>
          <a:xfrm>
            <a:off x="2541956" y="6005284"/>
            <a:ext cx="3402976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B039D33-A6C0-7F3D-D5E8-64AC3B1F2C02}"/>
              </a:ext>
            </a:extLst>
          </p:cNvPr>
          <p:cNvSpPr/>
          <p:nvPr/>
        </p:nvSpPr>
        <p:spPr>
          <a:xfrm>
            <a:off x="2538315" y="3200376"/>
            <a:ext cx="3321011" cy="2804908"/>
          </a:xfrm>
          <a:custGeom>
            <a:avLst/>
            <a:gdLst>
              <a:gd name="connsiteX0" fmla="*/ 0 w 3321011"/>
              <a:gd name="connsiteY0" fmla="*/ 2804908 h 2804908"/>
              <a:gd name="connsiteX1" fmla="*/ 280491 w 3321011"/>
              <a:gd name="connsiteY1" fmla="*/ 2058802 h 2804908"/>
              <a:gd name="connsiteX2" fmla="*/ 762935 w 3321011"/>
              <a:gd name="connsiteY2" fmla="*/ 1368795 h 2804908"/>
              <a:gd name="connsiteX3" fmla="*/ 1739043 w 3321011"/>
              <a:gd name="connsiteY3" fmla="*/ 645128 h 2804908"/>
              <a:gd name="connsiteX4" fmla="*/ 3321011 w 3321011"/>
              <a:gd name="connsiteY4" fmla="*/ 0 h 2804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1011" h="2804908">
                <a:moveTo>
                  <a:pt x="0" y="2804908"/>
                </a:moveTo>
                <a:cubicBezTo>
                  <a:pt x="76667" y="2551531"/>
                  <a:pt x="153335" y="2298154"/>
                  <a:pt x="280491" y="2058802"/>
                </a:cubicBezTo>
                <a:cubicBezTo>
                  <a:pt x="407647" y="1819450"/>
                  <a:pt x="519843" y="1604407"/>
                  <a:pt x="762935" y="1368795"/>
                </a:cubicBezTo>
                <a:cubicBezTo>
                  <a:pt x="1006027" y="1133183"/>
                  <a:pt x="1312697" y="873260"/>
                  <a:pt x="1739043" y="645128"/>
                </a:cubicBezTo>
                <a:cubicBezTo>
                  <a:pt x="2165389" y="416996"/>
                  <a:pt x="2743200" y="208498"/>
                  <a:pt x="3321011" y="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17B3DD4-0BC0-AE3C-CD34-50E86E9D5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472497"/>
              </p:ext>
            </p:extLst>
          </p:nvPr>
        </p:nvGraphicFramePr>
        <p:xfrm>
          <a:off x="4143231" y="6033472"/>
          <a:ext cx="458643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203040" progId="Equation.DSMT4">
                  <p:embed/>
                </p:oleObj>
              </mc:Choice>
              <mc:Fallback>
                <p:oleObj name="Equation" r:id="rId2" imgW="215640" imgH="203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C2FE47C-CCD7-1CC5-A7EB-9995A37C67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43231" y="6033472"/>
                        <a:ext cx="458643" cy="432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937CA5A-1FB0-2B83-E894-4D76ECF040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342036"/>
              </p:ext>
            </p:extLst>
          </p:nvPr>
        </p:nvGraphicFramePr>
        <p:xfrm>
          <a:off x="2123889" y="4389816"/>
          <a:ext cx="32175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203040" progId="Equation.DSMT4">
                  <p:embed/>
                </p:oleObj>
              </mc:Choice>
              <mc:Fallback>
                <p:oleObj name="Equation" r:id="rId4" imgW="16488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397DE23-248A-D82F-DC59-E0E3E4558E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3889" y="4389816"/>
                        <a:ext cx="321750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F17D47-5AEE-8B16-5905-FA41F35D4A4A}"/>
              </a:ext>
            </a:extLst>
          </p:cNvPr>
          <p:cNvCxnSpPr>
            <a:cxnSpLocks/>
          </p:cNvCxnSpPr>
          <p:nvPr/>
        </p:nvCxnSpPr>
        <p:spPr>
          <a:xfrm flipH="1">
            <a:off x="2574815" y="3427758"/>
            <a:ext cx="2681527" cy="0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D93237F-1AB3-8682-C9D1-6A7627483C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210484"/>
              </p:ext>
            </p:extLst>
          </p:nvPr>
        </p:nvGraphicFramePr>
        <p:xfrm>
          <a:off x="2052046" y="2767292"/>
          <a:ext cx="54450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203040" progId="Equation.DSMT4">
                  <p:embed/>
                </p:oleObj>
              </mc:Choice>
              <mc:Fallback>
                <p:oleObj name="Equation" r:id="rId6" imgW="279360" imgH="2030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98039351-6DAF-E70C-3F54-0F2B3FC57E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52046" y="2767292"/>
                        <a:ext cx="544500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8156A-548D-1AB6-9ECA-BBB7C86352D1}"/>
              </a:ext>
            </a:extLst>
          </p:cNvPr>
          <p:cNvCxnSpPr>
            <a:cxnSpLocks/>
          </p:cNvCxnSpPr>
          <p:nvPr/>
        </p:nvCxnSpPr>
        <p:spPr>
          <a:xfrm flipV="1">
            <a:off x="5239938" y="3430521"/>
            <a:ext cx="0" cy="2574763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3478DE-C6F0-599D-E0D1-B804AADA1CFA}"/>
              </a:ext>
            </a:extLst>
          </p:cNvPr>
          <p:cNvCxnSpPr>
            <a:cxnSpLocks/>
          </p:cNvCxnSpPr>
          <p:nvPr/>
        </p:nvCxnSpPr>
        <p:spPr>
          <a:xfrm flipV="1">
            <a:off x="2535593" y="3810891"/>
            <a:ext cx="742725" cy="2194393"/>
          </a:xfrm>
          <a:prstGeom prst="line">
            <a:avLst/>
          </a:prstGeom>
          <a:ln w="254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EADF60-9F50-5C08-CEC8-A6CB30DD0468}"/>
              </a:ext>
            </a:extLst>
          </p:cNvPr>
          <p:cNvSpPr txBox="1"/>
          <p:nvPr/>
        </p:nvSpPr>
        <p:spPr>
          <a:xfrm>
            <a:off x="2735605" y="3802962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E</a:t>
            </a:r>
            <a:r>
              <a:rPr lang="en-US" baseline="-25000" dirty="0"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endParaRPr lang="th-TH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DBA65C-90F6-CAC1-23BE-27DC39702BD1}"/>
              </a:ext>
            </a:extLst>
          </p:cNvPr>
          <p:cNvCxnSpPr>
            <a:cxnSpLocks/>
          </p:cNvCxnSpPr>
          <p:nvPr/>
        </p:nvCxnSpPr>
        <p:spPr>
          <a:xfrm flipV="1">
            <a:off x="3278318" y="2724275"/>
            <a:ext cx="504000" cy="1855597"/>
          </a:xfrm>
          <a:prstGeom prst="line">
            <a:avLst/>
          </a:prstGeom>
          <a:ln w="254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90B3A1-4AE4-E948-32FD-F2A48C566A7B}"/>
              </a:ext>
            </a:extLst>
          </p:cNvPr>
          <p:cNvCxnSpPr>
            <a:cxnSpLocks/>
          </p:cNvCxnSpPr>
          <p:nvPr/>
        </p:nvCxnSpPr>
        <p:spPr>
          <a:xfrm flipV="1">
            <a:off x="3285348" y="3810892"/>
            <a:ext cx="0" cy="758279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0A5D70-4373-9345-672E-1286BCC3FB64}"/>
              </a:ext>
            </a:extLst>
          </p:cNvPr>
          <p:cNvSpPr txBox="1"/>
          <p:nvPr/>
        </p:nvSpPr>
        <p:spPr>
          <a:xfrm>
            <a:off x="3313173" y="2553125"/>
            <a:ext cx="507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E</a:t>
            </a:r>
            <a:r>
              <a:rPr lang="en-US" baseline="-25000" dirty="0"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endParaRPr lang="th-TH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8C5118-FFC0-A025-10AD-6689C197A570}"/>
              </a:ext>
            </a:extLst>
          </p:cNvPr>
          <p:cNvCxnSpPr>
            <a:cxnSpLocks/>
          </p:cNvCxnSpPr>
          <p:nvPr/>
        </p:nvCxnSpPr>
        <p:spPr>
          <a:xfrm flipV="1">
            <a:off x="3300284" y="4579873"/>
            <a:ext cx="0" cy="1433894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582E5A-891D-C5BB-A083-D4C27CC697D0}"/>
              </a:ext>
            </a:extLst>
          </p:cNvPr>
          <p:cNvCxnSpPr>
            <a:cxnSpLocks/>
          </p:cNvCxnSpPr>
          <p:nvPr/>
        </p:nvCxnSpPr>
        <p:spPr>
          <a:xfrm flipV="1">
            <a:off x="4353443" y="3813400"/>
            <a:ext cx="0" cy="2191884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CB8336-B9C7-909A-3FB3-D60550E6E7D6}"/>
              </a:ext>
            </a:extLst>
          </p:cNvPr>
          <p:cNvCxnSpPr>
            <a:cxnSpLocks/>
          </p:cNvCxnSpPr>
          <p:nvPr/>
        </p:nvCxnSpPr>
        <p:spPr>
          <a:xfrm flipH="1">
            <a:off x="2532868" y="4564232"/>
            <a:ext cx="684000" cy="0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BBBFBBBC-1993-DDB3-DA1A-8733E143F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542294"/>
              </p:ext>
            </p:extLst>
          </p:nvPr>
        </p:nvGraphicFramePr>
        <p:xfrm>
          <a:off x="3136149" y="6013767"/>
          <a:ext cx="378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03040" progId="Equation.DSMT4">
                  <p:embed/>
                </p:oleObj>
              </mc:Choice>
              <mc:Fallback>
                <p:oleObj name="Equation" r:id="rId8" imgW="177480" imgH="20304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F2CBA474-FB2A-C20D-5423-48B0C80669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36149" y="6013767"/>
                        <a:ext cx="37800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40928D25-16C8-DB91-8F3B-A7AA766DB69D}"/>
              </a:ext>
            </a:extLst>
          </p:cNvPr>
          <p:cNvGrpSpPr/>
          <p:nvPr/>
        </p:nvGrpSpPr>
        <p:grpSpPr>
          <a:xfrm>
            <a:off x="1725414" y="3810891"/>
            <a:ext cx="364300" cy="768981"/>
            <a:chOff x="662376" y="3458194"/>
            <a:chExt cx="256190" cy="117854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D2136A3-C10A-B344-831F-ED010C525F3C}"/>
                </a:ext>
              </a:extLst>
            </p:cNvPr>
            <p:cNvCxnSpPr>
              <a:cxnSpLocks/>
            </p:cNvCxnSpPr>
            <p:nvPr/>
          </p:nvCxnSpPr>
          <p:spPr>
            <a:xfrm>
              <a:off x="790816" y="3458194"/>
              <a:ext cx="0" cy="1178547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9ABEF9-4EDB-BED6-F613-C2A91DDD8D12}"/>
                </a:ext>
              </a:extLst>
            </p:cNvPr>
            <p:cNvCxnSpPr/>
            <p:nvPr/>
          </p:nvCxnSpPr>
          <p:spPr>
            <a:xfrm>
              <a:off x="662376" y="3458194"/>
              <a:ext cx="25619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F527EFF-84E2-DB51-6EAD-3DA9F41F508B}"/>
                </a:ext>
              </a:extLst>
            </p:cNvPr>
            <p:cNvCxnSpPr/>
            <p:nvPr/>
          </p:nvCxnSpPr>
          <p:spPr>
            <a:xfrm>
              <a:off x="662376" y="4630504"/>
              <a:ext cx="25619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7">
                <a:extLst>
                  <a:ext uri="{FF2B5EF4-FFF2-40B4-BE49-F238E27FC236}">
                    <a16:creationId xmlns:a16="http://schemas.microsoft.com/office/drawing/2014/main" id="{584408EF-65E1-504C-4339-CF2CC41BA910}"/>
                  </a:ext>
                </a:extLst>
              </p:cNvPr>
              <p:cNvSpPr txBox="1"/>
              <p:nvPr/>
            </p:nvSpPr>
            <p:spPr>
              <a:xfrm>
                <a:off x="607775" y="4004881"/>
                <a:ext cx="1884362" cy="3810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cal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act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bject 27">
                <a:extLst>
                  <a:ext uri="{FF2B5EF4-FFF2-40B4-BE49-F238E27FC236}">
                    <a16:creationId xmlns:a16="http://schemas.microsoft.com/office/drawing/2014/main" id="{584408EF-65E1-504C-4339-CF2CC41BA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5" y="4004881"/>
                <a:ext cx="1884362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D25D2FFC-4ADA-7094-83FC-5FED735A47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581536"/>
              </p:ext>
            </p:extLst>
          </p:nvPr>
        </p:nvGraphicFramePr>
        <p:xfrm>
          <a:off x="2423156" y="2511171"/>
          <a:ext cx="277200" cy="2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680" imgH="126720" progId="Equation.DSMT4">
                  <p:embed/>
                </p:oleObj>
              </mc:Choice>
              <mc:Fallback>
                <p:oleObj name="Equation" r:id="rId11" imgW="139680" imgH="12672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0C9439A1-C16B-09F6-9E00-17ABB9CB18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23156" y="2511171"/>
                        <a:ext cx="277200" cy="25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48006200-A7C7-752F-1598-F6E173BB48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168533"/>
              </p:ext>
            </p:extLst>
          </p:nvPr>
        </p:nvGraphicFramePr>
        <p:xfrm>
          <a:off x="5976415" y="5843284"/>
          <a:ext cx="294544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6720" imgH="139680" progId="Equation.DSMT4">
                  <p:embed/>
                </p:oleObj>
              </mc:Choice>
              <mc:Fallback>
                <p:oleObj name="Equation" r:id="rId13" imgW="126720" imgH="1396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10795D8B-E89D-0689-5840-4A6C1F37FA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76415" y="5843284"/>
                        <a:ext cx="294544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A511096-774B-CB07-B331-0FF6693A7AAA}"/>
              </a:ext>
            </a:extLst>
          </p:cNvPr>
          <p:cNvCxnSpPr>
            <a:cxnSpLocks/>
          </p:cNvCxnSpPr>
          <p:nvPr/>
        </p:nvCxnSpPr>
        <p:spPr>
          <a:xfrm flipH="1" flipV="1">
            <a:off x="3604005" y="3425581"/>
            <a:ext cx="0" cy="854061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olid"/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0B4050F5-5488-FE92-4F18-E081ACD43FB5}"/>
              </a:ext>
            </a:extLst>
          </p:cNvPr>
          <p:cNvSpPr/>
          <p:nvPr/>
        </p:nvSpPr>
        <p:spPr>
          <a:xfrm>
            <a:off x="3217149" y="4572969"/>
            <a:ext cx="108000" cy="10800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E636C3B0-9944-581C-834B-584AFEA975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958772"/>
              </p:ext>
            </p:extLst>
          </p:nvPr>
        </p:nvGraphicFramePr>
        <p:xfrm>
          <a:off x="3907708" y="4369355"/>
          <a:ext cx="17081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08489" imgH="1007643" progId="Equation.DSMT4">
                  <p:embed/>
                </p:oleObj>
              </mc:Choice>
              <mc:Fallback>
                <p:oleObj name="Equation" r:id="rId15" imgW="1708489" imgH="100764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07708" y="4369355"/>
                        <a:ext cx="1708150" cy="100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3A4CE61-B6C2-52B5-0DF6-C812D4CA1637}"/>
              </a:ext>
            </a:extLst>
          </p:cNvPr>
          <p:cNvCxnSpPr>
            <a:cxnSpLocks/>
          </p:cNvCxnSpPr>
          <p:nvPr/>
        </p:nvCxnSpPr>
        <p:spPr>
          <a:xfrm flipV="1">
            <a:off x="7624797" y="2733809"/>
            <a:ext cx="0" cy="3264518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53FA791-5057-5F3D-73B2-F95B3ABE087D}"/>
              </a:ext>
            </a:extLst>
          </p:cNvPr>
          <p:cNvCxnSpPr>
            <a:cxnSpLocks/>
          </p:cNvCxnSpPr>
          <p:nvPr/>
        </p:nvCxnSpPr>
        <p:spPr>
          <a:xfrm>
            <a:off x="7624797" y="5998327"/>
            <a:ext cx="3402976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8994699-60B6-11EB-5692-69987A1AC58F}"/>
              </a:ext>
            </a:extLst>
          </p:cNvPr>
          <p:cNvSpPr/>
          <p:nvPr/>
        </p:nvSpPr>
        <p:spPr>
          <a:xfrm>
            <a:off x="7701316" y="3268241"/>
            <a:ext cx="2832341" cy="2714423"/>
          </a:xfrm>
          <a:custGeom>
            <a:avLst/>
            <a:gdLst>
              <a:gd name="connsiteX0" fmla="*/ 0 w 3321011"/>
              <a:gd name="connsiteY0" fmla="*/ 2804908 h 2804908"/>
              <a:gd name="connsiteX1" fmla="*/ 280491 w 3321011"/>
              <a:gd name="connsiteY1" fmla="*/ 2058802 h 2804908"/>
              <a:gd name="connsiteX2" fmla="*/ 762935 w 3321011"/>
              <a:gd name="connsiteY2" fmla="*/ 1368795 h 2804908"/>
              <a:gd name="connsiteX3" fmla="*/ 1739043 w 3321011"/>
              <a:gd name="connsiteY3" fmla="*/ 645128 h 2804908"/>
              <a:gd name="connsiteX4" fmla="*/ 3321011 w 3321011"/>
              <a:gd name="connsiteY4" fmla="*/ 0 h 2804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1011" h="2804908">
                <a:moveTo>
                  <a:pt x="0" y="2804908"/>
                </a:moveTo>
                <a:cubicBezTo>
                  <a:pt x="76667" y="2551531"/>
                  <a:pt x="153335" y="2298154"/>
                  <a:pt x="280491" y="2058802"/>
                </a:cubicBezTo>
                <a:cubicBezTo>
                  <a:pt x="407647" y="1819450"/>
                  <a:pt x="519843" y="1604407"/>
                  <a:pt x="762935" y="1368795"/>
                </a:cubicBezTo>
                <a:cubicBezTo>
                  <a:pt x="1006027" y="1133183"/>
                  <a:pt x="1312697" y="873260"/>
                  <a:pt x="1739043" y="645128"/>
                </a:cubicBezTo>
                <a:cubicBezTo>
                  <a:pt x="2165389" y="416996"/>
                  <a:pt x="2743200" y="208498"/>
                  <a:pt x="3321011" y="0"/>
                </a:cubicBezTo>
              </a:path>
            </a:pathLst>
          </a:cu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7F9F8B2A-42AF-3114-8C9C-A9FAEE4F24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796225"/>
              </p:ext>
            </p:extLst>
          </p:nvPr>
        </p:nvGraphicFramePr>
        <p:xfrm>
          <a:off x="9213850" y="6025733"/>
          <a:ext cx="4857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8600" imgH="203040" progId="Equation.DSMT4">
                  <p:embed/>
                </p:oleObj>
              </mc:Choice>
              <mc:Fallback>
                <p:oleObj name="Equation" r:id="rId17" imgW="228600" imgH="203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17B3DD4-0BC0-AE3C-CD34-50E86E9D54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213850" y="6025733"/>
                        <a:ext cx="485775" cy="4333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A410C4B4-8A50-F2D7-A8C0-926B6BCAD9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613444"/>
              </p:ext>
            </p:extLst>
          </p:nvPr>
        </p:nvGraphicFramePr>
        <p:xfrm>
          <a:off x="7124554" y="4392915"/>
          <a:ext cx="441203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15640" progId="Equation.DSMT4">
                  <p:embed/>
                </p:oleObj>
              </mc:Choice>
              <mc:Fallback>
                <p:oleObj name="Equation" r:id="rId19" imgW="266400" imgH="2156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937CA5A-1FB0-2B83-E894-4D76ECF040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24554" y="4392915"/>
                        <a:ext cx="441203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BF150BE-8992-8101-5349-D0891BFA3D97}"/>
              </a:ext>
            </a:extLst>
          </p:cNvPr>
          <p:cNvCxnSpPr>
            <a:cxnSpLocks/>
          </p:cNvCxnSpPr>
          <p:nvPr/>
        </p:nvCxnSpPr>
        <p:spPr>
          <a:xfrm flipH="1">
            <a:off x="7585495" y="3810891"/>
            <a:ext cx="2681527" cy="0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FCF3865B-6E7A-BD10-DE2C-39B17AA268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503217"/>
              </p:ext>
            </p:extLst>
          </p:nvPr>
        </p:nvGraphicFramePr>
        <p:xfrm>
          <a:off x="7184756" y="3494596"/>
          <a:ext cx="425088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400" imgH="203040" progId="Equation.DSMT4">
                  <p:embed/>
                </p:oleObj>
              </mc:Choice>
              <mc:Fallback>
                <p:oleObj name="Equation" r:id="rId21" imgW="266400" imgH="2030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D93237F-1AB3-8682-C9D1-6A7627483C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84756" y="3494596"/>
                        <a:ext cx="425088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E503719-B249-90BA-6810-34FE9A3485E1}"/>
              </a:ext>
            </a:extLst>
          </p:cNvPr>
          <p:cNvCxnSpPr>
            <a:cxnSpLocks/>
          </p:cNvCxnSpPr>
          <p:nvPr/>
        </p:nvCxnSpPr>
        <p:spPr>
          <a:xfrm flipV="1">
            <a:off x="10342875" y="3423564"/>
            <a:ext cx="0" cy="2574763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7E408A4-24D2-C267-EB54-FDA3E8E49F94}"/>
              </a:ext>
            </a:extLst>
          </p:cNvPr>
          <p:cNvCxnSpPr>
            <a:cxnSpLocks/>
          </p:cNvCxnSpPr>
          <p:nvPr/>
        </p:nvCxnSpPr>
        <p:spPr>
          <a:xfrm flipV="1">
            <a:off x="7649964" y="3813400"/>
            <a:ext cx="698986" cy="2184927"/>
          </a:xfrm>
          <a:prstGeom prst="line">
            <a:avLst/>
          </a:prstGeom>
          <a:ln w="254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9C706E8-3F00-C4EB-A2AD-B2A92D9D141D}"/>
              </a:ext>
            </a:extLst>
          </p:cNvPr>
          <p:cNvCxnSpPr>
            <a:cxnSpLocks/>
          </p:cNvCxnSpPr>
          <p:nvPr/>
        </p:nvCxnSpPr>
        <p:spPr>
          <a:xfrm flipV="1">
            <a:off x="8361159" y="2717318"/>
            <a:ext cx="504000" cy="1855597"/>
          </a:xfrm>
          <a:prstGeom prst="line">
            <a:avLst/>
          </a:prstGeom>
          <a:ln w="254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5CB23B7-DF93-A3D0-0347-2D9E82D4FF6B}"/>
              </a:ext>
            </a:extLst>
          </p:cNvPr>
          <p:cNvCxnSpPr>
            <a:cxnSpLocks/>
          </p:cNvCxnSpPr>
          <p:nvPr/>
        </p:nvCxnSpPr>
        <p:spPr>
          <a:xfrm flipH="1" flipV="1">
            <a:off x="8351595" y="3813400"/>
            <a:ext cx="966" cy="748814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A5517A7-5717-0304-0B19-57035C77E938}"/>
              </a:ext>
            </a:extLst>
          </p:cNvPr>
          <p:cNvSpPr txBox="1"/>
          <p:nvPr/>
        </p:nvSpPr>
        <p:spPr>
          <a:xfrm>
            <a:off x="8064839" y="2576742"/>
            <a:ext cx="76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K</a:t>
            </a:r>
            <a:r>
              <a:rPr lang="en-US" baseline="-25000" dirty="0">
                <a:latin typeface="FreesiaUPC" panose="020B0604020202020204" pitchFamily="34" charset="-34"/>
                <a:cs typeface="FreesiaUPC" panose="020B0604020202020204" pitchFamily="34" charset="-34"/>
              </a:rPr>
              <a:t>G, eff</a:t>
            </a:r>
            <a:endParaRPr lang="th-TH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2BCD0A5-6B23-994A-D85F-9D80C980CDB0}"/>
              </a:ext>
            </a:extLst>
          </p:cNvPr>
          <p:cNvCxnSpPr>
            <a:cxnSpLocks/>
          </p:cNvCxnSpPr>
          <p:nvPr/>
        </p:nvCxnSpPr>
        <p:spPr>
          <a:xfrm flipV="1">
            <a:off x="8383125" y="4572916"/>
            <a:ext cx="0" cy="1433894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C5FBB8C-95DB-EF20-D5FB-75095EA31F43}"/>
              </a:ext>
            </a:extLst>
          </p:cNvPr>
          <p:cNvCxnSpPr>
            <a:cxnSpLocks/>
          </p:cNvCxnSpPr>
          <p:nvPr/>
        </p:nvCxnSpPr>
        <p:spPr>
          <a:xfrm flipV="1">
            <a:off x="8718942" y="4279642"/>
            <a:ext cx="0" cy="1696910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F917386-E8F0-8623-54A8-30B9159ECE36}"/>
              </a:ext>
            </a:extLst>
          </p:cNvPr>
          <p:cNvCxnSpPr>
            <a:cxnSpLocks/>
          </p:cNvCxnSpPr>
          <p:nvPr/>
        </p:nvCxnSpPr>
        <p:spPr>
          <a:xfrm flipH="1">
            <a:off x="7615709" y="4557275"/>
            <a:ext cx="684000" cy="0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B93F2652-33BC-D4FB-19A9-BFE9BF3FFD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77045"/>
              </p:ext>
            </p:extLst>
          </p:nvPr>
        </p:nvGraphicFramePr>
        <p:xfrm>
          <a:off x="8218990" y="5986714"/>
          <a:ext cx="378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77480" imgH="203040" progId="Equation.DSMT4">
                  <p:embed/>
                </p:oleObj>
              </mc:Choice>
              <mc:Fallback>
                <p:oleObj name="Equation" r:id="rId23" imgW="177480" imgH="20304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BBBFBBBC-1993-DDB3-DA1A-8733E143FA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218990" y="5986714"/>
                        <a:ext cx="37800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" name="Group 71">
            <a:extLst>
              <a:ext uri="{FF2B5EF4-FFF2-40B4-BE49-F238E27FC236}">
                <a16:creationId xmlns:a16="http://schemas.microsoft.com/office/drawing/2014/main" id="{9FD6708E-8D79-03B8-243B-E4A19C71D114}"/>
              </a:ext>
            </a:extLst>
          </p:cNvPr>
          <p:cNvGrpSpPr/>
          <p:nvPr/>
        </p:nvGrpSpPr>
        <p:grpSpPr>
          <a:xfrm>
            <a:off x="6808254" y="3852932"/>
            <a:ext cx="337973" cy="719984"/>
            <a:chOff x="662376" y="3458194"/>
            <a:chExt cx="256190" cy="1178547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7685AFB2-8746-6071-839A-AD2E50CEDC74}"/>
                </a:ext>
              </a:extLst>
            </p:cNvPr>
            <p:cNvCxnSpPr>
              <a:cxnSpLocks/>
            </p:cNvCxnSpPr>
            <p:nvPr/>
          </p:nvCxnSpPr>
          <p:spPr>
            <a:xfrm>
              <a:off x="790816" y="3458194"/>
              <a:ext cx="0" cy="1178547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DBABF7E-3AA9-6863-171A-E276FE1F08AD}"/>
                </a:ext>
              </a:extLst>
            </p:cNvPr>
            <p:cNvCxnSpPr/>
            <p:nvPr/>
          </p:nvCxnSpPr>
          <p:spPr>
            <a:xfrm>
              <a:off x="662376" y="3458194"/>
              <a:ext cx="25619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07A6BD9-8A8C-DBF2-7C74-4CD58F66FE29}"/>
                </a:ext>
              </a:extLst>
            </p:cNvPr>
            <p:cNvCxnSpPr/>
            <p:nvPr/>
          </p:nvCxnSpPr>
          <p:spPr>
            <a:xfrm>
              <a:off x="662376" y="4630504"/>
              <a:ext cx="25619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AB543B93-F26B-6B5F-6C2F-DFA9C222DF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729187"/>
              </p:ext>
            </p:extLst>
          </p:nvPr>
        </p:nvGraphicFramePr>
        <p:xfrm>
          <a:off x="5970227" y="4040329"/>
          <a:ext cx="160266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15920" imgH="228600" progId="Equation.DSMT4">
                  <p:embed/>
                </p:oleObj>
              </mc:Choice>
              <mc:Fallback>
                <p:oleObj name="Equation" r:id="rId25" imgW="1015920" imgH="22860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584408EF-65E1-504C-4339-CF2CC41BA9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970227" y="4040329"/>
                        <a:ext cx="1602666" cy="36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A5B12151-E144-F72D-08FC-AF02C6850C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064390"/>
              </p:ext>
            </p:extLst>
          </p:nvPr>
        </p:nvGraphicFramePr>
        <p:xfrm>
          <a:off x="7493000" y="2450683"/>
          <a:ext cx="303213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52280" imgH="152280" progId="Equation.DSMT4">
                  <p:embed/>
                </p:oleObj>
              </mc:Choice>
              <mc:Fallback>
                <p:oleObj name="Equation" r:id="rId27" imgW="152280" imgH="15228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D25D2FFC-4ADA-7094-83FC-5FED735A47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493000" y="2450683"/>
                        <a:ext cx="303213" cy="300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36218932-08FB-C573-DDCD-E42DCC90BF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684702"/>
              </p:ext>
            </p:extLst>
          </p:nvPr>
        </p:nvGraphicFramePr>
        <p:xfrm>
          <a:off x="11072813" y="5851090"/>
          <a:ext cx="2667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4120" imgH="126720" progId="Equation.DSMT4">
                  <p:embed/>
                </p:oleObj>
              </mc:Choice>
              <mc:Fallback>
                <p:oleObj name="Equation" r:id="rId29" imgW="114120" imgH="12672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48006200-A7C7-752F-1598-F6E173BB48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072813" y="5851090"/>
                        <a:ext cx="266700" cy="293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868C2FA-2B5D-BFA1-B688-4EB9393E7527}"/>
              </a:ext>
            </a:extLst>
          </p:cNvPr>
          <p:cNvCxnSpPr>
            <a:cxnSpLocks/>
          </p:cNvCxnSpPr>
          <p:nvPr/>
        </p:nvCxnSpPr>
        <p:spPr>
          <a:xfrm flipH="1" flipV="1">
            <a:off x="8686846" y="3418624"/>
            <a:ext cx="0" cy="854061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olid"/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1F0CDDC4-3ACA-6773-37F7-F2BC40C9106A}"/>
              </a:ext>
            </a:extLst>
          </p:cNvPr>
          <p:cNvSpPr/>
          <p:nvPr/>
        </p:nvSpPr>
        <p:spPr>
          <a:xfrm>
            <a:off x="8299990" y="4566012"/>
            <a:ext cx="108000" cy="10800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452E817-8B7B-DE84-1AE3-9B23A09A6E96}"/>
              </a:ext>
            </a:extLst>
          </p:cNvPr>
          <p:cNvGrpSpPr/>
          <p:nvPr/>
        </p:nvGrpSpPr>
        <p:grpSpPr>
          <a:xfrm rot="5400000">
            <a:off x="8416756" y="6456555"/>
            <a:ext cx="256190" cy="283990"/>
            <a:chOff x="662376" y="3458194"/>
            <a:chExt cx="256190" cy="1178547"/>
          </a:xfrm>
        </p:grpSpPr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F99BBDFA-421A-5DBB-BD45-C368AE04CBC5}"/>
                </a:ext>
              </a:extLst>
            </p:cNvPr>
            <p:cNvCxnSpPr>
              <a:cxnSpLocks/>
            </p:cNvCxnSpPr>
            <p:nvPr/>
          </p:nvCxnSpPr>
          <p:spPr>
            <a:xfrm>
              <a:off x="790816" y="3458194"/>
              <a:ext cx="0" cy="1178547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A365898-D7D6-16A1-84E9-DB81D954266F}"/>
                </a:ext>
              </a:extLst>
            </p:cNvPr>
            <p:cNvCxnSpPr/>
            <p:nvPr/>
          </p:nvCxnSpPr>
          <p:spPr>
            <a:xfrm>
              <a:off x="662376" y="3458194"/>
              <a:ext cx="25619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A1C0B1A-5CF1-2983-C6D1-AA372C291508}"/>
                </a:ext>
              </a:extLst>
            </p:cNvPr>
            <p:cNvCxnSpPr/>
            <p:nvPr/>
          </p:nvCxnSpPr>
          <p:spPr>
            <a:xfrm>
              <a:off x="662376" y="4630504"/>
              <a:ext cx="25619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91345DDD-F1AB-A699-568E-D26E29788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385237"/>
              </p:ext>
            </p:extLst>
          </p:nvPr>
        </p:nvGraphicFramePr>
        <p:xfrm>
          <a:off x="8739897" y="6454550"/>
          <a:ext cx="376616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15640" imgH="164880" progId="Equation.DSMT4">
                  <p:embed/>
                </p:oleObj>
              </mc:Choice>
              <mc:Fallback>
                <p:oleObj name="Equation" r:id="rId31" imgW="21564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739897" y="6454550"/>
                        <a:ext cx="376616" cy="288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Oval 86">
            <a:extLst>
              <a:ext uri="{FF2B5EF4-FFF2-40B4-BE49-F238E27FC236}">
                <a16:creationId xmlns:a16="http://schemas.microsoft.com/office/drawing/2014/main" id="{9E373611-DD5F-8778-5293-22068360E3E1}"/>
              </a:ext>
            </a:extLst>
          </p:cNvPr>
          <p:cNvSpPr/>
          <p:nvPr/>
        </p:nvSpPr>
        <p:spPr>
          <a:xfrm>
            <a:off x="8748205" y="6433576"/>
            <a:ext cx="360000" cy="360000"/>
          </a:xfrm>
          <a:prstGeom prst="ellipse">
            <a:avLst/>
          </a:prstGeom>
          <a:solidFill>
            <a:srgbClr val="C0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FC76B00A-D236-7EE3-D802-96DBF3CA9A3E}"/>
              </a:ext>
            </a:extLst>
          </p:cNvPr>
          <p:cNvSpPr/>
          <p:nvPr/>
        </p:nvSpPr>
        <p:spPr>
          <a:xfrm>
            <a:off x="5889471" y="4587816"/>
            <a:ext cx="705460" cy="2344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76E16FE6-F0CA-4AA1-D5C9-90EBF649B5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301534"/>
              </p:ext>
            </p:extLst>
          </p:nvPr>
        </p:nvGraphicFramePr>
        <p:xfrm>
          <a:off x="9935557" y="2597411"/>
          <a:ext cx="1514669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901440" imgH="342720" progId="Equation.DSMT4">
                  <p:embed/>
                </p:oleObj>
              </mc:Choice>
              <mc:Fallback>
                <p:oleObj name="Equation" r:id="rId33" imgW="901440" imgH="342720" progId="Equation.DSMT4">
                  <p:embed/>
                  <p:pic>
                    <p:nvPicPr>
                      <p:cNvPr id="75" name="Object 74">
                        <a:extLst>
                          <a:ext uri="{FF2B5EF4-FFF2-40B4-BE49-F238E27FC236}">
                            <a16:creationId xmlns:a16="http://schemas.microsoft.com/office/drawing/2014/main" id="{EB4305FA-74AF-2C6A-75E3-B361847B28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935557" y="2597411"/>
                        <a:ext cx="1514669" cy="57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1473C5-6421-C8F3-2B4B-C9600B50E725}"/>
              </a:ext>
            </a:extLst>
          </p:cNvPr>
          <p:cNvCxnSpPr>
            <a:cxnSpLocks/>
          </p:cNvCxnSpPr>
          <p:nvPr/>
        </p:nvCxnSpPr>
        <p:spPr>
          <a:xfrm flipH="1">
            <a:off x="2532868" y="3810891"/>
            <a:ext cx="752480" cy="0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97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B1F4-DE89-574C-E06E-9C7EC439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Dynamics Process: </a:t>
            </a:r>
            <a:r>
              <a:rPr lang="en-US" b="0" dirty="0"/>
              <a:t>Initialize parameters</a:t>
            </a:r>
            <a:endParaRPr lang="th-TH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AF0B55-BFD6-3B55-4562-ADAD7454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21</a:t>
            </a:fld>
            <a:endParaRPr lang="th-TH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1FBA65-C917-9977-CA52-F9F9A84F95E3}"/>
              </a:ext>
            </a:extLst>
          </p:cNvPr>
          <p:cNvGrpSpPr/>
          <p:nvPr/>
        </p:nvGrpSpPr>
        <p:grpSpPr>
          <a:xfrm>
            <a:off x="766338" y="1673726"/>
            <a:ext cx="7844262" cy="4113440"/>
            <a:chOff x="699311" y="1611674"/>
            <a:chExt cx="7844262" cy="324264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31505C-E1DD-83E1-404D-32F623015966}"/>
                </a:ext>
              </a:extLst>
            </p:cNvPr>
            <p:cNvGrpSpPr/>
            <p:nvPr/>
          </p:nvGrpSpPr>
          <p:grpSpPr>
            <a:xfrm>
              <a:off x="699311" y="1611674"/>
              <a:ext cx="7844262" cy="3242647"/>
              <a:chOff x="838200" y="4462753"/>
              <a:chExt cx="7844262" cy="3242647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3EDD3318-1619-DFBE-327E-9D51953BCE63}"/>
                  </a:ext>
                </a:extLst>
              </p:cNvPr>
              <p:cNvSpPr/>
              <p:nvPr/>
            </p:nvSpPr>
            <p:spPr>
              <a:xfrm>
                <a:off x="838200" y="4462753"/>
                <a:ext cx="1982003" cy="415475"/>
              </a:xfrm>
              <a:prstGeom prst="roundRect">
                <a:avLst/>
              </a:prstGeom>
              <a:solidFill>
                <a:srgbClr val="712B8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MATLAB: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G2.m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998D0211-FA76-AD62-B572-A6A0D8EB7229}"/>
                  </a:ext>
                </a:extLst>
              </p:cNvPr>
              <p:cNvSpPr/>
              <p:nvPr/>
            </p:nvSpPr>
            <p:spPr>
              <a:xfrm>
                <a:off x="838200" y="4787434"/>
                <a:ext cx="7844262" cy="2917966"/>
              </a:xfrm>
              <a:prstGeom prst="roundRect">
                <a:avLst>
                  <a:gd name="adj" fmla="val 1209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rgbClr val="712B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6ADF3A-7DBE-7E9C-48A4-C1D2BB000848}"/>
                </a:ext>
              </a:extLst>
            </p:cNvPr>
            <p:cNvSpPr txBox="1"/>
            <p:nvPr/>
          </p:nvSpPr>
          <p:spPr>
            <a:xfrm>
              <a:off x="719607" y="2027149"/>
              <a:ext cx="73026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endParaRPr lang="en-US" sz="1400" b="0" i="0" dirty="0">
                <a:effectLst/>
                <a:latin typeface="Lucida Fax" panose="020606020505050202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901E4CF-57A7-0A48-01AE-A0854365D822}"/>
              </a:ext>
            </a:extLst>
          </p:cNvPr>
          <p:cNvSpPr txBox="1"/>
          <p:nvPr/>
        </p:nvSpPr>
        <p:spPr>
          <a:xfrm>
            <a:off x="786634" y="2152835"/>
            <a:ext cx="784426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%% -------------------Incremental Displacement Vector---------------------- </a:t>
            </a:r>
            <a:endParaRPr lang="en-US" sz="1600" b="0" i="0" dirty="0">
              <a:effectLst/>
              <a:latin typeface="Lucida Bright" panose="02040602050505020304" pitchFamily="18" charset="0"/>
            </a:endParaRPr>
          </a:p>
          <a:p>
            <a:pPr>
              <a:buNone/>
            </a:pPr>
            <a:r>
              <a:rPr lang="en-US" sz="1600" b="0" i="0" dirty="0" err="1">
                <a:effectLst/>
                <a:highlight>
                  <a:srgbClr val="FFFF00"/>
                </a:highlight>
                <a:latin typeface="Lucida Bright" panose="02040602050505020304" pitchFamily="18" charset="0"/>
              </a:rPr>
              <a:t>Totaltime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Lucida Bright" panose="02040602050505020304" pitchFamily="18" charset="0"/>
              </a:rPr>
              <a:t> = 100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; </a:t>
            </a:r>
            <a:r>
              <a:rPr lang="en-US" sz="16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%Gradual application of load during total time, seconds</a:t>
            </a:r>
            <a:endParaRPr lang="en-US" sz="1600" b="0" i="0" dirty="0">
              <a:effectLst/>
              <a:latin typeface="Lucida Bright" panose="02040602050505020304" pitchFamily="18" charset="0"/>
            </a:endParaRPr>
          </a:p>
          <a:p>
            <a:pPr>
              <a:buNone/>
            </a:pPr>
            <a:r>
              <a:rPr lang="en-US" sz="1600" b="0" i="0" dirty="0">
                <a:effectLst/>
                <a:highlight>
                  <a:srgbClr val="FFFF00"/>
                </a:highlight>
                <a:latin typeface="Lucida Bright" panose="02040602050505020304" pitchFamily="18" charset="0"/>
              </a:rPr>
              <a:t>N_INC = 1000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;</a:t>
            </a:r>
          </a:p>
          <a:p>
            <a:pPr>
              <a:buNone/>
            </a:pP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del_t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 = </a:t>
            </a: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Totaltime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/N_INC; </a:t>
            </a:r>
            <a:r>
              <a:rPr lang="en-US" sz="16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%time interval for each step, seconds</a:t>
            </a:r>
            <a:endParaRPr lang="en-US" sz="1600" b="0" i="0" dirty="0">
              <a:effectLst/>
              <a:latin typeface="Lucida Bright" panose="02040602050505020304" pitchFamily="18" charset="0"/>
            </a:endParaRPr>
          </a:p>
          <a:p>
            <a:pPr>
              <a:buNone/>
            </a:pP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disp_top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 = 4/100*height; </a:t>
            </a:r>
            <a:r>
              <a:rPr lang="en-US" sz="16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%Given, displacement at top 4% of height </a:t>
            </a:r>
            <a:endParaRPr lang="en-US" sz="1600" b="0" i="0" dirty="0">
              <a:effectLst/>
              <a:latin typeface="Lucida Bright" panose="02040602050505020304" pitchFamily="18" charset="0"/>
            </a:endParaRPr>
          </a:p>
          <a:p>
            <a:pPr>
              <a:buNone/>
            </a:pP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disp_step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 = </a:t>
            </a: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disp_top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/N_INC; </a:t>
            </a:r>
            <a:r>
              <a:rPr lang="en-US" sz="16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%Linear Increment of </a:t>
            </a:r>
            <a:r>
              <a:rPr lang="en-US" sz="1600" b="0" i="0" dirty="0" err="1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displacment</a:t>
            </a:r>
            <a:r>
              <a:rPr lang="en-US" sz="16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 at top of column</a:t>
            </a:r>
            <a:endParaRPr lang="en-US" sz="1600" b="0" i="0" dirty="0">
              <a:effectLst/>
              <a:latin typeface="Lucida Bright" panose="02040602050505020304" pitchFamily="18" charset="0"/>
            </a:endParaRPr>
          </a:p>
          <a:p>
            <a:pPr>
              <a:buNone/>
            </a:pP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applied_d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 = </a:t>
            </a: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disp_step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*ones(N_INC,1);</a:t>
            </a:r>
          </a:p>
          <a:p>
            <a:pPr>
              <a:buNone/>
            </a:pP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R_ForceG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 = zeros(nDOF,1); </a:t>
            </a:r>
            <a:r>
              <a:rPr lang="en-US" sz="16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rPr>
              <a:t>%initially, no residual force</a:t>
            </a:r>
            <a:endParaRPr lang="en-US" sz="1600" b="0" i="0" dirty="0">
              <a:effectLst/>
              <a:latin typeface="Lucida Bright" panose="02040602050505020304" pitchFamily="18" charset="0"/>
            </a:endParaRPr>
          </a:p>
          <a:p>
            <a:pPr>
              <a:buNone/>
            </a:pP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displ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 = zeros(nDOF,1);</a:t>
            </a:r>
          </a:p>
          <a:p>
            <a:pPr>
              <a:buNone/>
            </a:pPr>
            <a:r>
              <a:rPr lang="en-US" sz="1600" b="0" i="0" dirty="0">
                <a:effectLst/>
                <a:latin typeface="Lucida Bright" panose="02040602050505020304" pitchFamily="18" charset="0"/>
              </a:rPr>
              <a:t>vel = zeros(nDOF,1);</a:t>
            </a:r>
          </a:p>
          <a:p>
            <a:pPr>
              <a:buNone/>
            </a:pPr>
            <a:r>
              <a:rPr lang="en-US" sz="1600" b="0" i="0" dirty="0">
                <a:effectLst/>
                <a:latin typeface="Lucida Bright" panose="02040602050505020304" pitchFamily="18" charset="0"/>
              </a:rPr>
              <a:t>acc = zeros(nDOF,1);</a:t>
            </a:r>
          </a:p>
          <a:p>
            <a:pPr>
              <a:buNone/>
            </a:pPr>
            <a:r>
              <a:rPr lang="en-US" sz="1600" b="0" i="0" dirty="0" err="1">
                <a:effectLst/>
                <a:latin typeface="Lucida Bright" panose="02040602050505020304" pitchFamily="18" charset="0"/>
              </a:rPr>
              <a:t>output_disp</a:t>
            </a:r>
            <a:r>
              <a:rPr lang="en-US" sz="1600" b="0" i="0" dirty="0">
                <a:effectLst/>
                <a:latin typeface="Lucida Bright" panose="02040602050505020304" pitchFamily="18" charset="0"/>
              </a:rPr>
              <a:t> = [zeros(nDOF,1)];</a:t>
            </a:r>
          </a:p>
          <a:p>
            <a:r>
              <a:rPr lang="en-US" sz="1600" b="0" i="0" dirty="0">
                <a:effectLst/>
                <a:latin typeface="Lucida Bright" panose="02040602050505020304" pitchFamily="18" charset="0"/>
              </a:rPr>
              <a:t>fail = [];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F4E3CE-3071-B9C3-A50F-A5E833F0D498}"/>
              </a:ext>
            </a:extLst>
          </p:cNvPr>
          <p:cNvSpPr txBox="1"/>
          <p:nvPr/>
        </p:nvSpPr>
        <p:spPr>
          <a:xfrm>
            <a:off x="696000" y="1070835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Step 1	Initialize parameters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BF267DE-17B0-76FB-F994-7E80914E813A}"/>
              </a:ext>
            </a:extLst>
          </p:cNvPr>
          <p:cNvSpPr/>
          <p:nvPr/>
        </p:nvSpPr>
        <p:spPr>
          <a:xfrm>
            <a:off x="8862646" y="3185327"/>
            <a:ext cx="2311121" cy="24367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EFDFFF-7830-2DF8-44BE-8A826D97199F}"/>
              </a:ext>
            </a:extLst>
          </p:cNvPr>
          <p:cNvSpPr txBox="1"/>
          <p:nvPr/>
        </p:nvSpPr>
        <p:spPr>
          <a:xfrm>
            <a:off x="9162843" y="3307163"/>
            <a:ext cx="1678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FreesiaUPC" panose="020B0604020202020204" pitchFamily="34" charset="-34"/>
                <a:cs typeface="FreesiaUPC" panose="020B0604020202020204" pitchFamily="34" charset="-34"/>
              </a:rPr>
              <a:t>Go to Iteration</a:t>
            </a:r>
            <a:endParaRPr lang="th-TH" i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89044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1DED-ED77-A353-23B9-C4AD0961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01BB-80AD-CF88-FB55-FE30F8CCC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Dynamics Process: </a:t>
            </a:r>
            <a:r>
              <a:rPr lang="en-US" b="0" dirty="0"/>
              <a:t>Apply Boundary Conditions</a:t>
            </a:r>
            <a:endParaRPr lang="th-TH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A0CA6-DA40-90F2-DEEF-2694B293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22</a:t>
            </a:fld>
            <a:endParaRPr lang="th-TH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843F90-42B9-0497-FB9E-62FB7502D727}"/>
              </a:ext>
            </a:extLst>
          </p:cNvPr>
          <p:cNvGrpSpPr/>
          <p:nvPr/>
        </p:nvGrpSpPr>
        <p:grpSpPr>
          <a:xfrm>
            <a:off x="766338" y="1654713"/>
            <a:ext cx="7844262" cy="5005695"/>
            <a:chOff x="699311" y="1611674"/>
            <a:chExt cx="7844262" cy="50056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64C60A4-19AD-DBAE-DF63-A06B7880AC13}"/>
                </a:ext>
              </a:extLst>
            </p:cNvPr>
            <p:cNvGrpSpPr/>
            <p:nvPr/>
          </p:nvGrpSpPr>
          <p:grpSpPr>
            <a:xfrm>
              <a:off x="699311" y="1611674"/>
              <a:ext cx="7844262" cy="5005695"/>
              <a:chOff x="838200" y="4462753"/>
              <a:chExt cx="7844262" cy="5005695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B566D8E-9E3B-7046-E3EE-EAC1738E76AC}"/>
                  </a:ext>
                </a:extLst>
              </p:cNvPr>
              <p:cNvSpPr/>
              <p:nvPr/>
            </p:nvSpPr>
            <p:spPr>
              <a:xfrm>
                <a:off x="838200" y="4462753"/>
                <a:ext cx="1982003" cy="415475"/>
              </a:xfrm>
              <a:prstGeom prst="roundRect">
                <a:avLst/>
              </a:prstGeom>
              <a:solidFill>
                <a:srgbClr val="712B8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MATLAB: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G2.m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4272F450-97FB-B33A-7C9A-BFCA37ACDB5D}"/>
                  </a:ext>
                </a:extLst>
              </p:cNvPr>
              <p:cNvSpPr/>
              <p:nvPr/>
            </p:nvSpPr>
            <p:spPr>
              <a:xfrm>
                <a:off x="838200" y="4787433"/>
                <a:ext cx="7844262" cy="4681015"/>
              </a:xfrm>
              <a:prstGeom prst="roundRect">
                <a:avLst>
                  <a:gd name="adj" fmla="val 1209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rgbClr val="712B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476DE3-4F03-85CC-444B-A16D2CCC966C}"/>
                </a:ext>
              </a:extLst>
            </p:cNvPr>
            <p:cNvSpPr txBox="1"/>
            <p:nvPr/>
          </p:nvSpPr>
          <p:spPr>
            <a:xfrm>
              <a:off x="719607" y="2027149"/>
              <a:ext cx="73026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endParaRPr lang="en-US" sz="1400" b="0" i="0" dirty="0">
                <a:effectLst/>
                <a:latin typeface="Lucida Fax" panose="020606020505050202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C02352A-2C11-D0FD-3AD3-6FE068097486}"/>
              </a:ext>
            </a:extLst>
          </p:cNvPr>
          <p:cNvSpPr txBox="1"/>
          <p:nvPr/>
        </p:nvSpPr>
        <p:spPr>
          <a:xfrm>
            <a:off x="813602" y="2160983"/>
            <a:ext cx="784426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%% -----------------------Iteration starts---------------------------------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E00FF"/>
                </a:solidFill>
                <a:effectLst/>
                <a:latin typeface="Lucida Fax" panose="02060602050505020204" pitchFamily="18" charset="0"/>
              </a:rPr>
              <a:t>for 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INC = 1:</a:t>
            </a:r>
            <a:r>
              <a:rPr lang="th-TH" sz="1400" b="0" i="0" dirty="0">
                <a:effectLst/>
                <a:latin typeface="Lucida Fax" panose="02060602050505020204" pitchFamily="18" charset="0"/>
              </a:rPr>
              <a:t> </a:t>
            </a:r>
            <a:r>
              <a:rPr lang="en-US" sz="1400" b="0" i="0" dirty="0">
                <a:effectLst/>
                <a:highlight>
                  <a:srgbClr val="FFFF00"/>
                </a:highlight>
                <a:latin typeface="Lucida Fax" panose="02060602050505020204" pitchFamily="18" charset="0"/>
              </a:rPr>
              <a:t>N_INC</a:t>
            </a: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%Displacement 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Bounary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 condition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bdof_d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[];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bddis_d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[];</a:t>
            </a: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Displacement u at nodes_x025_z3 (only x axis)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E00FF"/>
                </a:solidFill>
                <a:effectLst/>
                <a:latin typeface="Lucida Fax" panose="02060602050505020204" pitchFamily="18" charset="0"/>
              </a:rPr>
              <a:t>for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1:length(nodes_x025_z3)</a:t>
            </a: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node = nodes_x025_z3(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);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dof_x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3*(node-1) + 1; 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x-direction DOF only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bdof_d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bdof_d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dof_x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];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bddis_d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bddis_d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applied_d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(INC)];</a:t>
            </a:r>
          </a:p>
          <a:p>
            <a:pPr>
              <a:buNone/>
            </a:pPr>
            <a:r>
              <a:rPr lang="en-US" sz="1400" b="0" i="0" dirty="0">
                <a:solidFill>
                  <a:srgbClr val="0E00FF"/>
                </a:solidFill>
                <a:effectLst/>
                <a:latin typeface="Lucida Fax" panose="02060602050505020204" pitchFamily="18" charset="0"/>
              </a:rPr>
              <a:t>end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bdof_d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bdof_s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];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=[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bddis_d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bddis_s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];</a:t>
            </a:r>
          </a:p>
          <a:p>
            <a:pPr>
              <a:buNone/>
            </a:pP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Modify force vector to account for prescribed displacement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F_eff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Body_ForceG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+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R_ForceG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+ MG*vel/(beta*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del_t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 + MG*acc*(1-2*beta)/(2*beta); 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KG_eff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KG + MG/(beta*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del_t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*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del_t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);</a:t>
            </a:r>
          </a:p>
          <a:p>
            <a:r>
              <a:rPr lang="en-US" sz="1400" b="0" i="0" dirty="0">
                <a:effectLst/>
                <a:latin typeface="Lucida Fax" panose="02060602050505020204" pitchFamily="18" charset="0"/>
              </a:rPr>
              <a:t>KG1 =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KG_eff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E64863-15F0-47B8-550C-1D2FBA6999CC}"/>
                  </a:ext>
                </a:extLst>
              </p:cNvPr>
              <p:cNvSpPr txBox="1"/>
              <p:nvPr/>
            </p:nvSpPr>
            <p:spPr>
              <a:xfrm>
                <a:off x="695998" y="1070835"/>
                <a:ext cx="11002016" cy="529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Step 2	Iteration: 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Apply boundary conditions and conduct </a:t>
                </a:r>
                <a:r>
                  <a:rPr lang="en-US" b="1" dirty="0" err="1">
                    <a:latin typeface="FreesiaUPC" panose="020B0604020202020204" pitchFamily="34" charset="-34"/>
                    <a:cs typeface="FreesiaUPC" panose="020B0604020202020204" pitchFamily="34" charset="-34"/>
                  </a:rPr>
                  <a:t>KG_eff</a:t>
                </a:r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and </a:t>
                </a:r>
                <a:r>
                  <a:rPr lang="en-US" b="1" dirty="0" err="1">
                    <a:latin typeface="FreesiaUPC" panose="020B0604020202020204" pitchFamily="34" charset="-34"/>
                    <a:cs typeface="FreesiaUPC" panose="020B0604020202020204" pitchFamily="34" charset="-34"/>
                  </a:rPr>
                  <a:t>F_eff</a:t>
                </a:r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(for Newmark-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𝛽</m:t>
                    </m:r>
                  </m:oMath>
                </a14:m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method) </a:t>
                </a:r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E64863-15F0-47B8-550C-1D2FBA699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98" y="1070835"/>
                <a:ext cx="11002016" cy="529056"/>
              </a:xfrm>
              <a:prstGeom prst="rect">
                <a:avLst/>
              </a:prstGeom>
              <a:blipFill>
                <a:blip r:embed="rId2"/>
                <a:stretch>
                  <a:fillRect l="-1108" t="-13953" b="-32558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E25C0FC-7E8D-3BB6-E235-19BA85E2E2EE}"/>
              </a:ext>
            </a:extLst>
          </p:cNvPr>
          <p:cNvSpPr/>
          <p:nvPr/>
        </p:nvSpPr>
        <p:spPr>
          <a:xfrm>
            <a:off x="813602" y="5269350"/>
            <a:ext cx="7722363" cy="1168189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ADCD44-2ACA-9954-AFD1-11C2389ACD1B}"/>
              </a:ext>
            </a:extLst>
          </p:cNvPr>
          <p:cNvSpPr txBox="1"/>
          <p:nvPr/>
        </p:nvSpPr>
        <p:spPr>
          <a:xfrm>
            <a:off x="8637568" y="5668778"/>
            <a:ext cx="388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1800" dirty="0">
                <a:solidFill>
                  <a:srgbClr val="C00000"/>
                </a:solidFill>
                <a:latin typeface="LM Roman 10" panose="00000500000000000000" pitchFamily="50" charset="0"/>
              </a:rPr>
              <a:t>Prepare to Newmark-beta method</a:t>
            </a:r>
            <a:endParaRPr lang="th-TH" sz="1800" dirty="0">
              <a:solidFill>
                <a:srgbClr val="C00000"/>
              </a:solidFill>
              <a:latin typeface="LM Roman 1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899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638621B-896E-C39B-E0C6-3EA82E52F8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Nonlinear Dynamics Process: </a:t>
                </a:r>
                <a:r>
                  <a:rPr lang="en-US" b="0" dirty="0"/>
                  <a:t>Newmark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ea typeface="+mn-ea"/>
                    <a:cs typeface="FreesiaUPC" panose="020B0604020202020204" pitchFamily="34" charset="-34"/>
                  </a:rPr>
                  <a:t>-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𝛽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ea typeface="+mn-ea"/>
                    <a:cs typeface="FreesiaUPC" panose="020B0604020202020204" pitchFamily="34" charset="-34"/>
                  </a:rPr>
                  <a:t> </a:t>
                </a:r>
                <a:endParaRPr lang="th-TH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638621B-896E-C39B-E0C6-3EA82E52F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93" b="-3012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0653BA-A47A-7D79-8F8E-B0F18F3B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23</a:t>
            </a:fld>
            <a:endParaRPr lang="th-TH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7BC423-35EA-B8E1-9F00-AD70B0F6352C}"/>
              </a:ext>
            </a:extLst>
          </p:cNvPr>
          <p:cNvGrpSpPr/>
          <p:nvPr/>
        </p:nvGrpSpPr>
        <p:grpSpPr>
          <a:xfrm>
            <a:off x="766338" y="1654713"/>
            <a:ext cx="7322935" cy="5005695"/>
            <a:chOff x="699311" y="1611674"/>
            <a:chExt cx="7322935" cy="50056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4F6CD77-9E3C-A558-6799-B5807CCB9284}"/>
                </a:ext>
              </a:extLst>
            </p:cNvPr>
            <p:cNvGrpSpPr/>
            <p:nvPr/>
          </p:nvGrpSpPr>
          <p:grpSpPr>
            <a:xfrm>
              <a:off x="699311" y="1611674"/>
              <a:ext cx="5741276" cy="5005695"/>
              <a:chOff x="838200" y="4462753"/>
              <a:chExt cx="5741276" cy="5005695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A8EAB46-65F0-4F16-E752-6680605C5F78}"/>
                  </a:ext>
                </a:extLst>
              </p:cNvPr>
              <p:cNvSpPr/>
              <p:nvPr/>
            </p:nvSpPr>
            <p:spPr>
              <a:xfrm>
                <a:off x="838200" y="4462753"/>
                <a:ext cx="1982003" cy="415475"/>
              </a:xfrm>
              <a:prstGeom prst="roundRect">
                <a:avLst/>
              </a:prstGeom>
              <a:solidFill>
                <a:srgbClr val="712B8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MATLAB: </a:t>
                </a:r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G2.m</a:t>
                </a:r>
                <a:endParaRPr lang="th-TH" sz="2400" dirty="0"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1604E9E-F1FA-9349-EE94-5411CC7BE29A}"/>
                  </a:ext>
                </a:extLst>
              </p:cNvPr>
              <p:cNvSpPr/>
              <p:nvPr/>
            </p:nvSpPr>
            <p:spPr>
              <a:xfrm>
                <a:off x="838200" y="4787433"/>
                <a:ext cx="5741276" cy="4681015"/>
              </a:xfrm>
              <a:prstGeom prst="roundRect">
                <a:avLst>
                  <a:gd name="adj" fmla="val 1209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rgbClr val="712B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40446E-855F-D669-CA7C-405EEC423693}"/>
                </a:ext>
              </a:extLst>
            </p:cNvPr>
            <p:cNvSpPr txBox="1"/>
            <p:nvPr/>
          </p:nvSpPr>
          <p:spPr>
            <a:xfrm>
              <a:off x="719607" y="2027149"/>
              <a:ext cx="73026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endParaRPr lang="en-US" sz="1400" b="0" i="0" dirty="0">
                <a:effectLst/>
                <a:latin typeface="Lucida Fax" panose="02060602050505020204" pitchFamily="18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4FB1E89-88BA-78BD-45CC-8F42A21F4012}"/>
              </a:ext>
            </a:extLst>
          </p:cNvPr>
          <p:cNvSpPr txBox="1"/>
          <p:nvPr/>
        </p:nvSpPr>
        <p:spPr>
          <a:xfrm>
            <a:off x="838201" y="2011576"/>
            <a:ext cx="574127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%% --------------Applying Boundary conditions--------------------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E00FF"/>
                </a:solidFill>
                <a:effectLst/>
                <a:latin typeface="Lucida Fax" panose="02060602050505020204" pitchFamily="18" charset="0"/>
              </a:rPr>
              <a:t>for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1:length(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);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known_disp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bddis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i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);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KG_dof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KG1(:,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);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KG_dof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 = -1; 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F_eff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 = 0;</a:t>
            </a: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F_eff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F_eff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-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KG_dof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*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known_disp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;</a:t>
            </a:r>
          </a:p>
          <a:p>
            <a:pPr>
              <a:buNone/>
            </a:pP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Zero out row and column in stiffness matrix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KG1(:,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 = 0;</a:t>
            </a: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KG1(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, :) = 0;</a:t>
            </a: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 Set diagonal to 1 to enforce displacement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effectLst/>
                <a:latin typeface="Lucida Fax" panose="02060602050505020204" pitchFamily="18" charset="0"/>
              </a:rPr>
              <a:t>KG1(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,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dof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) = 1;</a:t>
            </a:r>
          </a:p>
          <a:p>
            <a:pPr>
              <a:buNone/>
            </a:pPr>
            <a:r>
              <a:rPr lang="en-US" sz="1400" b="0" i="0" dirty="0">
                <a:solidFill>
                  <a:srgbClr val="0E00FF"/>
                </a:solidFill>
                <a:effectLst/>
                <a:latin typeface="Lucida Fax" panose="02060602050505020204" pitchFamily="18" charset="0"/>
              </a:rPr>
              <a:t>end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 err="1">
                <a:effectLst/>
                <a:highlight>
                  <a:srgbClr val="FFFF00"/>
                </a:highlight>
                <a:latin typeface="Lucida Fax" panose="02060602050505020204" pitchFamily="18" charset="0"/>
              </a:rPr>
              <a:t>del_u</a:t>
            </a:r>
            <a:r>
              <a:rPr lang="en-US" sz="1400" b="0" i="0" dirty="0">
                <a:effectLst/>
                <a:highlight>
                  <a:srgbClr val="FFFF00"/>
                </a:highlight>
                <a:latin typeface="Lucida Fax" panose="02060602050505020204" pitchFamily="18" charset="0"/>
              </a:rPr>
              <a:t> = KG1\</a:t>
            </a:r>
            <a:r>
              <a:rPr lang="en-US" sz="1400" b="0" i="0" dirty="0" err="1">
                <a:effectLst/>
                <a:highlight>
                  <a:srgbClr val="FFFF00"/>
                </a:highlight>
                <a:latin typeface="Lucida Fax" panose="02060602050505020204" pitchFamily="18" charset="0"/>
              </a:rPr>
              <a:t>F_eff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; 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%in each iteration 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%store the total displacement at each iteration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 err="1">
                <a:effectLst/>
                <a:latin typeface="Lucida Fax" panose="02060602050505020204" pitchFamily="18" charset="0"/>
              </a:rPr>
              <a:t>output_disp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[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output_disp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output_disp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(:,INC)+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del_u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];</a:t>
            </a:r>
          </a:p>
          <a:p>
            <a:pPr>
              <a:buNone/>
            </a:pP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pPr>
              <a:buNone/>
            </a:pP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%Element Displacement, Strains and </a:t>
            </a:r>
            <a:r>
              <a:rPr lang="en-US" sz="1400" b="0" i="0" dirty="0" err="1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Dispalcement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  <a:p>
            <a:r>
              <a:rPr lang="en-US" sz="1400" b="0" i="0" dirty="0" err="1">
                <a:effectLst/>
                <a:latin typeface="Lucida Fax" panose="02060602050505020204" pitchFamily="18" charset="0"/>
              </a:rPr>
              <a:t>disp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=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disp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 + </a:t>
            </a:r>
            <a:r>
              <a:rPr lang="en-US" sz="1400" b="0" i="0" dirty="0" err="1">
                <a:effectLst/>
                <a:latin typeface="Lucida Fax" panose="02060602050505020204" pitchFamily="18" charset="0"/>
              </a:rPr>
              <a:t>del_u</a:t>
            </a:r>
            <a:r>
              <a:rPr lang="en-US" sz="1400" b="0" i="0" dirty="0">
                <a:effectLst/>
                <a:latin typeface="Lucida Fax" panose="02060602050505020204" pitchFamily="18" charset="0"/>
              </a:rPr>
              <a:t>; </a:t>
            </a:r>
            <a:r>
              <a:rPr lang="en-US" sz="1400" b="0" i="0" dirty="0">
                <a:solidFill>
                  <a:srgbClr val="008013"/>
                </a:solidFill>
                <a:effectLst/>
                <a:latin typeface="Lucida Fax" panose="02060602050505020204" pitchFamily="18" charset="0"/>
              </a:rPr>
              <a:t>%displacement increases at time step</a:t>
            </a:r>
            <a:endParaRPr lang="en-US" sz="1400" b="0" i="0" dirty="0">
              <a:effectLst/>
              <a:latin typeface="Lucida Fax" panose="02060602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678E89-F1FB-5A3D-DD90-53BB917652C6}"/>
              </a:ext>
            </a:extLst>
          </p:cNvPr>
          <p:cNvSpPr/>
          <p:nvPr/>
        </p:nvSpPr>
        <p:spPr>
          <a:xfrm>
            <a:off x="838200" y="6038110"/>
            <a:ext cx="5478517" cy="562582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33C6D-143A-CA1D-D805-B7170A68AD73}"/>
              </a:ext>
            </a:extLst>
          </p:cNvPr>
          <p:cNvSpPr txBox="1"/>
          <p:nvPr/>
        </p:nvSpPr>
        <p:spPr>
          <a:xfrm>
            <a:off x="6507614" y="6210254"/>
            <a:ext cx="388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1800" dirty="0">
                <a:solidFill>
                  <a:srgbClr val="C00000"/>
                </a:solidFill>
                <a:latin typeface="LM Roman 10" panose="00000500000000000000" pitchFamily="50" charset="0"/>
              </a:rPr>
              <a:t>Updating total displacement</a:t>
            </a:r>
            <a:endParaRPr lang="th-TH" sz="1800" dirty="0">
              <a:solidFill>
                <a:srgbClr val="C00000"/>
              </a:solidFill>
              <a:latin typeface="LM Roman 10" panose="00000500000000000000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2B0C17-F2FC-A687-76C4-B0B697C06FEF}"/>
                  </a:ext>
                </a:extLst>
              </p:cNvPr>
              <p:cNvSpPr txBox="1"/>
              <p:nvPr/>
            </p:nvSpPr>
            <p:spPr>
              <a:xfrm>
                <a:off x="695998" y="1070835"/>
                <a:ext cx="11002016" cy="529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Step 2	Iteration: 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Appy support condition and displacement (for Newmark-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𝛽</m:t>
                    </m:r>
                  </m:oMath>
                </a14:m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method) </a:t>
                </a:r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2B0C17-F2FC-A687-76C4-B0B697C06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98" y="1070835"/>
                <a:ext cx="11002016" cy="529056"/>
              </a:xfrm>
              <a:prstGeom prst="rect">
                <a:avLst/>
              </a:prstGeom>
              <a:blipFill>
                <a:blip r:embed="rId3"/>
                <a:stretch>
                  <a:fillRect l="-1108" t="-13953" b="-32558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B5B62E2-8002-D744-D11F-7419CCC332FF}"/>
              </a:ext>
            </a:extLst>
          </p:cNvPr>
          <p:cNvGrpSpPr/>
          <p:nvPr/>
        </p:nvGrpSpPr>
        <p:grpSpPr>
          <a:xfrm>
            <a:off x="7214265" y="2400458"/>
            <a:ext cx="4003413" cy="1969984"/>
            <a:chOff x="7214265" y="2011576"/>
            <a:chExt cx="4003413" cy="1969984"/>
          </a:xfrm>
        </p:grpSpPr>
        <p:graphicFrame>
          <p:nvGraphicFramePr>
            <p:cNvPr id="17" name="Object 16">
              <a:extLst>
                <a:ext uri="{FF2B5EF4-FFF2-40B4-BE49-F238E27FC236}">
                  <a16:creationId xmlns:a16="http://schemas.microsoft.com/office/drawing/2014/main" id="{935E9737-F9A4-6A14-F790-FDD131F649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6834785"/>
                </p:ext>
              </p:extLst>
            </p:nvPr>
          </p:nvGraphicFramePr>
          <p:xfrm>
            <a:off x="7214265" y="2011576"/>
            <a:ext cx="4003413" cy="136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27200" imgH="863280" progId="Equation.DSMT4">
                    <p:embed/>
                  </p:oleObj>
                </mc:Choice>
                <mc:Fallback>
                  <p:oleObj name="Equation" r:id="rId4" imgW="2527200" imgH="863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214265" y="2011576"/>
                          <a:ext cx="4003413" cy="136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7F11ECC-C5A8-99EA-AFA6-325F39917C50}"/>
                </a:ext>
              </a:extLst>
            </p:cNvPr>
            <p:cNvCxnSpPr/>
            <p:nvPr/>
          </p:nvCxnSpPr>
          <p:spPr>
            <a:xfrm flipV="1">
              <a:off x="8449430" y="3237186"/>
              <a:ext cx="0" cy="430924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08068E5-2412-BD57-5F5E-2605E2B2F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78690" y="3603575"/>
              <a:ext cx="1816765" cy="37798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27B4EF3-4EF5-B106-2E1A-ABE8E9CD9F8E}"/>
                  </a:ext>
                </a:extLst>
              </p:cNvPr>
              <p:cNvSpPr txBox="1"/>
              <p:nvPr/>
            </p:nvSpPr>
            <p:spPr>
              <a:xfrm>
                <a:off x="6782244" y="1941252"/>
                <a:ext cx="38836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thaiDist"/>
                <a:r>
                  <a:rPr lang="en-US" sz="1800" b="1" dirty="0">
                    <a:solidFill>
                      <a:schemeClr val="tx1"/>
                    </a:solidFill>
                    <a:latin typeface="LM Roman 10" panose="00000500000000000000" pitchFamily="50" charset="0"/>
                  </a:rPr>
                  <a:t>Newmark-</a:t>
                </a:r>
                <a:r>
                  <a:rPr lang="en-US" sz="1800" b="1" dirty="0">
                    <a:solidFill>
                      <a:schemeClr val="tx1"/>
                    </a:solidFill>
                    <a:ea typeface="Latin-Modern-Math-Word" panose="02000503000000000000" pitchFamily="2" charset="0"/>
                    <a:cs typeface="Latin-Modern-Math-Word" panose="020005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𝜷</m:t>
                    </m:r>
                  </m:oMath>
                </a14:m>
                <a:endParaRPr lang="th-TH" sz="1800" b="1" dirty="0">
                  <a:solidFill>
                    <a:schemeClr val="tx1"/>
                  </a:solidFill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27B4EF3-4EF5-B106-2E1A-ABE8E9CD9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244" y="1941252"/>
                <a:ext cx="3883633" cy="369332"/>
              </a:xfrm>
              <a:prstGeom prst="rect">
                <a:avLst/>
              </a:prstGeom>
              <a:blipFill>
                <a:blip r:embed="rId7"/>
                <a:stretch>
                  <a:fillRect l="-1413" t="-14754" b="-18033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425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5240-DED4-B4E4-CD7F-A06291EA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CE1C2AB-6C7D-5323-D338-F4D4BE323C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Nonlinear Dynamics Process: 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EucrosiaUPC" panose="02020603050405020304" pitchFamily="18" charset="-34"/>
                    <a:ea typeface="+mj-ea"/>
                    <a:cs typeface="EucrosiaUPC" panose="02020603050405020304" pitchFamily="18" charset="-34"/>
                  </a:rPr>
                  <a:t>Newmark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ea typeface="+mj-ea"/>
                    <a:cs typeface="FreesiaUPC" panose="020B0604020202020204" pitchFamily="34" charset="-34"/>
                  </a:rPr>
                  <a:t>-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𝛽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ea typeface="+mj-ea"/>
                    <a:cs typeface="FreesiaUPC" panose="020B0604020202020204" pitchFamily="34" charset="-34"/>
                  </a:rPr>
                  <a:t> </a:t>
                </a:r>
                <a:endParaRPr lang="th-TH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CE1C2AB-6C7D-5323-D338-F4D4BE323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93" b="-3012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7E50C-9731-A0B0-C807-E9E10F5F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24</a:t>
            </a:fld>
            <a:endParaRPr lang="th-TH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E0266-DD96-482D-41DD-E961C8439184}"/>
              </a:ext>
            </a:extLst>
          </p:cNvPr>
          <p:cNvGrpSpPr/>
          <p:nvPr/>
        </p:nvGrpSpPr>
        <p:grpSpPr>
          <a:xfrm>
            <a:off x="745620" y="3974993"/>
            <a:ext cx="10700760" cy="2786894"/>
            <a:chOff x="838200" y="3606165"/>
            <a:chExt cx="10700760" cy="27868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BE1A94F-567B-5326-8689-1B8299632B44}"/>
                </a:ext>
              </a:extLst>
            </p:cNvPr>
            <p:cNvGrpSpPr/>
            <p:nvPr/>
          </p:nvGrpSpPr>
          <p:grpSpPr>
            <a:xfrm>
              <a:off x="838200" y="3606165"/>
              <a:ext cx="10700760" cy="2786894"/>
              <a:chOff x="699310" y="1611674"/>
              <a:chExt cx="10700760" cy="2786894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2C1218B-85C0-4669-AD84-00DF4D1161CD}"/>
                  </a:ext>
                </a:extLst>
              </p:cNvPr>
              <p:cNvGrpSpPr/>
              <p:nvPr/>
            </p:nvGrpSpPr>
            <p:grpSpPr>
              <a:xfrm>
                <a:off x="699310" y="1611674"/>
                <a:ext cx="10700760" cy="2786894"/>
                <a:chOff x="838199" y="4462753"/>
                <a:chExt cx="10700760" cy="2786894"/>
              </a:xfrm>
            </p:grpSpPr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C943B91A-ED15-BEC6-72F4-98D173061E8F}"/>
                    </a:ext>
                  </a:extLst>
                </p:cNvPr>
                <p:cNvSpPr/>
                <p:nvPr/>
              </p:nvSpPr>
              <p:spPr>
                <a:xfrm>
                  <a:off x="838200" y="4462753"/>
                  <a:ext cx="1982003" cy="415475"/>
                </a:xfrm>
                <a:prstGeom prst="roundRect">
                  <a:avLst/>
                </a:prstGeom>
                <a:solidFill>
                  <a:srgbClr val="712B8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MATLAB: </a:t>
                  </a:r>
                  <a:r>
                    <a:rPr lang="en-US" sz="2400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G2.m</a:t>
                  </a:r>
                  <a:endParaRPr lang="th-TH" sz="2400" dirty="0">
                    <a:latin typeface="FreesiaUPC" panose="020B0604020202020204" pitchFamily="34" charset="-34"/>
                    <a:cs typeface="FreesiaUPC" panose="020B0604020202020204" pitchFamily="34" charset="-34"/>
                  </a:endParaRPr>
                </a:p>
              </p:txBody>
            </p:sp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A5FA9CF1-3C73-2614-50E3-540DD511509E}"/>
                    </a:ext>
                  </a:extLst>
                </p:cNvPr>
                <p:cNvSpPr/>
                <p:nvPr/>
              </p:nvSpPr>
              <p:spPr>
                <a:xfrm>
                  <a:off x="838199" y="4787434"/>
                  <a:ext cx="10700760" cy="2462213"/>
                </a:xfrm>
                <a:prstGeom prst="roundRect">
                  <a:avLst>
                    <a:gd name="adj" fmla="val 1209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8575">
                  <a:solidFill>
                    <a:srgbClr val="712B8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7857C1-E809-D9B0-3742-0868306BED99}"/>
                  </a:ext>
                </a:extLst>
              </p:cNvPr>
              <p:cNvSpPr txBox="1"/>
              <p:nvPr/>
            </p:nvSpPr>
            <p:spPr>
              <a:xfrm>
                <a:off x="719607" y="2027149"/>
                <a:ext cx="73026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sz="1400" b="0" i="0" dirty="0">
                  <a:effectLst/>
                  <a:latin typeface="Lucida Fax" panose="02060602050505020204" pitchFamily="18" charset="0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7DA5A6E-E867-F136-45C1-ECC8EB017158}"/>
                </a:ext>
              </a:extLst>
            </p:cNvPr>
            <p:cNvSpPr txBox="1"/>
            <p:nvPr/>
          </p:nvSpPr>
          <p:spPr>
            <a:xfrm>
              <a:off x="910063" y="3920987"/>
              <a:ext cx="10529655" cy="24622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%% ------------------------Newmark Beta----------------------------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 It is used to get the velocity and acceleration for next time step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acc_next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= 1/(beta*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del_t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*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del_t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)*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del_u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- 1/(beta*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del_t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)*vel - (1-2*beta)/(2*beta)*acc;</a:t>
              </a:r>
            </a:p>
            <a:p>
              <a:pPr>
                <a:buNone/>
              </a:pP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vel_next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= gamma/(beta*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del_t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)*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del_u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- (gamma-beta)/(beta)*vel -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del_t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*(gamma-2*beta)/(2*beta)*acc;</a:t>
              </a: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acc =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acc_next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;</a:t>
              </a: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vel =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vel_next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;</a:t>
              </a:r>
            </a:p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 </a:t>
              </a:r>
              <a:r>
                <a:rPr lang="en-US" sz="1400" b="0" i="0" dirty="0" err="1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Dispalcement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 vector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for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i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= 1:nNode</a:t>
              </a:r>
            </a:p>
            <a:p>
              <a:pPr lvl="1"/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u(:,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i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)=[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displ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(3*i-2);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displ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(3*i-1);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displ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(3*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i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)];</a:t>
              </a:r>
            </a:p>
            <a:p>
              <a:pPr lvl="1"/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NODE(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i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).u = [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displ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(3*i-2);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displ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(3*i-1);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displ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(3*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i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)]; </a:t>
              </a:r>
            </a:p>
            <a:p>
              <a:r>
                <a:rPr lang="en-US" sz="14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end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273B0E-4467-9A29-EC32-8CC4B9F7016A}"/>
                  </a:ext>
                </a:extLst>
              </p:cNvPr>
              <p:cNvSpPr txBox="1"/>
              <p:nvPr/>
            </p:nvSpPr>
            <p:spPr>
              <a:xfrm>
                <a:off x="695998" y="1070835"/>
                <a:ext cx="1100201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Step 2	Iteration: 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Newmark-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𝛽</m:t>
                    </m:r>
                  </m:oMath>
                </a14:m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method</a:t>
                </a:r>
              </a:p>
              <a:p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The update equation are derived from the Newmark approximations: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273B0E-4467-9A29-EC32-8CC4B9F70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98" y="1070835"/>
                <a:ext cx="11002016" cy="954107"/>
              </a:xfrm>
              <a:prstGeom prst="rect">
                <a:avLst/>
              </a:prstGeom>
              <a:blipFill>
                <a:blip r:embed="rId4"/>
                <a:stretch>
                  <a:fillRect l="-1108" t="-7692" b="-17308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67D0CC25-189C-266A-36B0-09807FA6EDE5}"/>
              </a:ext>
            </a:extLst>
          </p:cNvPr>
          <p:cNvGrpSpPr/>
          <p:nvPr/>
        </p:nvGrpSpPr>
        <p:grpSpPr>
          <a:xfrm>
            <a:off x="1288032" y="1789685"/>
            <a:ext cx="4736970" cy="1875062"/>
            <a:chOff x="4315011" y="1781168"/>
            <a:chExt cx="4736970" cy="1875062"/>
          </a:xfrm>
        </p:grpSpPr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F2292022-CDE4-B210-3890-7026C3CB95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9269532"/>
                </p:ext>
              </p:extLst>
            </p:nvPr>
          </p:nvGraphicFramePr>
          <p:xfrm>
            <a:off x="4315011" y="2288230"/>
            <a:ext cx="4003413" cy="136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527200" imgH="863280" progId="Equation.DSMT4">
                    <p:embed/>
                  </p:oleObj>
                </mc:Choice>
                <mc:Fallback>
                  <p:oleObj name="Equation" r:id="rId5" imgW="2527200" imgH="863280" progId="Equation.DSMT4">
                    <p:embed/>
                    <p:pic>
                      <p:nvPicPr>
                        <p:cNvPr id="17" name="Object 16">
                          <a:extLst>
                            <a:ext uri="{FF2B5EF4-FFF2-40B4-BE49-F238E27FC236}">
                              <a16:creationId xmlns:a16="http://schemas.microsoft.com/office/drawing/2014/main" id="{935E9737-F9A4-6A14-F790-FDD131F649A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15011" y="2288230"/>
                          <a:ext cx="4003413" cy="136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E8207008-C0E5-A521-8E61-28D298F17B1F}"/>
                </a:ext>
              </a:extLst>
            </p:cNvPr>
            <p:cNvSpPr/>
            <p:nvPr/>
          </p:nvSpPr>
          <p:spPr>
            <a:xfrm rot="16200000">
              <a:off x="6197006" y="1921236"/>
              <a:ext cx="914400" cy="914400"/>
            </a:xfrm>
            <a:prstGeom prst="arc">
              <a:avLst>
                <a:gd name="adj1" fmla="val 16200000"/>
                <a:gd name="adj2" fmla="val 19413334"/>
              </a:avLst>
            </a:prstGeom>
            <a:ln w="22225">
              <a:solidFill>
                <a:srgbClr val="C00000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B3061E5-A05B-8447-FBEB-4C1ADFF570BB}"/>
                </a:ext>
              </a:extLst>
            </p:cNvPr>
            <p:cNvSpPr txBox="1"/>
            <p:nvPr/>
          </p:nvSpPr>
          <p:spPr>
            <a:xfrm>
              <a:off x="6377851" y="1781168"/>
              <a:ext cx="26741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Adjust the previous velocity </a:t>
              </a:r>
              <a:endParaRPr lang="th-TH" sz="2400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52C6E0-85EB-BD24-C91D-C9430427D063}"/>
                  </a:ext>
                </a:extLst>
              </p:cNvPr>
              <p:cNvSpPr txBox="1"/>
              <p:nvPr/>
            </p:nvSpPr>
            <p:spPr>
              <a:xfrm>
                <a:off x="4761524" y="3064726"/>
                <a:ext cx="59987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where,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𝛾</m:t>
                    </m:r>
                  </m:oMath>
                </a14:m>
                <a:r>
                  <a:rPr lang="en-US" dirty="0">
                    <a:latin typeface="Latin-Modern-Math-Word" panose="02000503000000000000" pitchFamily="2" charset="0"/>
                    <a:ea typeface="Latin-Modern-Math-Word" panose="02000503000000000000" pitchFamily="2" charset="0"/>
                    <a:cs typeface="FreesiaUPC" panose="020B0604020202020204" pitchFamily="34" charset="-34"/>
                  </a:rPr>
                  <a:t> </a:t>
                </a:r>
                <a:r>
                  <a:rPr lang="en-US" dirty="0">
                    <a:latin typeface="FreesiaUPC" panose="020B0604020202020204" pitchFamily="34" charset="-34"/>
                    <a:ea typeface="Latin-Modern-Math-Word" panose="02000503000000000000" pitchFamily="2" charset="0"/>
                    <a:cs typeface="FreesiaUPC" panose="020B0604020202020204" pitchFamily="34" charset="-34"/>
                  </a:rPr>
                  <a:t>= 0.5 and</a:t>
                </a:r>
                <a:r>
                  <a:rPr lang="en-US" sz="2000" dirty="0">
                    <a:solidFill>
                      <a:prstClr val="black"/>
                    </a:solidFill>
                    <a:ea typeface="Latin-Modern-Math-Word" panose="02000503000000000000" pitchFamily="2" charset="0"/>
                    <a:cs typeface="Latin-Modern-Math-Word" panose="020005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Latin-Modern-Math-Word" panose="02000503000000000000" pitchFamily="2" charset="0"/>
                        <a:cs typeface="Latin-Modern-Math-Word" panose="02000503000000000000" pitchFamily="2" charset="0"/>
                      </a:rPr>
                      <m:t>𝛽</m:t>
                    </m:r>
                  </m:oMath>
                </a14:m>
                <a:r>
                  <a:rPr lang="en-US" dirty="0">
                    <a:latin typeface="FreesiaUPC" panose="020B0604020202020204" pitchFamily="34" charset="-34"/>
                    <a:ea typeface="Latin-Modern-Math-Word" panose="02000503000000000000" pitchFamily="2" charset="0"/>
                    <a:cs typeface="FreesiaUPC" panose="020B0604020202020204" pitchFamily="34" charset="-34"/>
                  </a:rPr>
                  <a:t> = 0.25 for unconditional stability</a:t>
                </a:r>
                <a:endParaRPr lang="th-TH" dirty="0">
                  <a:latin typeface="Latin-Modern-Math-Word" panose="02000503000000000000" pitchFamily="2" charset="0"/>
                  <a:ea typeface="Latin-Modern-Math-Word" panose="02000503000000000000" pitchFamily="2" charset="0"/>
                  <a:cs typeface="FreesiaUPC" panose="020B0604020202020204" pitchFamily="34" charset="-34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52C6E0-85EB-BD24-C91D-C9430427D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524" y="3064726"/>
                <a:ext cx="5998752" cy="523220"/>
              </a:xfrm>
              <a:prstGeom prst="rect">
                <a:avLst/>
              </a:prstGeom>
              <a:blipFill>
                <a:blip r:embed="rId7"/>
                <a:stretch>
                  <a:fillRect l="-1626" t="-9302" r="-2134" b="-34884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A99BDCE9-F7E7-8435-AB4B-FAA9304532C6}"/>
              </a:ext>
            </a:extLst>
          </p:cNvPr>
          <p:cNvGrpSpPr/>
          <p:nvPr/>
        </p:nvGrpSpPr>
        <p:grpSpPr>
          <a:xfrm>
            <a:off x="7407296" y="1078735"/>
            <a:ext cx="4290718" cy="2150556"/>
            <a:chOff x="7407296" y="1078735"/>
            <a:chExt cx="4290718" cy="2150556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0F04E49-F002-174B-E5CE-E6E0DEE02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85919" y="1413206"/>
              <a:ext cx="3160461" cy="181608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0C719A1-07F3-AA37-8C78-4C5CFC881BAF}"/>
                    </a:ext>
                  </a:extLst>
                </p:cNvPr>
                <p:cNvSpPr txBox="1"/>
                <p:nvPr/>
              </p:nvSpPr>
              <p:spPr>
                <a:xfrm>
                  <a:off x="7407296" y="1078735"/>
                  <a:ext cx="429071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0" 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FreesiaUPC" panose="020B0604020202020204" pitchFamily="34" charset="-34"/>
                      <a:ea typeface="Latin-Modern-Math-Word" panose="02000503000000000000" pitchFamily="2" charset="0"/>
                      <a:cs typeface="FreesiaUPC" panose="020B0604020202020204" pitchFamily="34" charset="-34"/>
                    </a:rPr>
                    <a:t>Newmark-</a:t>
                  </a: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Latin-Modern-Math-Word" panose="02000503000000000000" pitchFamily="2" charset="0"/>
                      <a:cs typeface="Latin-Modern-Math-Word" panose="02000503000000000000" pitchFamily="2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𝜷</m:t>
                      </m:r>
                    </m:oMath>
                  </a14:m>
                  <a:r>
                    <a:rPr kumimoji="0" 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FreesiaUPC" panose="020B0604020202020204" pitchFamily="34" charset="-34"/>
                      <a:ea typeface="Latin-Modern-Math-Word" panose="02000503000000000000" pitchFamily="2" charset="0"/>
                      <a:cs typeface="FreesiaUPC" panose="020B0604020202020204" pitchFamily="34" charset="-34"/>
                    </a:rPr>
                    <a:t>  constant-average</a:t>
                  </a:r>
                  <a:r>
                    <a:rPr lang="en-US" sz="2400" b="1" dirty="0">
                      <a:solidFill>
                        <a:prstClr val="black"/>
                      </a:solidFill>
                      <a:latin typeface="FreesiaUPC" panose="020B0604020202020204" pitchFamily="34" charset="-34"/>
                      <a:ea typeface="Latin-Modern-Math-Word" panose="02000503000000000000" pitchFamily="2" charset="0"/>
                      <a:cs typeface="FreesiaUPC" panose="020B0604020202020204" pitchFamily="34" charset="-34"/>
                    </a:rPr>
                    <a:t> acceleration </a:t>
                  </a:r>
                  <a:endParaRPr lang="th-TH" sz="2400" b="1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0C719A1-07F3-AA37-8C78-4C5CFC881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7296" y="1078735"/>
                  <a:ext cx="4290718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568" t="-10526" r="-2131" b="-28947"/>
                  </a:stretch>
                </a:blipFill>
              </p:spPr>
              <p:txBody>
                <a:bodyPr/>
                <a:lstStyle/>
                <a:p>
                  <a:r>
                    <a:rPr lang="th-TH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04963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44932-DBB2-E25E-3785-D6AB5F58E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87FFA7-4EBC-4551-5D21-95738091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25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FB8772-37CF-7DE2-8665-4288F468739C}"/>
              </a:ext>
            </a:extLst>
          </p:cNvPr>
          <p:cNvSpPr/>
          <p:nvPr/>
        </p:nvSpPr>
        <p:spPr>
          <a:xfrm>
            <a:off x="3666931" y="2991896"/>
            <a:ext cx="4858138" cy="1107831"/>
          </a:xfrm>
          <a:prstGeom prst="roundRect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Failure Criteria</a:t>
            </a:r>
            <a:endParaRPr lang="th-TH" sz="4000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30080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FBE78B-E77B-5284-481C-B68E3C82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1876" y="6492875"/>
            <a:ext cx="2743200" cy="365125"/>
          </a:xfrm>
        </p:spPr>
        <p:txBody>
          <a:bodyPr/>
          <a:lstStyle/>
          <a:p>
            <a:fld id="{D92E7364-E95C-459B-BEF5-B7F8E81A4D6E}" type="slidenum">
              <a:rPr lang="th-TH" smtClean="0"/>
              <a:t>26</a:t>
            </a:fld>
            <a:endParaRPr lang="th-TH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6A38F50-A64E-9D64-7D1D-FB2D886CB7F3}"/>
              </a:ext>
            </a:extLst>
          </p:cNvPr>
          <p:cNvGrpSpPr/>
          <p:nvPr/>
        </p:nvGrpSpPr>
        <p:grpSpPr>
          <a:xfrm>
            <a:off x="1341487" y="150641"/>
            <a:ext cx="9965261" cy="4174704"/>
            <a:chOff x="1341487" y="397129"/>
            <a:chExt cx="9965261" cy="41747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8B601350-6A69-18FD-ABD7-ED8D0FDF24B3}"/>
                    </a:ext>
                  </a:extLst>
                </p:cNvPr>
                <p:cNvSpPr/>
                <p:nvPr/>
              </p:nvSpPr>
              <p:spPr>
                <a:xfrm>
                  <a:off x="1718734" y="637147"/>
                  <a:ext cx="2492299" cy="422031"/>
                </a:xfrm>
                <a:prstGeom prst="roundRect">
                  <a:avLst/>
                </a:prstGeom>
                <a:solidFill>
                  <a:srgbClr val="002060"/>
                </a:solidFill>
                <a:ln w="317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u from </a:t>
                  </a:r>
                  <a:r>
                    <a:rPr lang="en-US" sz="2400" b="1" dirty="0">
                      <a:solidFill>
                        <a:schemeClr val="bg1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Newmark-</a:t>
                  </a:r>
                  <a14:m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𝜷</m:t>
                      </m:r>
                    </m:oMath>
                  </a14:m>
                  <a:endParaRPr lang="th-TH" sz="2400" b="1" dirty="0">
                    <a:latin typeface="FreesiaUPC" panose="020B0604020202020204" pitchFamily="34" charset="-34"/>
                    <a:cs typeface="FreesiaUPC" panose="020B0604020202020204" pitchFamily="34" charset="-34"/>
                  </a:endParaRPr>
                </a:p>
              </p:txBody>
            </p:sp>
          </mc:Choice>
          <mc:Fallback xmlns=""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8B601350-6A69-18FD-ABD7-ED8D0FDF24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8734" y="637147"/>
                  <a:ext cx="2492299" cy="422031"/>
                </a:xfrm>
                <a:prstGeom prst="roundRect">
                  <a:avLst/>
                </a:prstGeom>
                <a:blipFill>
                  <a:blip r:embed="rId3"/>
                  <a:stretch>
                    <a:fillRect t="-12162" b="-31081"/>
                  </a:stretch>
                </a:blipFill>
                <a:ln w="31750"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th-TH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F24F2210-93B4-25B3-F57D-25203A387E8C}"/>
                </a:ext>
              </a:extLst>
            </p:cNvPr>
            <p:cNvCxnSpPr>
              <a:cxnSpLocks/>
            </p:cNvCxnSpPr>
            <p:nvPr/>
          </p:nvCxnSpPr>
          <p:spPr>
            <a:xfrm>
              <a:off x="2964885" y="1063452"/>
              <a:ext cx="0" cy="2210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E3B5FD1-7556-8B9C-957A-DBE9A382503B}"/>
                </a:ext>
              </a:extLst>
            </p:cNvPr>
            <p:cNvSpPr/>
            <p:nvPr/>
          </p:nvSpPr>
          <p:spPr>
            <a:xfrm>
              <a:off x="1341487" y="1288789"/>
              <a:ext cx="3246795" cy="417757"/>
            </a:xfrm>
            <a:prstGeom prst="roundRect">
              <a:avLst>
                <a:gd name="adj" fmla="val 5293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Loop over element: </a:t>
              </a:r>
              <a:r>
                <a:rPr lang="en-US" sz="2400" dirty="0" err="1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eNo</a:t>
              </a:r>
              <a:r>
                <a:rPr lang="en-US" sz="2400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 = 1:NE</a:t>
              </a:r>
              <a:endParaRPr lang="th-TH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CE564F-63B8-8005-FC1B-B6BD052EDA2B}"/>
                </a:ext>
              </a:extLst>
            </p:cNvPr>
            <p:cNvCxnSpPr>
              <a:cxnSpLocks/>
            </p:cNvCxnSpPr>
            <p:nvPr/>
          </p:nvCxnSpPr>
          <p:spPr>
            <a:xfrm>
              <a:off x="2964885" y="1710820"/>
              <a:ext cx="0" cy="2210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A418F98-4151-945F-873B-E65602627A85}"/>
                </a:ext>
              </a:extLst>
            </p:cNvPr>
            <p:cNvSpPr/>
            <p:nvPr/>
          </p:nvSpPr>
          <p:spPr>
            <a:xfrm>
              <a:off x="1341487" y="1936157"/>
              <a:ext cx="3246795" cy="679822"/>
            </a:xfrm>
            <a:prstGeom prst="roundRect">
              <a:avLst>
                <a:gd name="adj" fmla="val 5293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Assemble </a:t>
              </a:r>
              <a:r>
                <a:rPr lang="en-US" sz="2400" b="1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nodal displacements u </a:t>
              </a:r>
              <a:r>
                <a:rPr lang="en-US" sz="2400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for element </a:t>
              </a:r>
              <a:r>
                <a:rPr lang="en-US" sz="2400" dirty="0" err="1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eNo</a:t>
              </a:r>
              <a:endParaRPr lang="th-TH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B20800E-2357-1A76-BD58-52AAEF46938F}"/>
                </a:ext>
              </a:extLst>
            </p:cNvPr>
            <p:cNvCxnSpPr>
              <a:cxnSpLocks/>
            </p:cNvCxnSpPr>
            <p:nvPr/>
          </p:nvCxnSpPr>
          <p:spPr>
            <a:xfrm>
              <a:off x="2964885" y="2621578"/>
              <a:ext cx="0" cy="2210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6F5914ED-39F9-E3CD-6CD0-1AEB5A2B2027}"/>
                    </a:ext>
                  </a:extLst>
                </p:cNvPr>
                <p:cNvSpPr/>
                <p:nvPr/>
              </p:nvSpPr>
              <p:spPr>
                <a:xfrm>
                  <a:off x="1680558" y="2842641"/>
                  <a:ext cx="2568649" cy="429022"/>
                </a:xfrm>
                <a:prstGeom prst="roundRect">
                  <a:avLst>
                    <a:gd name="adj" fmla="val 5293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Compute strain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Latin-Modern-Math-Word" panose="02000503000000000000" pitchFamily="2" charset="0"/>
                      <a:ea typeface="Latin-Modern-Math-Word" panose="02000503000000000000" pitchFamily="2" charset="0"/>
                      <a:cs typeface="Latin-Modern-Math-Word" panose="02000503000000000000" pitchFamily="2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i="0" smtClean="0">
                          <a:solidFill>
                            <a:schemeClr val="tx1"/>
                          </a:solidFill>
                          <a:latin typeface="Latin-Modern-Math-Word" panose="02000503000000000000" pitchFamily="2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ε</m:t>
                      </m:r>
                      <m:r>
                        <m:rPr>
                          <m:nor/>
                        </m:rPr>
                        <a:rPr lang="en-US" sz="1800" b="1" i="0" smtClean="0">
                          <a:solidFill>
                            <a:schemeClr val="tx1"/>
                          </a:solidFill>
                          <a:latin typeface="Latin-Modern-Math-Word" panose="02000503000000000000" pitchFamily="2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1800" b="1" i="0" smtClean="0">
                          <a:solidFill>
                            <a:schemeClr val="tx1"/>
                          </a:solidFill>
                          <a:latin typeface="Latin-Modern-Math-Word" panose="02000503000000000000" pitchFamily="2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Bu</m:t>
                      </m:r>
                    </m:oMath>
                  </a14:m>
                  <a:endParaRPr lang="th-TH" sz="2400" b="1" dirty="0">
                    <a:solidFill>
                      <a:schemeClr val="tx1"/>
                    </a:solidFill>
                    <a:latin typeface="Latin-Modern-Math-Word" panose="02000503000000000000" pitchFamily="2" charset="0"/>
                    <a:ea typeface="Latin-Modern-Math-Word" panose="02000503000000000000" pitchFamily="2" charset="0"/>
                    <a:cs typeface="FreesiaUPC" panose="020B0604020202020204" pitchFamily="34" charset="-34"/>
                  </a:endParaRPr>
                </a:p>
              </p:txBody>
            </p:sp>
          </mc:Choice>
          <mc:Fallback xmlns="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6F5914ED-39F9-E3CD-6CD0-1AEB5A2B20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0558" y="2842641"/>
                  <a:ext cx="2568649" cy="429022"/>
                </a:xfrm>
                <a:prstGeom prst="roundRect">
                  <a:avLst>
                    <a:gd name="adj" fmla="val 5293"/>
                  </a:avLst>
                </a:prstGeom>
                <a:blipFill>
                  <a:blip r:embed="rId4"/>
                  <a:stretch>
                    <a:fillRect t="-9589" b="-35616"/>
                  </a:stretch>
                </a:blipFill>
                <a:ln w="15875"/>
              </p:spPr>
              <p:txBody>
                <a:bodyPr/>
                <a:lstStyle/>
                <a:p>
                  <a:r>
                    <a:rPr lang="th-TH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C44009C-8CBA-72FD-0587-3520EA311B2D}"/>
                </a:ext>
              </a:extLst>
            </p:cNvPr>
            <p:cNvCxnSpPr>
              <a:cxnSpLocks/>
            </p:cNvCxnSpPr>
            <p:nvPr/>
          </p:nvCxnSpPr>
          <p:spPr>
            <a:xfrm>
              <a:off x="2964885" y="3271663"/>
              <a:ext cx="0" cy="2210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A6AD400D-58BF-98A5-CCA8-8559DF211A0F}"/>
                    </a:ext>
                  </a:extLst>
                </p:cNvPr>
                <p:cNvSpPr/>
                <p:nvPr/>
              </p:nvSpPr>
              <p:spPr>
                <a:xfrm>
                  <a:off x="1680558" y="3492726"/>
                  <a:ext cx="2568649" cy="429022"/>
                </a:xfrm>
                <a:prstGeom prst="roundRect">
                  <a:avLst>
                    <a:gd name="adj" fmla="val 5293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Compute stress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 </m:t>
                      </m:r>
                      <m:r>
                        <a:rPr lang="el-G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𝝈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1">
                          <a:solidFill>
                            <a:schemeClr val="tx1"/>
                          </a:solidFill>
                          <a:latin typeface="Latin-Modern-Math-Word" panose="02000503000000000000" pitchFamily="2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 </m:t>
                      </m:r>
                      <m:r>
                        <a:rPr lang="en-US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𝐃</m:t>
                      </m:r>
                      <m:r>
                        <m:rPr>
                          <m:nor/>
                        </m:rPr>
                        <a:rPr lang="en-US" sz="1600" b="1" i="0" smtClean="0">
                          <a:solidFill>
                            <a:schemeClr val="tx1"/>
                          </a:solidFill>
                          <a:latin typeface="Latin-Modern-Math-Word" panose="02000503000000000000" pitchFamily="2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ε</m:t>
                      </m:r>
                    </m:oMath>
                  </a14:m>
                  <a:endParaRPr lang="th-TH" sz="2400" b="1" dirty="0">
                    <a:solidFill>
                      <a:schemeClr val="tx1"/>
                    </a:solidFill>
                    <a:latin typeface="Latin-Modern-Math-Word" panose="02000503000000000000" pitchFamily="2" charset="0"/>
                    <a:ea typeface="Latin-Modern-Math-Word" panose="02000503000000000000" pitchFamily="2" charset="0"/>
                    <a:cs typeface="FreesiaUPC" panose="020B0604020202020204" pitchFamily="34" charset="-34"/>
                  </a:endParaRPr>
                </a:p>
              </p:txBody>
            </p:sp>
          </mc:Choice>
          <mc:Fallback xmlns="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A6AD400D-58BF-98A5-CCA8-8559DF211A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0558" y="3492726"/>
                  <a:ext cx="2568649" cy="429022"/>
                </a:xfrm>
                <a:prstGeom prst="roundRect">
                  <a:avLst>
                    <a:gd name="adj" fmla="val 5293"/>
                  </a:avLst>
                </a:prstGeom>
                <a:blipFill>
                  <a:blip r:embed="rId5"/>
                  <a:stretch>
                    <a:fillRect l="-1651" t="-13699" b="-31507"/>
                  </a:stretch>
                </a:blipFill>
                <a:ln w="15875"/>
              </p:spPr>
              <p:txBody>
                <a:bodyPr/>
                <a:lstStyle/>
                <a:p>
                  <a:r>
                    <a:rPr lang="th-TH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417FC36-7B9B-0933-8D21-E01D059978BF}"/>
                </a:ext>
              </a:extLst>
            </p:cNvPr>
            <p:cNvCxnSpPr>
              <a:cxnSpLocks/>
            </p:cNvCxnSpPr>
            <p:nvPr/>
          </p:nvCxnSpPr>
          <p:spPr>
            <a:xfrm>
              <a:off x="2964887" y="3921748"/>
              <a:ext cx="0" cy="2210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9E262E03-8B7E-AA59-C2A5-F81E7A485BAA}"/>
                    </a:ext>
                  </a:extLst>
                </p:cNvPr>
                <p:cNvSpPr/>
                <p:nvPr/>
              </p:nvSpPr>
              <p:spPr>
                <a:xfrm>
                  <a:off x="1443625" y="4142811"/>
                  <a:ext cx="3042514" cy="429022"/>
                </a:xfrm>
                <a:prstGeom prst="roundRect">
                  <a:avLst>
                    <a:gd name="adj" fmla="val 5293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Covert strain to tensor form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smtClean="0">
                          <a:solidFill>
                            <a:schemeClr val="tx1"/>
                          </a:solidFill>
                          <a:latin typeface="Latin-Modern-Math-Word" panose="02000503000000000000" pitchFamily="2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ε</m:t>
                      </m:r>
                    </m:oMath>
                  </a14:m>
                  <a:r>
                    <a:rPr lang="en-US" sz="2400" baseline="-25000" dirty="0">
                      <a:solidFill>
                        <a:schemeClr val="tx1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ij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 </a:t>
                  </a:r>
                  <a:endParaRPr lang="th-TH" sz="2400" b="1" dirty="0">
                    <a:solidFill>
                      <a:schemeClr val="tx1"/>
                    </a:solidFill>
                    <a:latin typeface="Latin-Modern-Math-Word" panose="02000503000000000000" pitchFamily="2" charset="0"/>
                    <a:ea typeface="Latin-Modern-Math-Word" panose="02000503000000000000" pitchFamily="2" charset="0"/>
                    <a:cs typeface="FreesiaUPC" panose="020B0604020202020204" pitchFamily="34" charset="-34"/>
                  </a:endParaRPr>
                </a:p>
              </p:txBody>
            </p:sp>
          </mc:Choice>
          <mc:Fallback xmlns=""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9E262E03-8B7E-AA59-C2A5-F81E7A485B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3625" y="4142811"/>
                  <a:ext cx="3042514" cy="429022"/>
                </a:xfrm>
                <a:prstGeom prst="roundRect">
                  <a:avLst>
                    <a:gd name="adj" fmla="val 5293"/>
                  </a:avLst>
                </a:prstGeom>
                <a:blipFill>
                  <a:blip r:embed="rId6"/>
                  <a:stretch>
                    <a:fillRect t="-13514" b="-29730"/>
                  </a:stretch>
                </a:blipFill>
                <a:ln w="158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24C63AE-C998-8E07-5334-D9305C562964}"/>
                </a:ext>
              </a:extLst>
            </p:cNvPr>
            <p:cNvGrpSpPr/>
            <p:nvPr/>
          </p:nvGrpSpPr>
          <p:grpSpPr>
            <a:xfrm>
              <a:off x="4478972" y="722172"/>
              <a:ext cx="2251665" cy="3669410"/>
              <a:chOff x="4478975" y="722172"/>
              <a:chExt cx="3389279" cy="36694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738032C-9C2C-8EC9-9BCB-F3830C887CBE}"/>
                  </a:ext>
                </a:extLst>
              </p:cNvPr>
              <p:cNvCxnSpPr/>
              <p:nvPr/>
            </p:nvCxnSpPr>
            <p:spPr>
              <a:xfrm>
                <a:off x="4478975" y="4391582"/>
                <a:ext cx="68465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7C62A6E-CEF2-57C8-7908-B85BF1DBCC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63627" y="722172"/>
                <a:ext cx="0" cy="366941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DFE1804-5FFB-4AEE-5C89-370BE328A953}"/>
                  </a:ext>
                </a:extLst>
              </p:cNvPr>
              <p:cNvCxnSpPr>
                <a:cxnSpLocks/>
                <a:endCxn id="18" idx="1"/>
              </p:cNvCxnSpPr>
              <p:nvPr/>
            </p:nvCxnSpPr>
            <p:spPr>
              <a:xfrm>
                <a:off x="5163627" y="722172"/>
                <a:ext cx="27046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C369BEF-73CE-4132-4956-114F766E03C6}"/>
                </a:ext>
              </a:extLst>
            </p:cNvPr>
            <p:cNvCxnSpPr>
              <a:cxnSpLocks/>
            </p:cNvCxnSpPr>
            <p:nvPr/>
          </p:nvCxnSpPr>
          <p:spPr>
            <a:xfrm>
              <a:off x="8226479" y="1090112"/>
              <a:ext cx="0" cy="2210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684DF57-2632-5256-7480-DE09B1D183F7}"/>
                </a:ext>
              </a:extLst>
            </p:cNvPr>
            <p:cNvSpPr/>
            <p:nvPr/>
          </p:nvSpPr>
          <p:spPr>
            <a:xfrm>
              <a:off x="6730637" y="397129"/>
              <a:ext cx="3042514" cy="692983"/>
            </a:xfrm>
            <a:prstGeom prst="roundRect">
              <a:avLst>
                <a:gd name="adj" fmla="val 5293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Eigen analysis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FreesiaUPC" panose="020B0604020202020204" pitchFamily="34" charset="-34"/>
                  <a:ea typeface="Latin-Modern-Math-Word" panose="02000503000000000000" pitchFamily="2" charset="0"/>
                  <a:cs typeface="FreesiaUPC" panose="020B0604020202020204" pitchFamily="34" charset="-34"/>
                </a:rPr>
                <a:t>Principal strain/ directions (</a:t>
              </a:r>
              <a:r>
                <a:rPr lang="en-US" sz="2400" b="1" dirty="0">
                  <a:solidFill>
                    <a:schemeClr val="tx1"/>
                  </a:solidFill>
                  <a:latin typeface="FreesiaUPC" panose="020B0604020202020204" pitchFamily="34" charset="-34"/>
                  <a:ea typeface="Latin-Modern-Math-Word" panose="02000503000000000000" pitchFamily="2" charset="0"/>
                  <a:cs typeface="FreesiaUPC" panose="020B0604020202020204" pitchFamily="34" charset="-34"/>
                </a:rPr>
                <a:t>R</a:t>
              </a:r>
              <a:r>
                <a:rPr lang="en-US" sz="2400" dirty="0">
                  <a:solidFill>
                    <a:schemeClr val="tx1"/>
                  </a:solidFill>
                  <a:latin typeface="FreesiaUPC" panose="020B0604020202020204" pitchFamily="34" charset="-34"/>
                  <a:ea typeface="Latin-Modern-Math-Word" panose="02000503000000000000" pitchFamily="2" charset="0"/>
                  <a:cs typeface="FreesiaUPC" panose="020B0604020202020204" pitchFamily="34" charset="-34"/>
                </a:rPr>
                <a:t>)</a:t>
              </a:r>
              <a:endParaRPr lang="th-TH" sz="2400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FreesiaUPC" panose="020B0604020202020204" pitchFamily="34" charset="-34"/>
              </a:endParaRPr>
            </a:p>
          </p:txBody>
        </p:sp>
        <p:sp>
          <p:nvSpPr>
            <p:cNvPr id="19" name="Flowchart: Decision 18">
              <a:extLst>
                <a:ext uri="{FF2B5EF4-FFF2-40B4-BE49-F238E27FC236}">
                  <a16:creationId xmlns:a16="http://schemas.microsoft.com/office/drawing/2014/main" id="{EB52297A-54DC-1A76-D338-22ADA1E65C7F}"/>
                </a:ext>
              </a:extLst>
            </p:cNvPr>
            <p:cNvSpPr/>
            <p:nvPr/>
          </p:nvSpPr>
          <p:spPr>
            <a:xfrm>
              <a:off x="6854879" y="1311175"/>
              <a:ext cx="2743200" cy="827726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3AFFA1-5AEA-50C0-12C0-6830A18847FD}"/>
                </a:ext>
              </a:extLst>
            </p:cNvPr>
            <p:cNvSpPr txBox="1"/>
            <p:nvPr/>
          </p:nvSpPr>
          <p:spPr>
            <a:xfrm>
              <a:off x="6875228" y="1494205"/>
              <a:ext cx="28094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Check sign of strain</a:t>
              </a:r>
              <a:endParaRPr lang="th-TH" sz="2400" dirty="0">
                <a:solidFill>
                  <a:schemeClr val="tx1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FreesiaUPC" panose="020B0604020202020204" pitchFamily="34" charset="-34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76CA269-2871-E710-063E-3F9E6F2BC78A}"/>
                </a:ext>
              </a:extLst>
            </p:cNvPr>
            <p:cNvGrpSpPr/>
            <p:nvPr/>
          </p:nvGrpSpPr>
          <p:grpSpPr>
            <a:xfrm>
              <a:off x="6420379" y="1722448"/>
              <a:ext cx="454849" cy="470753"/>
              <a:chOff x="5641151" y="1722448"/>
              <a:chExt cx="454849" cy="22547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9AC793-679E-E865-47BE-6D1EB9AAE35B}"/>
                  </a:ext>
                </a:extLst>
              </p:cNvPr>
              <p:cNvCxnSpPr/>
              <p:nvPr/>
            </p:nvCxnSpPr>
            <p:spPr>
              <a:xfrm>
                <a:off x="5641151" y="1722448"/>
                <a:ext cx="4548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8462857-E9F7-34DF-85A7-F9D9DAA745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1151" y="1726856"/>
                <a:ext cx="0" cy="2210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EA8AD63-5710-07D0-65B9-340D197B2749}"/>
                </a:ext>
              </a:extLst>
            </p:cNvPr>
            <p:cNvGrpSpPr/>
            <p:nvPr/>
          </p:nvGrpSpPr>
          <p:grpSpPr>
            <a:xfrm flipH="1">
              <a:off x="9598077" y="1732603"/>
              <a:ext cx="454849" cy="456689"/>
              <a:chOff x="5641151" y="1725160"/>
              <a:chExt cx="454849" cy="222759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919AB81-F76C-6950-AFBB-DD60A0749DFB}"/>
                  </a:ext>
                </a:extLst>
              </p:cNvPr>
              <p:cNvCxnSpPr/>
              <p:nvPr/>
            </p:nvCxnSpPr>
            <p:spPr>
              <a:xfrm>
                <a:off x="5641151" y="1725160"/>
                <a:ext cx="4548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E1E71998-5AC1-F49F-D4C1-4570272F51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1151" y="1726856"/>
                <a:ext cx="0" cy="2210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766D517-560F-3CD3-ACA4-EA9975CD7D60}"/>
                </a:ext>
              </a:extLst>
            </p:cNvPr>
            <p:cNvSpPr/>
            <p:nvPr/>
          </p:nvSpPr>
          <p:spPr>
            <a:xfrm>
              <a:off x="5165696" y="2182843"/>
              <a:ext cx="2659321" cy="692983"/>
            </a:xfrm>
            <a:prstGeom prst="roundRect">
              <a:avLst>
                <a:gd name="adj" fmla="val 5293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Nonlinear stress</a:t>
              </a:r>
            </a:p>
            <a:p>
              <a:pPr algn="ctr"/>
              <a:r>
                <a:rPr lang="en-US" sz="2400" b="1" i="1" dirty="0" err="1">
                  <a:solidFill>
                    <a:srgbClr val="C00000"/>
                  </a:solidFill>
                  <a:latin typeface="FreesiaUPC" panose="020B0604020202020204" pitchFamily="34" charset="-34"/>
                  <a:ea typeface="Latin-Modern-Math-Word" panose="02000503000000000000" pitchFamily="2" charset="0"/>
                  <a:cs typeface="FreesiaUPC" panose="020B0604020202020204" pitchFamily="34" charset="-34"/>
                </a:rPr>
                <a:t>GetStressHDCompression.m</a:t>
              </a:r>
              <a:endParaRPr lang="th-TH" sz="2400" b="1" i="1" dirty="0">
                <a:solidFill>
                  <a:srgbClr val="C00000"/>
                </a:solidFill>
                <a:latin typeface="Latin-Modern-Math-Word" panose="02000503000000000000" pitchFamily="2" charset="0"/>
                <a:ea typeface="Latin-Modern-Math-Word" panose="02000503000000000000" pitchFamily="2" charset="0"/>
                <a:cs typeface="FreesiaUPC" panose="020B0604020202020204" pitchFamily="34" charset="-3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A41F4BF8-E037-E687-C592-E038BF9B3235}"/>
                    </a:ext>
                  </a:extLst>
                </p:cNvPr>
                <p:cNvSpPr/>
                <p:nvPr/>
              </p:nvSpPr>
              <p:spPr>
                <a:xfrm>
                  <a:off x="8792150" y="2197294"/>
                  <a:ext cx="2514598" cy="692983"/>
                </a:xfrm>
                <a:prstGeom prst="roundRect">
                  <a:avLst>
                    <a:gd name="adj" fmla="val 5293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Linear tensile stress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kumimoji="0" lang="el-G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𝝈</m:t>
                      </m:r>
                    </m:oMath>
                  </a14:m>
                  <a:r>
                    <a:rPr lang="en-US" sz="2400" b="1" dirty="0">
                      <a:solidFill>
                        <a:schemeClr val="tx1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 = E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>
                          <a:solidFill>
                            <a:prstClr val="black"/>
                          </a:solidFill>
                          <a:latin typeface="Latin-Modern-Math-Word" panose="02000503000000000000" pitchFamily="2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ε</m:t>
                      </m:r>
                    </m:oMath>
                  </a14:m>
                  <a:endParaRPr lang="en-US" sz="2400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endParaRPr>
                </a:p>
              </p:txBody>
            </p:sp>
          </mc:Choice>
          <mc:Fallback xmlns=""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A41F4BF8-E037-E687-C592-E038BF9B32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150" y="2197294"/>
                  <a:ext cx="2514598" cy="692983"/>
                </a:xfrm>
                <a:prstGeom prst="roundRect">
                  <a:avLst>
                    <a:gd name="adj" fmla="val 5293"/>
                  </a:avLst>
                </a:prstGeom>
                <a:blipFill>
                  <a:blip r:embed="rId7"/>
                  <a:stretch>
                    <a:fillRect t="-15385" b="-26496"/>
                  </a:stretch>
                </a:blipFill>
                <a:ln w="15875"/>
              </p:spPr>
              <p:txBody>
                <a:bodyPr/>
                <a:lstStyle/>
                <a:p>
                  <a:r>
                    <a:rPr lang="th-T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CBEC74F-9CEB-D94C-91C8-55225062D6A2}"/>
                    </a:ext>
                  </a:extLst>
                </p:cNvPr>
                <p:cNvSpPr txBox="1"/>
                <p:nvPr/>
              </p:nvSpPr>
              <p:spPr>
                <a:xfrm>
                  <a:off x="9465802" y="1260783"/>
                  <a:ext cx="163615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smtClean="0">
                          <a:solidFill>
                            <a:prstClr val="black"/>
                          </a:solidFill>
                          <a:latin typeface="Latin-Modern-Math-Word" panose="02000503000000000000" pitchFamily="2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ε</m:t>
                      </m:r>
                    </m:oMath>
                  </a14:m>
                  <a:r>
                    <a:rPr lang="en-US" sz="2400" dirty="0">
                      <a:solidFill>
                        <a:prstClr val="black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 &gt; 0: Tensile</a:t>
                  </a:r>
                  <a:endParaRPr lang="th-TH" sz="20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CBEC74F-9CEB-D94C-91C8-55225062D6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5802" y="1260783"/>
                  <a:ext cx="1636153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3158" b="-26316"/>
                  </a:stretch>
                </a:blipFill>
              </p:spPr>
              <p:txBody>
                <a:bodyPr/>
                <a:lstStyle/>
                <a:p>
                  <a:r>
                    <a:rPr lang="th-T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50EA3D5-CAF8-8966-3F30-C5F3B03864AE}"/>
                    </a:ext>
                  </a:extLst>
                </p:cNvPr>
                <p:cNvSpPr txBox="1"/>
                <p:nvPr/>
              </p:nvSpPr>
              <p:spPr>
                <a:xfrm>
                  <a:off x="5084156" y="1284515"/>
                  <a:ext cx="20236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smtClean="0">
                          <a:solidFill>
                            <a:prstClr val="black"/>
                          </a:solidFill>
                          <a:latin typeface="Latin-Modern-Math-Word" panose="02000503000000000000" pitchFamily="2" charset="0"/>
                          <a:ea typeface="Latin-Modern-Math-Word" panose="02000503000000000000" pitchFamily="2" charset="0"/>
                          <a:cs typeface="Latin-Modern-Math-Word" panose="02000503000000000000" pitchFamily="2" charset="0"/>
                        </a:rPr>
                        <m:t>ε</m:t>
                      </m:r>
                    </m:oMath>
                  </a14:m>
                  <a:r>
                    <a:rPr lang="en-US" sz="2400" dirty="0">
                      <a:solidFill>
                        <a:prstClr val="black"/>
                      </a:solidFill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 &lt; 0: Compressive</a:t>
                  </a:r>
                  <a:endParaRPr lang="th-TH" sz="20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50EA3D5-CAF8-8966-3F30-C5F3B0386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4156" y="1284515"/>
                  <a:ext cx="2023687" cy="461665"/>
                </a:xfrm>
                <a:prstGeom prst="rect">
                  <a:avLst/>
                </a:prstGeom>
                <a:blipFill>
                  <a:blip r:embed="rId9"/>
                  <a:stretch>
                    <a:fillRect t="-13158" r="-602" b="-26316"/>
                  </a:stretch>
                </a:blipFill>
              </p:spPr>
              <p:txBody>
                <a:bodyPr/>
                <a:lstStyle/>
                <a:p>
                  <a:r>
                    <a:rPr lang="th-TH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2CAE1C2-4193-D6B6-9F44-5549FEBA01AF}"/>
                </a:ext>
              </a:extLst>
            </p:cNvPr>
            <p:cNvGrpSpPr/>
            <p:nvPr/>
          </p:nvGrpSpPr>
          <p:grpSpPr>
            <a:xfrm rot="16200000">
              <a:off x="6408309" y="2884386"/>
              <a:ext cx="454849" cy="470753"/>
              <a:chOff x="5641151" y="1722448"/>
              <a:chExt cx="454849" cy="22547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C1CC113-95C0-CAA8-14B7-869ABCFB46C3}"/>
                  </a:ext>
                </a:extLst>
              </p:cNvPr>
              <p:cNvCxnSpPr/>
              <p:nvPr/>
            </p:nvCxnSpPr>
            <p:spPr>
              <a:xfrm>
                <a:off x="5641151" y="1722448"/>
                <a:ext cx="4548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2FF6BFBF-EFC9-0784-D9B9-C7049BC00D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1151" y="1726856"/>
                <a:ext cx="0" cy="2210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E6553B5-0F00-6343-940D-4E8DC924AF96}"/>
                </a:ext>
              </a:extLst>
            </p:cNvPr>
            <p:cNvGrpSpPr/>
            <p:nvPr/>
          </p:nvGrpSpPr>
          <p:grpSpPr>
            <a:xfrm rot="5400000" flipH="1">
              <a:off x="9525598" y="2899198"/>
              <a:ext cx="454849" cy="456689"/>
              <a:chOff x="5641151" y="1725160"/>
              <a:chExt cx="454849" cy="222759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2AD83F8-52EA-468E-6DDE-D2AF6611C2A5}"/>
                  </a:ext>
                </a:extLst>
              </p:cNvPr>
              <p:cNvCxnSpPr/>
              <p:nvPr/>
            </p:nvCxnSpPr>
            <p:spPr>
              <a:xfrm>
                <a:off x="5641151" y="1725160"/>
                <a:ext cx="4548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EBE536A8-69D0-3AE3-17E4-C1066C56E5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1151" y="1726856"/>
                <a:ext cx="0" cy="2210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458E78BE-5F67-0320-4686-11CE70D0B440}"/>
                </a:ext>
              </a:extLst>
            </p:cNvPr>
            <p:cNvSpPr/>
            <p:nvPr/>
          </p:nvSpPr>
          <p:spPr>
            <a:xfrm>
              <a:off x="6861288" y="3125564"/>
              <a:ext cx="2659328" cy="443244"/>
            </a:xfrm>
            <a:prstGeom prst="roundRect">
              <a:avLst>
                <a:gd name="adj" fmla="val 5293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000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Failure Criteria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C96E1E7-A4B4-0499-4F60-C7E21188D1E4}"/>
                </a:ext>
              </a:extLst>
            </p:cNvPr>
            <p:cNvCxnSpPr>
              <a:cxnSpLocks/>
            </p:cNvCxnSpPr>
            <p:nvPr/>
          </p:nvCxnSpPr>
          <p:spPr>
            <a:xfrm>
              <a:off x="8198651" y="3568808"/>
              <a:ext cx="0" cy="2210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6BF2C2D-9743-06F3-1206-E674D4CD1CE8}"/>
              </a:ext>
            </a:extLst>
          </p:cNvPr>
          <p:cNvSpPr/>
          <p:nvPr/>
        </p:nvSpPr>
        <p:spPr>
          <a:xfrm>
            <a:off x="5994730" y="4199304"/>
            <a:ext cx="4175121" cy="443244"/>
          </a:xfrm>
          <a:prstGeom prst="roundRect">
            <a:avLst>
              <a:gd name="adj" fmla="val 5293"/>
            </a:avLst>
          </a:prstGeom>
          <a:solidFill>
            <a:schemeClr val="accent3">
              <a:lumMod val="20000"/>
              <a:lumOff val="80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Transform stresses to Cartesian coordinates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C5A1FF9-AF1F-4DDF-8E96-A176C378FC48}"/>
              </a:ext>
            </a:extLst>
          </p:cNvPr>
          <p:cNvCxnSpPr>
            <a:cxnSpLocks/>
          </p:cNvCxnSpPr>
          <p:nvPr/>
        </p:nvCxnSpPr>
        <p:spPr>
          <a:xfrm>
            <a:off x="8206853" y="3991511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C579597-F809-5B0C-62DA-39CAE088ECAA}"/>
              </a:ext>
            </a:extLst>
          </p:cNvPr>
          <p:cNvSpPr/>
          <p:nvPr/>
        </p:nvSpPr>
        <p:spPr>
          <a:xfrm>
            <a:off x="6800118" y="3550004"/>
            <a:ext cx="2672856" cy="443244"/>
          </a:xfrm>
          <a:prstGeom prst="roundRect">
            <a:avLst>
              <a:gd name="adj" fmla="val 5293"/>
            </a:avLst>
          </a:prstGeom>
          <a:solidFill>
            <a:schemeClr val="accent3">
              <a:lumMod val="20000"/>
              <a:lumOff val="80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Compute residual stress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A252401-89B3-E59F-5ABE-1BAF9C72829B}"/>
              </a:ext>
            </a:extLst>
          </p:cNvPr>
          <p:cNvCxnSpPr>
            <a:cxnSpLocks/>
          </p:cNvCxnSpPr>
          <p:nvPr/>
        </p:nvCxnSpPr>
        <p:spPr>
          <a:xfrm>
            <a:off x="8193325" y="4663292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809D6C8-7568-51DA-7B5D-6F08F052F39F}"/>
              </a:ext>
            </a:extLst>
          </p:cNvPr>
          <p:cNvSpPr/>
          <p:nvPr/>
        </p:nvSpPr>
        <p:spPr>
          <a:xfrm>
            <a:off x="6450458" y="4871085"/>
            <a:ext cx="3512789" cy="443244"/>
          </a:xfrm>
          <a:prstGeom prst="roundRect">
            <a:avLst>
              <a:gd name="adj" fmla="val 5293"/>
            </a:avLst>
          </a:prstGeom>
          <a:solidFill>
            <a:schemeClr val="accent3">
              <a:lumMod val="20000"/>
              <a:lumOff val="80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Assemble global stiffness matrix </a:t>
            </a:r>
            <a:r>
              <a:rPr lang="en-US" sz="2400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KG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D48A06F-964A-EAB9-6236-717EB477EC2F}"/>
              </a:ext>
            </a:extLst>
          </p:cNvPr>
          <p:cNvCxnSpPr>
            <a:cxnSpLocks/>
          </p:cNvCxnSpPr>
          <p:nvPr/>
        </p:nvCxnSpPr>
        <p:spPr>
          <a:xfrm>
            <a:off x="8193325" y="5314329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7F858CA-4F12-B944-A8B4-B6B2030BDE78}"/>
              </a:ext>
            </a:extLst>
          </p:cNvPr>
          <p:cNvSpPr/>
          <p:nvPr/>
        </p:nvSpPr>
        <p:spPr>
          <a:xfrm>
            <a:off x="6212053" y="5539912"/>
            <a:ext cx="3957798" cy="443244"/>
          </a:xfrm>
          <a:prstGeom prst="roundRect">
            <a:avLst>
              <a:gd name="adj" fmla="val 5293"/>
            </a:avLst>
          </a:prstGeom>
          <a:solidFill>
            <a:schemeClr val="accent3">
              <a:lumMod val="20000"/>
              <a:lumOff val="80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Assemble global residual </a:t>
            </a:r>
            <a:r>
              <a:rPr lang="en-US" sz="2400" b="1" dirty="0" err="1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force_R_ForceG</a:t>
            </a:r>
            <a:endParaRPr lang="en-US" sz="2400" b="1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139DBF0-A1B0-7B32-4D4A-1DDAF1FC5C64}"/>
              </a:ext>
            </a:extLst>
          </p:cNvPr>
          <p:cNvCxnSpPr>
            <a:cxnSpLocks/>
          </p:cNvCxnSpPr>
          <p:nvPr/>
        </p:nvCxnSpPr>
        <p:spPr>
          <a:xfrm>
            <a:off x="8193325" y="5985551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EFE2DB6-4787-4DFE-051D-0569A156B43F}"/>
              </a:ext>
            </a:extLst>
          </p:cNvPr>
          <p:cNvSpPr/>
          <p:nvPr/>
        </p:nvSpPr>
        <p:spPr>
          <a:xfrm>
            <a:off x="7537929" y="6201321"/>
            <a:ext cx="1254221" cy="443244"/>
          </a:xfrm>
          <a:prstGeom prst="roundRect">
            <a:avLst>
              <a:gd name="adj" fmla="val 5293"/>
            </a:avLst>
          </a:prstGeom>
          <a:solidFill>
            <a:schemeClr val="accent3">
              <a:lumMod val="20000"/>
              <a:lumOff val="80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End loop</a:t>
            </a:r>
            <a:endParaRPr lang="en-US" sz="2400" b="1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59C30E7-EC6B-D9DF-5F3E-5852D99F9DF2}"/>
              </a:ext>
            </a:extLst>
          </p:cNvPr>
          <p:cNvCxnSpPr>
            <a:cxnSpLocks/>
          </p:cNvCxnSpPr>
          <p:nvPr/>
        </p:nvCxnSpPr>
        <p:spPr>
          <a:xfrm rot="16200000">
            <a:off x="8902681" y="6312411"/>
            <a:ext cx="0" cy="22106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928C3E8-A4FF-1A1A-9504-40899EC77C72}"/>
              </a:ext>
            </a:extLst>
          </p:cNvPr>
          <p:cNvSpPr/>
          <p:nvPr/>
        </p:nvSpPr>
        <p:spPr>
          <a:xfrm>
            <a:off x="9038817" y="6208739"/>
            <a:ext cx="2511193" cy="443244"/>
          </a:xfrm>
          <a:prstGeom prst="roundRect">
            <a:avLst>
              <a:gd name="adj" fmla="val 5293"/>
            </a:avLst>
          </a:prstGeom>
          <a:solidFill>
            <a:schemeClr val="accent3">
              <a:lumMod val="20000"/>
              <a:lumOff val="80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Output </a:t>
            </a:r>
            <a:r>
              <a:rPr lang="en-US" sz="2400" b="1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KG </a:t>
            </a:r>
            <a:r>
              <a:rPr lang="en-US" sz="24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and </a:t>
            </a:r>
            <a:r>
              <a:rPr lang="en-US" sz="2400" b="1" dirty="0" err="1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R_ForceG</a:t>
            </a:r>
            <a:endParaRPr lang="en-US" sz="2400" b="1" dirty="0">
              <a:solidFill>
                <a:schemeClr val="tx1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B2869BE-0B1D-843F-1063-A0B8BB453B43}"/>
              </a:ext>
            </a:extLst>
          </p:cNvPr>
          <p:cNvGrpSpPr/>
          <p:nvPr/>
        </p:nvGrpSpPr>
        <p:grpSpPr>
          <a:xfrm>
            <a:off x="1184983" y="4540296"/>
            <a:ext cx="3775322" cy="2104269"/>
            <a:chOff x="823555" y="4352882"/>
            <a:chExt cx="3775322" cy="2104269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20C83A0-EA69-2046-0A24-55EC392424DA}"/>
                </a:ext>
              </a:extLst>
            </p:cNvPr>
            <p:cNvGrpSpPr/>
            <p:nvPr/>
          </p:nvGrpSpPr>
          <p:grpSpPr>
            <a:xfrm>
              <a:off x="2272206" y="4543336"/>
              <a:ext cx="2326671" cy="1913815"/>
              <a:chOff x="1931865" y="4652562"/>
              <a:chExt cx="2326671" cy="1913815"/>
            </a:xfrm>
          </p:grpSpPr>
          <p:graphicFrame>
            <p:nvGraphicFramePr>
              <p:cNvPr id="62" name="Object 61">
                <a:extLst>
                  <a:ext uri="{FF2B5EF4-FFF2-40B4-BE49-F238E27FC236}">
                    <a16:creationId xmlns:a16="http://schemas.microsoft.com/office/drawing/2014/main" id="{C2BFCF60-0845-79F6-A6D2-ECD550E030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927678"/>
                  </p:ext>
                </p:extLst>
              </p:nvPr>
            </p:nvGraphicFramePr>
            <p:xfrm>
              <a:off x="1931865" y="4652562"/>
              <a:ext cx="2247900" cy="973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498320" imgH="647640" progId="Equation.DSMT4">
                      <p:embed/>
                    </p:oleObj>
                  </mc:Choice>
                  <mc:Fallback>
                    <p:oleObj name="Equation" r:id="rId10" imgW="1498320" imgH="6476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1931865" y="4652562"/>
                            <a:ext cx="2247900" cy="9731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3" name="Right Brace 62">
                <a:extLst>
                  <a:ext uri="{FF2B5EF4-FFF2-40B4-BE49-F238E27FC236}">
                    <a16:creationId xmlns:a16="http://schemas.microsoft.com/office/drawing/2014/main" id="{BB3E16DB-2B75-691E-2F51-1730111CBE6A}"/>
                  </a:ext>
                </a:extLst>
              </p:cNvPr>
              <p:cNvSpPr/>
              <p:nvPr/>
            </p:nvSpPr>
            <p:spPr>
              <a:xfrm rot="5400000">
                <a:off x="3176515" y="5104921"/>
                <a:ext cx="123873" cy="1163871"/>
              </a:xfrm>
              <a:prstGeom prst="rightBrace">
                <a:avLst>
                  <a:gd name="adj1" fmla="val 110833"/>
                  <a:gd name="adj2" fmla="val 50000"/>
                </a:avLst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D50B838-C4C9-5E83-395F-C3201675A481}"/>
                  </a:ext>
                </a:extLst>
              </p:cNvPr>
              <p:cNvSpPr txBox="1"/>
              <p:nvPr/>
            </p:nvSpPr>
            <p:spPr>
              <a:xfrm>
                <a:off x="2256354" y="5661649"/>
                <a:ext cx="19928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solidFill>
                      <a:srgbClr val="C00000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Principle coordinate </a:t>
                </a:r>
                <a:endParaRPr lang="th-TH" sz="2400" i="1" dirty="0">
                  <a:solidFill>
                    <a:srgbClr val="C000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65" name="Right Brace 64">
                <a:extLst>
                  <a:ext uri="{FF2B5EF4-FFF2-40B4-BE49-F238E27FC236}">
                    <a16:creationId xmlns:a16="http://schemas.microsoft.com/office/drawing/2014/main" id="{781B4E57-83B1-D5B7-441D-C409A8039E9B}"/>
                  </a:ext>
                </a:extLst>
              </p:cNvPr>
              <p:cNvSpPr/>
              <p:nvPr/>
            </p:nvSpPr>
            <p:spPr>
              <a:xfrm rot="5400000">
                <a:off x="3161323" y="5283739"/>
                <a:ext cx="103791" cy="1660548"/>
              </a:xfrm>
              <a:prstGeom prst="rightBrace">
                <a:avLst>
                  <a:gd name="adj1" fmla="val 110833"/>
                  <a:gd name="adj2" fmla="val 50000"/>
                </a:avLst>
              </a:prstGeom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17D401-8346-D0B9-E213-F13D9A16132B}"/>
                  </a:ext>
                </a:extLst>
              </p:cNvPr>
              <p:cNvSpPr txBox="1"/>
              <p:nvPr/>
            </p:nvSpPr>
            <p:spPr>
              <a:xfrm>
                <a:off x="2167899" y="6104712"/>
                <a:ext cx="20906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solidFill>
                      <a:srgbClr val="002060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Cartesian coordinate </a:t>
                </a:r>
                <a:endParaRPr lang="th-TH" sz="2400" i="1" dirty="0">
                  <a:solidFill>
                    <a:srgbClr val="002060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p:grp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AF1DEB7-353B-D08C-25FA-4EDB1BA6EFB4}"/>
                </a:ext>
              </a:extLst>
            </p:cNvPr>
            <p:cNvSpPr/>
            <p:nvPr/>
          </p:nvSpPr>
          <p:spPr>
            <a:xfrm>
              <a:off x="2719873" y="4849694"/>
              <a:ext cx="360000" cy="360000"/>
            </a:xfrm>
            <a:prstGeom prst="ellipse">
              <a:avLst/>
            </a:prstGeom>
            <a:solidFill>
              <a:srgbClr val="0099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825D8FA-3DDE-6A12-0A60-E860764195F1}"/>
                </a:ext>
              </a:extLst>
            </p:cNvPr>
            <p:cNvGrpSpPr/>
            <p:nvPr/>
          </p:nvGrpSpPr>
          <p:grpSpPr>
            <a:xfrm>
              <a:off x="2453414" y="4622573"/>
              <a:ext cx="454848" cy="227121"/>
              <a:chOff x="1782294" y="4622573"/>
              <a:chExt cx="454848" cy="227121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0D4E9FF2-9BF3-FE86-7C5A-6B71BC2DAB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8753" y="4628631"/>
                <a:ext cx="0" cy="2210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A1A023C1-CFBB-8CD3-EA6D-4821FE9F0EBC}"/>
                  </a:ext>
                </a:extLst>
              </p:cNvPr>
              <p:cNvCxnSpPr/>
              <p:nvPr/>
            </p:nvCxnSpPr>
            <p:spPr>
              <a:xfrm>
                <a:off x="1782294" y="4622573"/>
                <a:ext cx="45484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28094F3-68FE-F07C-978F-24219987F805}"/>
                </a:ext>
              </a:extLst>
            </p:cNvPr>
            <p:cNvSpPr txBox="1"/>
            <p:nvPr/>
          </p:nvSpPr>
          <p:spPr>
            <a:xfrm>
              <a:off x="823555" y="4352882"/>
              <a:ext cx="16866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66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Rotational matrix</a:t>
              </a:r>
              <a:endParaRPr lang="th-TH" sz="2400" i="1" dirty="0">
                <a:solidFill>
                  <a:srgbClr val="006600"/>
                </a:solidFill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D9040618-847B-8487-B56A-0464A26E7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094426"/>
              </p:ext>
            </p:extLst>
          </p:nvPr>
        </p:nvGraphicFramePr>
        <p:xfrm>
          <a:off x="9520616" y="3605850"/>
          <a:ext cx="1437750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440" imgH="203040" progId="Equation.DSMT4">
                  <p:embed/>
                </p:oleObj>
              </mc:Choice>
              <mc:Fallback>
                <p:oleObj name="Equation" r:id="rId12" imgW="901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20616" y="3605850"/>
                        <a:ext cx="1437750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B2EBE2A-44CE-8131-88A9-9F96AF457CCB}"/>
              </a:ext>
            </a:extLst>
          </p:cNvPr>
          <p:cNvCxnSpPr/>
          <p:nvPr/>
        </p:nvCxnSpPr>
        <p:spPr>
          <a:xfrm>
            <a:off x="1046480" y="418865"/>
            <a:ext cx="0" cy="6249035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55FECBF-6DD5-25AC-5AF4-B335FCEBB560}"/>
              </a:ext>
            </a:extLst>
          </p:cNvPr>
          <p:cNvSpPr txBox="1"/>
          <p:nvPr/>
        </p:nvSpPr>
        <p:spPr>
          <a:xfrm rot="16200000">
            <a:off x="-1688627" y="3445770"/>
            <a:ext cx="5022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All of them are presented in the iteration loop </a:t>
            </a:r>
            <a:endParaRPr lang="th-TH" b="1" i="1" dirty="0">
              <a:solidFill>
                <a:srgbClr val="0000FF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38147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0FCA2-1014-7B12-5406-71F80A26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ucrosiaUPC" panose="02020603050405020304" pitchFamily="18" charset="-34"/>
                <a:ea typeface="+mj-ea"/>
                <a:cs typeface="EucrosiaUPC" panose="02020603050405020304" pitchFamily="18" charset="-34"/>
              </a:rPr>
              <a:t>Nonlinear Dynamics Process: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ucrosiaUPC" panose="02020603050405020304" pitchFamily="18" charset="-34"/>
                <a:ea typeface="+mj-ea"/>
                <a:cs typeface="EucrosiaUPC" panose="02020603050405020304" pitchFamily="18" charset="-34"/>
              </a:rPr>
              <a:t>3D Element Displacement Calculation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4FEDFA-17A2-DDCC-C4C5-77511F53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27</a:t>
            </a:fld>
            <a:endParaRPr lang="th-TH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C771EA-9B49-6026-9EAF-0DB250EF7E2F}"/>
              </a:ext>
            </a:extLst>
          </p:cNvPr>
          <p:cNvGrpSpPr/>
          <p:nvPr/>
        </p:nvGrpSpPr>
        <p:grpSpPr>
          <a:xfrm>
            <a:off x="752282" y="1137306"/>
            <a:ext cx="10601518" cy="5475197"/>
            <a:chOff x="838200" y="3535367"/>
            <a:chExt cx="10601518" cy="547519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F9A5AC-3970-759E-CB87-2863CDC17407}"/>
                </a:ext>
              </a:extLst>
            </p:cNvPr>
            <p:cNvGrpSpPr/>
            <p:nvPr/>
          </p:nvGrpSpPr>
          <p:grpSpPr>
            <a:xfrm>
              <a:off x="838200" y="3535367"/>
              <a:ext cx="7322936" cy="5443015"/>
              <a:chOff x="699310" y="1540876"/>
              <a:chExt cx="7322936" cy="5443015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E7F3181-B385-BC09-8D9C-2F9BB4838CDC}"/>
                  </a:ext>
                </a:extLst>
              </p:cNvPr>
              <p:cNvGrpSpPr/>
              <p:nvPr/>
            </p:nvGrpSpPr>
            <p:grpSpPr>
              <a:xfrm>
                <a:off x="699310" y="1540876"/>
                <a:ext cx="7322936" cy="5443015"/>
                <a:chOff x="838199" y="4391955"/>
                <a:chExt cx="7322936" cy="5443015"/>
              </a:xfrm>
            </p:grpSpPr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CFAD1367-FB4A-9C8C-C861-01C8554EEF49}"/>
                    </a:ext>
                  </a:extLst>
                </p:cNvPr>
                <p:cNvSpPr/>
                <p:nvPr/>
              </p:nvSpPr>
              <p:spPr>
                <a:xfrm>
                  <a:off x="838200" y="4462753"/>
                  <a:ext cx="1982003" cy="415475"/>
                </a:xfrm>
                <a:prstGeom prst="roundRect">
                  <a:avLst/>
                </a:prstGeom>
                <a:solidFill>
                  <a:srgbClr val="712B8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MATLAB: </a:t>
                  </a:r>
                  <a:r>
                    <a:rPr lang="en-US" sz="2400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G2.m</a:t>
                  </a:r>
                  <a:endParaRPr lang="th-TH" sz="2400" dirty="0">
                    <a:latin typeface="FreesiaUPC" panose="020B0604020202020204" pitchFamily="34" charset="-34"/>
                    <a:cs typeface="FreesiaUPC" panose="020B0604020202020204" pitchFamily="34" charset="-34"/>
                  </a:endParaRPr>
                </a:p>
              </p:txBody>
            </p:sp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9DD9562B-E4A5-2257-39BA-38603C026B4E}"/>
                    </a:ext>
                  </a:extLst>
                </p:cNvPr>
                <p:cNvSpPr/>
                <p:nvPr/>
              </p:nvSpPr>
              <p:spPr>
                <a:xfrm>
                  <a:off x="838199" y="4787434"/>
                  <a:ext cx="7322936" cy="5047536"/>
                </a:xfrm>
                <a:prstGeom prst="roundRect">
                  <a:avLst>
                    <a:gd name="adj" fmla="val 1209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8575">
                  <a:solidFill>
                    <a:srgbClr val="712B8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A5C718E-220C-0053-1B8F-5A0A4382A5E3}"/>
                    </a:ext>
                  </a:extLst>
                </p:cNvPr>
                <p:cNvSpPr txBox="1"/>
                <p:nvPr/>
              </p:nvSpPr>
              <p:spPr>
                <a:xfrm>
                  <a:off x="2825249" y="4391955"/>
                  <a:ext cx="174759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(Line 315-339)</a:t>
                  </a:r>
                  <a:endParaRPr lang="th-TH" sz="2400" dirty="0">
                    <a:latin typeface="FreesiaUPC" panose="020B0604020202020204" pitchFamily="34" charset="-34"/>
                    <a:cs typeface="FreesiaUPC" panose="020B0604020202020204" pitchFamily="34" charset="-34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2ED51B-4224-D16C-98CA-BB5B43DC5AFD}"/>
                  </a:ext>
                </a:extLst>
              </p:cNvPr>
              <p:cNvSpPr txBox="1"/>
              <p:nvPr/>
            </p:nvSpPr>
            <p:spPr>
              <a:xfrm>
                <a:off x="719607" y="2027149"/>
                <a:ext cx="73026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sz="1400" b="0" i="0" dirty="0">
                  <a:effectLst/>
                  <a:latin typeface="Lucida Fax" panose="02060602050505020204" pitchFamily="18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0D4C6F-83F8-DF94-0F27-B95D06C9989A}"/>
                </a:ext>
              </a:extLst>
            </p:cNvPr>
            <p:cNvSpPr txBox="1"/>
            <p:nvPr/>
          </p:nvSpPr>
          <p:spPr>
            <a:xfrm>
              <a:off x="910063" y="3963028"/>
              <a:ext cx="10529655" cy="50475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Fax" panose="02060602050505020204" pitchFamily="18" charset="0"/>
                </a:rPr>
                <a:t>%% --------------3D Element Displacements Calculation---------------------</a:t>
              </a:r>
              <a:endParaRPr lang="en-US" sz="1400" b="0" i="0" dirty="0">
                <a:effectLst/>
                <a:latin typeface="Lucida Fax" panose="020606020505050202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E00FF"/>
                  </a:solidFill>
                  <a:effectLst/>
                  <a:latin typeface="Lucida Fax" panose="02060602050505020204" pitchFamily="18" charset="0"/>
                </a:rPr>
                <a:t>for 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eNo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 = 1:NE</a:t>
              </a:r>
            </a:p>
            <a:p>
              <a:pPr>
                <a:buNone/>
              </a:pP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temp = [];</a:t>
              </a:r>
            </a:p>
            <a:p>
              <a:pPr>
                <a:buNone/>
              </a:pPr>
              <a:r>
                <a:rPr lang="en-US" sz="1400" b="0" i="0" dirty="0">
                  <a:solidFill>
                    <a:srgbClr val="0E00FF"/>
                  </a:solidFill>
                  <a:effectLst/>
                  <a:latin typeface="Lucida Fax" panose="02060602050505020204" pitchFamily="18" charset="0"/>
                </a:rPr>
                <a:t>for 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j = 1:nN</a:t>
              </a:r>
            </a:p>
            <a:p>
              <a:pPr>
                <a:buNone/>
              </a:pP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temp = [temp; NODE(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ELEMCon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(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eNo,j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)).u];</a:t>
              </a:r>
            </a:p>
            <a:p>
              <a:pPr>
                <a:buNone/>
              </a:pPr>
              <a:r>
                <a:rPr lang="en-US" sz="1400" b="0" i="0" dirty="0">
                  <a:solidFill>
                    <a:srgbClr val="0E00FF"/>
                  </a:solidFill>
                  <a:effectLst/>
                  <a:latin typeface="Lucida Fax" panose="02060602050505020204" pitchFamily="18" charset="0"/>
                </a:rPr>
                <a:t>end</a:t>
              </a:r>
              <a:endParaRPr lang="en-US" sz="1400" b="0" i="0" dirty="0">
                <a:effectLst/>
                <a:latin typeface="Lucida Fax" panose="020606020505050202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ELEMENT(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eNo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).u = temp;</a:t>
              </a:r>
            </a:p>
            <a:p>
              <a:pPr>
                <a:buNone/>
              </a:pP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Strain = ELEMENT(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eNo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).B*ELEMENT(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eNo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).u; </a:t>
              </a:r>
            </a:p>
            <a:p>
              <a:pPr>
                <a:buNone/>
              </a:pP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StressCal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 = ELEMENT(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eNo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).D*Strain;</a:t>
              </a:r>
            </a:p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Fax" panose="02060602050505020204" pitchFamily="18" charset="0"/>
                </a:rPr>
                <a:t>%Tensor form:</a:t>
              </a:r>
              <a:endParaRPr lang="en-US" sz="1400" b="0" i="0" dirty="0">
                <a:effectLst/>
                <a:latin typeface="Lucida Fax" panose="02060602050505020204" pitchFamily="18" charset="0"/>
              </a:endParaRPr>
            </a:p>
            <a:p>
              <a:pPr>
                <a:buNone/>
              </a:pP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Strain_Tensor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 = [Strain(1) Strain(4)/2 Strain(6)/2; </a:t>
              </a:r>
            </a:p>
            <a:p>
              <a:pPr lvl="3"/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Strain(4)/2 Strain(2) Strain(5)/2;</a:t>
              </a:r>
            </a:p>
            <a:p>
              <a:pPr lvl="3"/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Strain(6)/2 Strain(5)/2 Strain(3)];</a:t>
              </a:r>
            </a:p>
            <a:p>
              <a:pPr lvl="3"/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ELEMENT(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eNo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).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Strain_Tensor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 = </a:t>
              </a:r>
              <a:r>
                <a:rPr lang="en-US" sz="1400" b="0" i="0" dirty="0" err="1">
                  <a:effectLst/>
                  <a:latin typeface="Lucida Fax" panose="02060602050505020204" pitchFamily="18" charset="0"/>
                </a:rPr>
                <a:t>Strain_Tensor</a:t>
              </a:r>
              <a:r>
                <a:rPr lang="en-US" sz="1400" b="0" i="0" dirty="0">
                  <a:effectLst/>
                  <a:latin typeface="Lucida Fax" panose="02060602050505020204" pitchFamily="18" charset="0"/>
                </a:rPr>
                <a:t>;</a:t>
              </a:r>
            </a:p>
            <a:p>
              <a:pPr>
                <a:buNone/>
              </a:pPr>
              <a:endParaRPr lang="en-US" sz="1400" b="0" i="0" dirty="0">
                <a:effectLst/>
                <a:latin typeface="Lucida Fax" panose="020606020505050202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%% ---------Eigen analysis for principal strains---------------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 Calculating Principal strains and Rotation vector by solving Eigen Equations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 R = Rotation Vector and </a:t>
              </a:r>
              <a:r>
                <a:rPr lang="en-US" sz="1400" b="0" i="0" dirty="0" err="1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P_Strain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 = Principal Strains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[V, P_S] =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eig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Strain_Tensor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);</a:t>
              </a: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R = V;</a:t>
              </a:r>
            </a:p>
            <a:p>
              <a:pPr>
                <a:buNone/>
              </a:pP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P_Strain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= [P_S(1,1);</a:t>
              </a:r>
            </a:p>
            <a:p>
              <a:pPr lvl="2"/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P_S(2,2);</a:t>
              </a:r>
            </a:p>
            <a:p>
              <a:pPr lvl="2"/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P_S(3,3)];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DD767F9-7031-84EE-475B-44E029148634}"/>
              </a:ext>
            </a:extLst>
          </p:cNvPr>
          <p:cNvSpPr/>
          <p:nvPr/>
        </p:nvSpPr>
        <p:spPr>
          <a:xfrm>
            <a:off x="845917" y="3714913"/>
            <a:ext cx="7143855" cy="965944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524F22-DF84-ACB0-B8D7-3155CF1303B0}"/>
              </a:ext>
            </a:extLst>
          </p:cNvPr>
          <p:cNvGrpSpPr/>
          <p:nvPr/>
        </p:nvGrpSpPr>
        <p:grpSpPr>
          <a:xfrm>
            <a:off x="8126784" y="2942038"/>
            <a:ext cx="3089191" cy="2127095"/>
            <a:chOff x="7973461" y="2863164"/>
            <a:chExt cx="3089191" cy="212709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7F01535-30AA-127F-0663-8F9992932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701" r="34656"/>
            <a:stretch/>
          </p:blipFill>
          <p:spPr>
            <a:xfrm>
              <a:off x="8197351" y="3262259"/>
              <a:ext cx="2777815" cy="17280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646C5B-8C05-A40C-0917-906E02585C93}"/>
                </a:ext>
              </a:extLst>
            </p:cNvPr>
            <p:cNvSpPr txBox="1"/>
            <p:nvPr/>
          </p:nvSpPr>
          <p:spPr>
            <a:xfrm>
              <a:off x="7973461" y="2863164"/>
              <a:ext cx="30891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FreesiaUPC" panose="020B0604020202020204" pitchFamily="34" charset="-34"/>
                  <a:cs typeface="FreesiaUPC" panose="020B0604020202020204" pitchFamily="34" charset="-34"/>
                </a:rPr>
                <a:t>Strain tensor construction </a:t>
              </a:r>
              <a:endParaRPr lang="th-TH" b="1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CAA33D3-38E5-9DC4-1561-3A157D4C091F}"/>
              </a:ext>
            </a:extLst>
          </p:cNvPr>
          <p:cNvSpPr txBox="1"/>
          <p:nvPr/>
        </p:nvSpPr>
        <p:spPr>
          <a:xfrm>
            <a:off x="8153823" y="5250382"/>
            <a:ext cx="386400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FreesiaUPC" panose="020B0604020202020204" pitchFamily="34" charset="-34"/>
                <a:ea typeface="Latin-Modern-Math-Word" panose="02000503000000000000" pitchFamily="2" charset="0"/>
                <a:cs typeface="FreesiaUPC" panose="020B0604020202020204" pitchFamily="34" charset="-34"/>
              </a:rPr>
              <a:t>Eigen analysis for principal strains</a:t>
            </a:r>
          </a:p>
          <a:p>
            <a:r>
              <a:rPr lang="en-US" sz="1800">
                <a:latin typeface="LM Roman 10" panose="00000500000000000000" pitchFamily="50" charset="0"/>
              </a:rPr>
              <a:t>V </a:t>
            </a:r>
            <a:r>
              <a:rPr lang="en-US" sz="1800" dirty="0">
                <a:latin typeface="LM Roman 10" panose="00000500000000000000" pitchFamily="50" charset="0"/>
              </a:rPr>
              <a:t>= R = Rotation matrix</a:t>
            </a:r>
          </a:p>
          <a:p>
            <a:r>
              <a:rPr lang="en-US" sz="1800" dirty="0">
                <a:latin typeface="LM Roman 10" panose="00000500000000000000" pitchFamily="50" charset="0"/>
              </a:rPr>
              <a:t>P_S = Principal strains in diagonal</a:t>
            </a:r>
            <a:endParaRPr lang="th-TH" sz="1800" dirty="0">
              <a:latin typeface="LM Roman 1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645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588B-A536-D49B-9532-934B668F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Failure Criteria for Brittle Materials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98BA41-B75B-CCF1-9756-A330591E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28</a:t>
            </a:fld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6AEF4-D30D-8EB4-4B4F-3B1D9836514A}"/>
              </a:ext>
            </a:extLst>
          </p:cNvPr>
          <p:cNvSpPr txBox="1"/>
          <p:nvPr/>
        </p:nvSpPr>
        <p:spPr>
          <a:xfrm>
            <a:off x="695999" y="1580680"/>
            <a:ext cx="11674677" cy="321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Brittle Materials (Fracture Mechanics)</a:t>
            </a:r>
          </a:p>
          <a:p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Assumption</a:t>
            </a:r>
          </a:p>
          <a:p>
            <a:pPr lvl="1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1. Isotropic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	: </a:t>
            </a:r>
            <a:r>
              <a:rPr lang="en-US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The material’s properties (e.g., strength, stiffness) are the same in all directions.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2. Homogeneous	</a:t>
            </a:r>
            <a:r>
              <a:rPr lang="en-US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 The material’s properties are uniform throughout its volume.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</a:pPr>
            <a:endParaRPr lang="en-US" sz="1100" b="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Therefore, the </a:t>
            </a: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failure criteria for </a:t>
            </a:r>
            <a:r>
              <a:rPr lang="en-US" b="1" i="1" u="sng" dirty="0">
                <a:latin typeface="FreesiaUPC" panose="020B0604020202020204" pitchFamily="34" charset="-34"/>
                <a:cs typeface="FreesiaUPC" panose="020B0604020202020204" pitchFamily="34" charset="-34"/>
              </a:rPr>
              <a:t>isotropic materials</a:t>
            </a: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is:</a:t>
            </a:r>
            <a:endParaRPr lang="en-US" b="1" i="1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A35738-EE04-8677-10EA-99B6A4BC563D}"/>
              </a:ext>
            </a:extLst>
          </p:cNvPr>
          <p:cNvSpPr txBox="1"/>
          <p:nvPr/>
        </p:nvSpPr>
        <p:spPr>
          <a:xfrm>
            <a:off x="635039" y="6457890"/>
            <a:ext cx="8645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FreesiaUPC" panose="020B0604020202020204" pitchFamily="34" charset="-34"/>
                <a:cs typeface="FreesiaUPC" panose="020B0604020202020204" pitchFamily="34" charset="-34"/>
              </a:rPr>
              <a:t>(Reference: Mechanical_Behavior_of_Materials_5th_Edition_Dowling_Kampe_Kral)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7FA2BF-8BF8-7F73-5841-8F05A70C9CD0}"/>
                  </a:ext>
                </a:extLst>
              </p:cNvPr>
              <p:cNvSpPr txBox="1"/>
              <p:nvPr/>
            </p:nvSpPr>
            <p:spPr>
              <a:xfrm>
                <a:off x="696001" y="4905012"/>
                <a:ext cx="10799999" cy="878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thaiDist">
                  <a:lnSpc>
                    <a:spcPct val="90000"/>
                  </a:lnSpc>
                  <a:spcBef>
                    <a:spcPts val="1000"/>
                  </a:spcBef>
                  <a:defRPr/>
                </a:pPr>
                <a:r>
                  <a:rPr kumimoji="0" lang="en-US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kumimoji="0" lang="en-US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are the </a:t>
                </a:r>
                <a:r>
                  <a:rPr kumimoji="0" lang="en-US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principal stresses </a:t>
                </a:r>
                <a:r>
                  <a:rPr kumimoji="0" lang="en-US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and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is</a:t>
                </a:r>
                <a:r>
                  <a:rPr kumimoji="0" lang="en-US" b="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kumimoji="0" lang="en-US" b="1" i="1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critical stress </a:t>
                </a:r>
                <a:r>
                  <a:rPr kumimoji="0" lang="en-US" b="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which failure occur. If the function </a:t>
                </a:r>
                <a:r>
                  <a:rPr kumimoji="0" lang="en-US" b="1" i="1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f</a:t>
                </a:r>
                <a:r>
                  <a:rPr kumimoji="0" lang="en-US" b="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reaches </a:t>
                </a:r>
                <a:r>
                  <a:rPr kumimoji="0" lang="en-US" b="1" i="1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material strength limit</a:t>
                </a:r>
                <a:r>
                  <a:rPr kumimoji="0" lang="en-US" b="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, failure occurs: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7FA2BF-8BF8-7F73-5841-8F05A70C9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1" y="4905012"/>
                <a:ext cx="10799999" cy="878702"/>
              </a:xfrm>
              <a:prstGeom prst="rect">
                <a:avLst/>
              </a:prstGeom>
              <a:blipFill>
                <a:blip r:embed="rId3"/>
                <a:stretch>
                  <a:fillRect l="-1129" t="-11111" r="-1862" b="-18750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7E8F91-8901-A59F-33EB-99E00D0FDFE8}"/>
                  </a:ext>
                </a:extLst>
              </p:cNvPr>
              <p:cNvSpPr txBox="1"/>
              <p:nvPr/>
            </p:nvSpPr>
            <p:spPr>
              <a:xfrm>
                <a:off x="5223639" y="4323543"/>
                <a:ext cx="2504400" cy="4616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0" lang="en-US" sz="240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th-TH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7E8F91-8901-A59F-33EB-99E00D0FD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639" y="4323543"/>
                <a:ext cx="2504400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7C56AC-4A6D-C4E8-9069-AEFEE8F7B9CC}"/>
                  </a:ext>
                </a:extLst>
              </p:cNvPr>
              <p:cNvSpPr txBox="1"/>
              <p:nvPr/>
            </p:nvSpPr>
            <p:spPr>
              <a:xfrm>
                <a:off x="5223640" y="5834902"/>
                <a:ext cx="2504399" cy="4616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0" lang="en-US" sz="240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eesiaUPC" panose="020B0604020202020204" pitchFamily="34" charset="-34"/>
                    <a:cs typeface="FreesiaUPC" panose="020B0604020202020204" pitchFamily="34" charset="-34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th-TH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7C56AC-4A6D-C4E8-9069-AEFEE8F7B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640" y="5834902"/>
                <a:ext cx="2504399" cy="461665"/>
              </a:xfrm>
              <a:prstGeom prst="rect">
                <a:avLst/>
              </a:prstGeom>
              <a:blipFill>
                <a:blip r:embed="rId5"/>
                <a:stretch>
                  <a:fillRect t="-10526" r="-6569" b="-28947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C1806080-C650-93E4-4003-DD7E1A783392}"/>
              </a:ext>
            </a:extLst>
          </p:cNvPr>
          <p:cNvSpPr/>
          <p:nvPr/>
        </p:nvSpPr>
        <p:spPr>
          <a:xfrm>
            <a:off x="7185917" y="5793392"/>
            <a:ext cx="504000" cy="504000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6E277A5-4A0D-29EF-0842-F1448D946400}"/>
                  </a:ext>
                </a:extLst>
              </p:cNvPr>
              <p:cNvSpPr txBox="1"/>
              <p:nvPr/>
            </p:nvSpPr>
            <p:spPr>
              <a:xfrm>
                <a:off x="7089397" y="6271202"/>
                <a:ext cx="23080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solidFill>
                      <a:srgbClr val="C00000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Material strength </a:t>
                </a:r>
                <a:r>
                  <a:rPr lang="en-US" sz="2000" dirty="0">
                    <a:solidFill>
                      <a:srgbClr val="C00000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 b="0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000" b="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)  </a:t>
                </a:r>
                <a:endParaRPr lang="th-TH" sz="2400" dirty="0">
                  <a:solidFill>
                    <a:srgbClr val="C000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6E277A5-4A0D-29EF-0842-F1448D946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397" y="6271202"/>
                <a:ext cx="2308068" cy="461665"/>
              </a:xfrm>
              <a:prstGeom prst="rect">
                <a:avLst/>
              </a:prstGeom>
              <a:blipFill>
                <a:blip r:embed="rId6"/>
                <a:stretch>
                  <a:fillRect l="-4222" t="-10667" r="-1583" b="-30667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89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729C-6DBC-122B-6B35-39F9228D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CA0B-31BE-426D-848B-A083A00C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Failure Criteria for Brittle Materials</a:t>
            </a:r>
            <a:br>
              <a:rPr lang="en-US" dirty="0"/>
            </a:br>
            <a:r>
              <a:rPr lang="en-US" b="0" dirty="0"/>
              <a:t>Maximum Normal Stress Fracture Criterion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23DE9B-0CD5-4F77-1393-56CC550A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29</a:t>
            </a:fld>
            <a:endParaRPr lang="th-T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56E473-5B77-7434-DA73-12B330D88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66" y="4430095"/>
            <a:ext cx="5237176" cy="24090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C92218-E4EC-C709-0C0B-67D379B06D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03" t="5244" r="4542"/>
          <a:stretch/>
        </p:blipFill>
        <p:spPr>
          <a:xfrm>
            <a:off x="7625039" y="3863957"/>
            <a:ext cx="3870960" cy="27548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BEED7E-7F4C-8A14-539F-99AF077EBA4A}"/>
                  </a:ext>
                </a:extLst>
              </p:cNvPr>
              <p:cNvSpPr txBox="1"/>
              <p:nvPr/>
            </p:nvSpPr>
            <p:spPr>
              <a:xfrm>
                <a:off x="696000" y="1602271"/>
                <a:ext cx="10799999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Maximum Normal Stress for </a:t>
                </a:r>
                <a:r>
                  <a:rPr lang="en-US" b="1" i="1" dirty="0">
                    <a:solidFill>
                      <a:srgbClr val="006600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Brittle Materials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	A simplified assumption is that failure occurs when the maximum absolute principal stress reaches the material’s ultimate strength </a:t>
                </a:r>
              </a:p>
              <a:p>
                <a:r>
                  <a:rPr lang="en-US" b="1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Assumption: 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The </a:t>
                </a:r>
                <a:r>
                  <a:rPr lang="en-US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material has equal strength in tension and compression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r>
                  <a:rPr lang="en-US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>
                    <a:latin typeface="FreesiaUPC" panose="020B0604020202020204" pitchFamily="34" charset="-34"/>
                    <a:cs typeface="FreesiaUPC" panose="020B0604020202020204" pitchFamily="34" charset="-34"/>
                  </a:rPr>
                  <a:t> </a:t>
                </a:r>
                <a:endParaRPr lang="en-US" dirty="0">
                  <a:solidFill>
                    <a:schemeClr val="tx1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BEED7E-7F4C-8A14-539F-99AF077EB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602271"/>
                <a:ext cx="10799999" cy="1815882"/>
              </a:xfrm>
              <a:prstGeom prst="rect">
                <a:avLst/>
              </a:prstGeom>
              <a:blipFill>
                <a:blip r:embed="rId4"/>
                <a:stretch>
                  <a:fillRect l="-1129" t="-4027" b="-8725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B2CB9908-3771-8007-68DC-4773C64686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910675"/>
              </p:ext>
            </p:extLst>
          </p:nvPr>
        </p:nvGraphicFramePr>
        <p:xfrm>
          <a:off x="2455363" y="3494095"/>
          <a:ext cx="4750200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77960" imgH="507960" progId="Equation.DSMT4">
                  <p:embed/>
                </p:oleObj>
              </mc:Choice>
              <mc:Fallback>
                <p:oleObj name="Equation" r:id="rId5" imgW="25779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5363" y="3494095"/>
                        <a:ext cx="4750200" cy="93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544D12-5017-3B58-42CD-FE864628C968}"/>
              </a:ext>
            </a:extLst>
          </p:cNvPr>
          <p:cNvSpPr/>
          <p:nvPr/>
        </p:nvSpPr>
        <p:spPr>
          <a:xfrm rot="20733348">
            <a:off x="344478" y="3527091"/>
            <a:ext cx="2252852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Unqualified for concrete</a:t>
            </a:r>
            <a:endParaRPr lang="th-TH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16" name="Arrow: Notched Right 15">
            <a:extLst>
              <a:ext uri="{FF2B5EF4-FFF2-40B4-BE49-F238E27FC236}">
                <a16:creationId xmlns:a16="http://schemas.microsoft.com/office/drawing/2014/main" id="{4EDE2E7B-77ED-101B-D8E7-3786BB0B3353}"/>
              </a:ext>
            </a:extLst>
          </p:cNvPr>
          <p:cNvSpPr/>
          <p:nvPr/>
        </p:nvSpPr>
        <p:spPr>
          <a:xfrm>
            <a:off x="9413200" y="1602271"/>
            <a:ext cx="2600959" cy="548640"/>
          </a:xfrm>
          <a:prstGeom prst="notchedRightArrow">
            <a:avLst>
              <a:gd name="adj1" fmla="val 50000"/>
              <a:gd name="adj2" fmla="val 44444"/>
            </a:avLst>
          </a:prstGeom>
          <a:solidFill>
            <a:srgbClr val="00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Used in this project</a:t>
            </a:r>
            <a:endParaRPr lang="th-TH" b="1" i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71919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0057F-4844-FA5F-BCDF-BFDF195E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47853-00EA-8696-327C-5853E1DA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ucrosiaUPC" panose="02020603050405020304" pitchFamily="18" charset="-34"/>
                <a:ea typeface="+mj-ea"/>
                <a:cs typeface="EucrosiaUPC" panose="02020603050405020304" pitchFamily="18" charset="-34"/>
              </a:rPr>
              <a:t>Nonlinear Dynamics Process: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ucrosiaUPC" panose="02020603050405020304" pitchFamily="18" charset="-34"/>
                <a:ea typeface="+mj-ea"/>
                <a:cs typeface="EucrosiaUPC" panose="02020603050405020304" pitchFamily="18" charset="-34"/>
              </a:rPr>
              <a:t>Actual Principal Strains and Stresses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E63557-0C1C-2AD8-B21A-56674A49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30</a:t>
            </a:fld>
            <a:endParaRPr lang="th-TH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23B3DB-BF58-0A67-7909-352A5814D8C7}"/>
              </a:ext>
            </a:extLst>
          </p:cNvPr>
          <p:cNvGrpSpPr/>
          <p:nvPr/>
        </p:nvGrpSpPr>
        <p:grpSpPr>
          <a:xfrm>
            <a:off x="752280" y="1180850"/>
            <a:ext cx="11310766" cy="5475197"/>
            <a:chOff x="838198" y="3535367"/>
            <a:chExt cx="11310766" cy="547519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A2DD7EC-4D96-C475-2F94-CBBB9FF91145}"/>
                </a:ext>
              </a:extLst>
            </p:cNvPr>
            <p:cNvGrpSpPr/>
            <p:nvPr/>
          </p:nvGrpSpPr>
          <p:grpSpPr>
            <a:xfrm>
              <a:off x="838198" y="3535367"/>
              <a:ext cx="10743719" cy="5395154"/>
              <a:chOff x="699308" y="1540876"/>
              <a:chExt cx="10743719" cy="5395154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DE28C99-7957-A79D-DCFF-B0090B49FE12}"/>
                  </a:ext>
                </a:extLst>
              </p:cNvPr>
              <p:cNvGrpSpPr/>
              <p:nvPr/>
            </p:nvGrpSpPr>
            <p:grpSpPr>
              <a:xfrm>
                <a:off x="699308" y="1540876"/>
                <a:ext cx="10743719" cy="5395154"/>
                <a:chOff x="838197" y="4391955"/>
                <a:chExt cx="10743719" cy="5395154"/>
              </a:xfrm>
            </p:grpSpPr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C82BC2E1-DCCE-2F3B-BFED-7B0175104285}"/>
                    </a:ext>
                  </a:extLst>
                </p:cNvPr>
                <p:cNvSpPr/>
                <p:nvPr/>
              </p:nvSpPr>
              <p:spPr>
                <a:xfrm>
                  <a:off x="838200" y="4462753"/>
                  <a:ext cx="1982003" cy="415475"/>
                </a:xfrm>
                <a:prstGeom prst="roundRect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MATLAB: </a:t>
                  </a:r>
                  <a:r>
                    <a:rPr lang="en-US" sz="2400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G2.m</a:t>
                  </a:r>
                  <a:endParaRPr lang="th-TH" sz="2400" dirty="0">
                    <a:latin typeface="FreesiaUPC" panose="020B0604020202020204" pitchFamily="34" charset="-34"/>
                    <a:cs typeface="FreesiaUPC" panose="020B0604020202020204" pitchFamily="34" charset="-34"/>
                  </a:endParaRPr>
                </a:p>
              </p:txBody>
            </p:sp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80267D74-D4F0-C272-34FC-FC33B990C154}"/>
                    </a:ext>
                  </a:extLst>
                </p:cNvPr>
                <p:cNvSpPr/>
                <p:nvPr/>
              </p:nvSpPr>
              <p:spPr>
                <a:xfrm>
                  <a:off x="838197" y="4787435"/>
                  <a:ext cx="10743719" cy="4999674"/>
                </a:xfrm>
                <a:prstGeom prst="roundRect">
                  <a:avLst>
                    <a:gd name="adj" fmla="val 1209"/>
                  </a:avLst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6E7AE52-BCC3-19C4-9514-C2EA1AF25568}"/>
                    </a:ext>
                  </a:extLst>
                </p:cNvPr>
                <p:cNvSpPr txBox="1"/>
                <p:nvPr/>
              </p:nvSpPr>
              <p:spPr>
                <a:xfrm>
                  <a:off x="2825249" y="4391955"/>
                  <a:ext cx="18473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th-TH" sz="2400" dirty="0">
                    <a:latin typeface="FreesiaUPC" panose="020B0604020202020204" pitchFamily="34" charset="-34"/>
                    <a:cs typeface="FreesiaUPC" panose="020B0604020202020204" pitchFamily="34" charset="-34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85FC76-A836-A321-08D7-9DD307B07A7E}"/>
                  </a:ext>
                </a:extLst>
              </p:cNvPr>
              <p:cNvSpPr txBox="1"/>
              <p:nvPr/>
            </p:nvSpPr>
            <p:spPr>
              <a:xfrm>
                <a:off x="719607" y="2027149"/>
                <a:ext cx="73026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sz="1400" b="0" i="0" dirty="0">
                  <a:effectLst/>
                  <a:latin typeface="Lucida Fax" panose="02060602050505020204" pitchFamily="18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67126F-B58D-515E-D5F0-C59FABABD963}"/>
                </a:ext>
              </a:extLst>
            </p:cNvPr>
            <p:cNvSpPr txBox="1"/>
            <p:nvPr/>
          </p:nvSpPr>
          <p:spPr>
            <a:xfrm>
              <a:off x="910063" y="3963028"/>
              <a:ext cx="11238901" cy="50475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%% ---Actual Principal strains, stresses for each element-------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for 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j = 1:3 </a:t>
              </a:r>
            </a:p>
            <a:p>
              <a:pPr lvl="1"/>
              <a:r>
                <a:rPr lang="en-US" sz="14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if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P_Strain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(j)&lt; 0 </a:t>
              </a:r>
            </a:p>
            <a:p>
              <a:pPr lvl="1"/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	[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(j)] =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GetStressHDCompression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).E,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SigmaMax_C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, abs(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P_Strain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(j))); 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 Compression stress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 lvl="1"/>
              <a:r>
                <a:rPr lang="en-US" sz="14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else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	[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(j)] = 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).E*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P_Strain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(j); 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%tension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end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dirty="0">
                  <a:latin typeface="Lucida Bright" panose="02040602050505020304" pitchFamily="18" charset="0"/>
                </a:rPr>
                <a:t>	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Act_P_Stress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(j) =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(j) * sign(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P_Strain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(j)); 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 Apply sign convention for stress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%% ------------------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highlight>
                    <a:srgbClr val="FFFF00"/>
                  </a:highlight>
                  <a:latin typeface="Lucida Bright" panose="02040602050505020304" pitchFamily="18" charset="0"/>
                </a:rPr>
                <a:t>Failure criteria-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----------------------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Act_P_Stress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=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Act_P_Stress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';</a:t>
              </a:r>
            </a:p>
            <a:p>
              <a:pPr>
                <a:buNone/>
              </a:pPr>
              <a:r>
                <a:rPr lang="en-US" sz="14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end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%for the HD model, the concrete stress will not</a:t>
              </a:r>
              <a:r>
                <a:rPr lang="en-US" sz="1400" dirty="0">
                  <a:latin typeface="Lucida Bright" panose="02040602050505020304" pitchFamily="18" charset="0"/>
                </a:rPr>
                <a:t> 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reach maximum compressive stress level so, only checking for tension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if 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any(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Act_P_Stress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&gt;=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SigmaMax_T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 </a:t>
              </a: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	fail = [fail; 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INC];</a:t>
              </a: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	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disp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</a:t>
              </a:r>
              <a:r>
                <a:rPr lang="en-US" sz="1400" b="0" i="0" dirty="0">
                  <a:solidFill>
                    <a:srgbClr val="A709F5"/>
                  </a:solidFill>
                  <a:effectLst/>
                  <a:latin typeface="Lucida Bright" panose="02040602050505020304" pitchFamily="18" charset="0"/>
                </a:rPr>
                <a:t>"Element "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+num2str(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)+</a:t>
              </a:r>
              <a:r>
                <a:rPr lang="en-US" sz="1400" b="0" i="0" dirty="0">
                  <a:solidFill>
                    <a:srgbClr val="A709F5"/>
                  </a:solidFill>
                  <a:effectLst/>
                  <a:latin typeface="Lucida Bright" panose="02040602050505020304" pitchFamily="18" charset="0"/>
                </a:rPr>
                <a:t>" failed in tension at prescribed </a:t>
              </a:r>
              <a:r>
                <a:rPr lang="en-US" sz="1400" b="0" i="0" dirty="0" err="1">
                  <a:solidFill>
                    <a:srgbClr val="A709F5"/>
                  </a:solidFill>
                  <a:effectLst/>
                  <a:latin typeface="Lucida Bright" panose="02040602050505020304" pitchFamily="18" charset="0"/>
                </a:rPr>
                <a:t>displacment</a:t>
              </a:r>
              <a:r>
                <a:rPr lang="en-US" sz="1400" b="0" i="0" dirty="0">
                  <a:solidFill>
                    <a:srgbClr val="A709F5"/>
                  </a:solidFill>
                  <a:effectLst/>
                  <a:latin typeface="Lucida Bright" panose="02040602050505020304" pitchFamily="18" charset="0"/>
                </a:rPr>
                <a:t> of "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+num2str(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applied_d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(INC)*INC)+</a:t>
              </a:r>
              <a:r>
                <a:rPr lang="en-US" sz="1400" b="0" i="0" dirty="0">
                  <a:solidFill>
                    <a:srgbClr val="A709F5"/>
                  </a:solidFill>
                  <a:effectLst/>
                  <a:latin typeface="Lucida Bright" panose="02040602050505020304" pitchFamily="18" charset="0"/>
                </a:rPr>
                <a:t>" at 	step "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+num2str(INC)+ </a:t>
              </a:r>
              <a:r>
                <a:rPr lang="en-US" sz="1400" b="0" i="0" dirty="0">
                  <a:solidFill>
                    <a:srgbClr val="A709F5"/>
                  </a:solidFill>
                  <a:effectLst/>
                  <a:latin typeface="Lucida Bright" panose="02040602050505020304" pitchFamily="18" charset="0"/>
                </a:rPr>
                <a:t>"."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); </a:t>
              </a:r>
            </a:p>
            <a:p>
              <a:pPr>
                <a:buNone/>
              </a:pP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%1. Remove the element</a:t>
              </a:r>
              <a:r>
                <a:rPr lang="en-US" sz="1400" dirty="0">
                  <a:latin typeface="Lucida Bright" panose="02040602050505020304" pitchFamily="18" charset="0"/>
                </a:rPr>
                <a:t> </a:t>
              </a:r>
              <a:r>
                <a:rPr lang="en-US" sz="14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2. Reduce the stiffness (we use this approach)</a:t>
              </a: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).E = 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).E/10000000;</a:t>
              </a: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).stiffness = 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).stiffness/10000000; </a:t>
              </a:r>
            </a:p>
            <a:p>
              <a:pPr>
                <a:buNone/>
              </a:pPr>
              <a:r>
                <a:rPr lang="en-US" sz="14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End</a:t>
              </a:r>
            </a:p>
            <a:p>
              <a:pPr>
                <a:buNone/>
              </a:pPr>
              <a:endParaRPr lang="en-US" sz="14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Residual_P_Stress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= 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Cal_P_Stress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 - ELEMENT(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).</a:t>
              </a:r>
              <a:r>
                <a:rPr lang="en-US" sz="1400" b="0" i="0" dirty="0" err="1">
                  <a:effectLst/>
                  <a:latin typeface="Lucida Bright" panose="02040602050505020304" pitchFamily="18" charset="0"/>
                </a:rPr>
                <a:t>Act_P_Stress</a:t>
              </a:r>
              <a:r>
                <a:rPr lang="en-US" sz="1400" b="0" i="0" dirty="0">
                  <a:effectLst/>
                  <a:latin typeface="Lucida Bright" panose="02040602050505020304" pitchFamily="18" charset="0"/>
                </a:rPr>
                <a:t>;</a:t>
              </a:r>
            </a:p>
            <a:p>
              <a:endParaRPr lang="en-US" sz="1400" b="0" i="0" dirty="0">
                <a:effectLst/>
                <a:latin typeface="Lucida Bright" panose="02040602050505020304" pitchFamily="18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F53153A-B5FA-8FA4-8B47-F5B3E4145FD2}"/>
              </a:ext>
            </a:extLst>
          </p:cNvPr>
          <p:cNvSpPr txBox="1"/>
          <p:nvPr/>
        </p:nvSpPr>
        <p:spPr>
          <a:xfrm rot="21052483">
            <a:off x="7747915" y="5037534"/>
            <a:ext cx="2869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Reducing the stiffness </a:t>
            </a:r>
          </a:p>
          <a:p>
            <a:pPr algn="ctr"/>
            <a:r>
              <a:rPr lang="en-US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for failed elements </a:t>
            </a:r>
            <a:endParaRPr lang="th-TH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B44200C-112A-298F-3883-E6196FDD4922}"/>
              </a:ext>
            </a:extLst>
          </p:cNvPr>
          <p:cNvCxnSpPr/>
          <p:nvPr/>
        </p:nvCxnSpPr>
        <p:spPr>
          <a:xfrm>
            <a:off x="3140765" y="5732890"/>
            <a:ext cx="298337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417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D58CD-2341-0042-3638-F0739086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31A6-E126-F82F-AAAC-3C96AA1AE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ucrosiaUPC" panose="02020603050405020304" pitchFamily="18" charset="-34"/>
                <a:ea typeface="+mj-ea"/>
                <a:cs typeface="EucrosiaUPC" panose="02020603050405020304" pitchFamily="18" charset="-34"/>
              </a:rPr>
              <a:t>Nonlinear Dynamics Process: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ucrosiaUPC" panose="02020603050405020304" pitchFamily="18" charset="-34"/>
                <a:ea typeface="+mj-ea"/>
                <a:cs typeface="EucrosiaUPC" panose="02020603050405020304" pitchFamily="18" charset="-34"/>
              </a:rPr>
              <a:t>Residual Stress in Cartesian Coordinates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7BF065-59DD-4557-597E-18EF2A80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31</a:t>
            </a:fld>
            <a:endParaRPr lang="th-TH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04D345-D104-F9D1-1937-DAB07B03BDB2}"/>
              </a:ext>
            </a:extLst>
          </p:cNvPr>
          <p:cNvGrpSpPr/>
          <p:nvPr/>
        </p:nvGrpSpPr>
        <p:grpSpPr>
          <a:xfrm>
            <a:off x="752281" y="1180850"/>
            <a:ext cx="10601519" cy="5198198"/>
            <a:chOff x="838199" y="3535367"/>
            <a:chExt cx="10601519" cy="519819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926FB74-18A0-C4E4-8B8A-7C2A7D7EA871}"/>
                </a:ext>
              </a:extLst>
            </p:cNvPr>
            <p:cNvGrpSpPr/>
            <p:nvPr/>
          </p:nvGrpSpPr>
          <p:grpSpPr>
            <a:xfrm>
              <a:off x="838199" y="3535367"/>
              <a:ext cx="7406981" cy="5198198"/>
              <a:chOff x="699309" y="1540876"/>
              <a:chExt cx="7406981" cy="519819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87B7ACD-541D-2D53-8142-34174033EE8D}"/>
                  </a:ext>
                </a:extLst>
              </p:cNvPr>
              <p:cNvGrpSpPr/>
              <p:nvPr/>
            </p:nvGrpSpPr>
            <p:grpSpPr>
              <a:xfrm>
                <a:off x="699309" y="1540876"/>
                <a:ext cx="7406981" cy="5198198"/>
                <a:chOff x="838198" y="4391955"/>
                <a:chExt cx="7406981" cy="5198198"/>
              </a:xfrm>
            </p:grpSpPr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87B7C640-F355-88D0-A127-C8B69677B46F}"/>
                    </a:ext>
                  </a:extLst>
                </p:cNvPr>
                <p:cNvSpPr/>
                <p:nvPr/>
              </p:nvSpPr>
              <p:spPr>
                <a:xfrm>
                  <a:off x="838200" y="4462753"/>
                  <a:ext cx="1982003" cy="415475"/>
                </a:xfrm>
                <a:prstGeom prst="roundRect">
                  <a:avLst/>
                </a:prstGeom>
                <a:solidFill>
                  <a:srgbClr val="712B8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MATLAB: </a:t>
                  </a:r>
                  <a:r>
                    <a:rPr lang="en-US" sz="2400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G2.m</a:t>
                  </a:r>
                  <a:endParaRPr lang="th-TH" sz="2400" dirty="0">
                    <a:latin typeface="FreesiaUPC" panose="020B0604020202020204" pitchFamily="34" charset="-34"/>
                    <a:cs typeface="FreesiaUPC" panose="020B0604020202020204" pitchFamily="34" charset="-34"/>
                  </a:endParaRPr>
                </a:p>
              </p:txBody>
            </p:sp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A62F0AE5-9F24-647A-8720-BD5F5B5DE5C2}"/>
                    </a:ext>
                  </a:extLst>
                </p:cNvPr>
                <p:cNvSpPr/>
                <p:nvPr/>
              </p:nvSpPr>
              <p:spPr>
                <a:xfrm>
                  <a:off x="838198" y="4787435"/>
                  <a:ext cx="7406981" cy="4802718"/>
                </a:xfrm>
                <a:prstGeom prst="roundRect">
                  <a:avLst>
                    <a:gd name="adj" fmla="val 1209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8575">
                  <a:solidFill>
                    <a:srgbClr val="712B8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C794DCB-B81D-7804-1BFA-C5E083C2615B}"/>
                    </a:ext>
                  </a:extLst>
                </p:cNvPr>
                <p:cNvSpPr txBox="1"/>
                <p:nvPr/>
              </p:nvSpPr>
              <p:spPr>
                <a:xfrm>
                  <a:off x="2825249" y="4391955"/>
                  <a:ext cx="174759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FreesiaUPC" panose="020B0604020202020204" pitchFamily="34" charset="-34"/>
                      <a:cs typeface="FreesiaUPC" panose="020B0604020202020204" pitchFamily="34" charset="-34"/>
                    </a:rPr>
                    <a:t>(Line 342-350)</a:t>
                  </a:r>
                  <a:endParaRPr lang="th-TH" sz="2400" dirty="0">
                    <a:latin typeface="FreesiaUPC" panose="020B0604020202020204" pitchFamily="34" charset="-34"/>
                    <a:cs typeface="FreesiaUPC" panose="020B0604020202020204" pitchFamily="34" charset="-34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152AA5-1B61-56C4-6FF8-E285B6217354}"/>
                  </a:ext>
                </a:extLst>
              </p:cNvPr>
              <p:cNvSpPr txBox="1"/>
              <p:nvPr/>
            </p:nvSpPr>
            <p:spPr>
              <a:xfrm>
                <a:off x="719607" y="2027149"/>
                <a:ext cx="73026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sz="1400" b="0" i="0" dirty="0">
                  <a:effectLst/>
                  <a:latin typeface="Lucida Fax" panose="02060602050505020204" pitchFamily="18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6B05FC-1966-8BA7-254F-82A8E3BE89D2}"/>
                </a:ext>
              </a:extLst>
            </p:cNvPr>
            <p:cNvSpPr txBox="1"/>
            <p:nvPr/>
          </p:nvSpPr>
          <p:spPr>
            <a:xfrm>
              <a:off x="910063" y="3963028"/>
              <a:ext cx="10529655" cy="4770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%% -------------Residual Stress in Cartesian Coordinates-----------</a:t>
              </a:r>
              <a:endParaRPr lang="en-US" sz="16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6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 </a:t>
              </a:r>
              <a:r>
                <a:rPr lang="en-US" sz="1600" b="0" i="0" dirty="0" err="1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diag</a:t>
              </a:r>
              <a:r>
                <a:rPr lang="en-US" sz="16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---&gt; diagonal matrix</a:t>
              </a:r>
              <a:endParaRPr lang="en-US" sz="16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R_tensor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 = R*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diag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(ELEMENT(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).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Residual_P_Stress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)*R’; </a:t>
              </a:r>
            </a:p>
            <a:p>
              <a:pPr>
                <a:buNone/>
              </a:pPr>
              <a:r>
                <a:rPr lang="en-US" sz="16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%Residual stress tensor in Cartesian planes</a:t>
              </a:r>
              <a:endParaRPr lang="en-US" sz="16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ELEMENT(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).R_Stress = [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R_tensor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(1,1);</a:t>
              </a:r>
            </a:p>
            <a:p>
              <a:pPr lvl="6"/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R_tensor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(2,2);</a:t>
              </a:r>
            </a:p>
            <a:p>
              <a:pPr lvl="6"/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R_tensor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(3,3);</a:t>
              </a:r>
            </a:p>
            <a:p>
              <a:pPr lvl="6"/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R_tensor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(1,2);</a:t>
              </a:r>
            </a:p>
            <a:p>
              <a:pPr lvl="6"/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R_tensor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(2,3);</a:t>
              </a:r>
            </a:p>
            <a:p>
              <a:pPr lvl="6"/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R_tensor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(1,3)];</a:t>
              </a:r>
            </a:p>
            <a:p>
              <a:pPr>
                <a:buNone/>
              </a:pPr>
              <a:r>
                <a:rPr lang="en-US" sz="16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%% -----Residual force for an element in Cartesian Coordinates-----</a:t>
              </a:r>
              <a:endParaRPr lang="en-US" sz="16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f= (ELEMENT(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).B)'*ELEMENT(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).R_Stress*ELEMENT(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).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det_J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;</a:t>
              </a:r>
            </a:p>
            <a:p>
              <a:pPr>
                <a:buNone/>
              </a:pPr>
              <a:endParaRPr lang="en-US" sz="1600" b="0" i="0" dirty="0">
                <a:solidFill>
                  <a:srgbClr val="008013"/>
                </a:solidFill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6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%For Tetrahedral element with 4 nodes (linear element), there are no</a:t>
              </a:r>
              <a:endParaRPr lang="en-US" sz="16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6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%variables in integral. So, for faster computation, we are using the</a:t>
              </a:r>
              <a:endParaRPr lang="en-US" sz="16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6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%constant value i.e. </a:t>
              </a:r>
              <a:endParaRPr lang="en-US" sz="16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600" b="0" i="0" dirty="0">
                  <a:solidFill>
                    <a:srgbClr val="008013"/>
                  </a:solidFill>
                  <a:effectLst/>
                  <a:latin typeface="Lucida Bright" panose="02040602050505020304" pitchFamily="18" charset="0"/>
                </a:rPr>
                <a:t>% int(int(int(1, zeta, 0, 1 - xi - eta), eta, 0, 1 -xi), xi, 0, 1) = 1/6</a:t>
              </a:r>
              <a:endParaRPr lang="en-US" sz="1600" b="0" i="0" dirty="0">
                <a:effectLst/>
                <a:latin typeface="Lucida Bright" panose="02040602050505020304" pitchFamily="18" charset="0"/>
              </a:endParaRPr>
            </a:p>
            <a:p>
              <a:pPr>
                <a:buNone/>
              </a:pP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ELEMENT(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eNo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).</a:t>
              </a:r>
              <a:r>
                <a:rPr lang="en-US" sz="1600" b="0" i="0" dirty="0" err="1">
                  <a:effectLst/>
                  <a:latin typeface="Lucida Bright" panose="02040602050505020304" pitchFamily="18" charset="0"/>
                </a:rPr>
                <a:t>R_Force</a:t>
              </a:r>
              <a:r>
                <a:rPr lang="en-US" sz="1600" b="0" i="0" dirty="0">
                  <a:effectLst/>
                  <a:latin typeface="Lucida Bright" panose="02040602050505020304" pitchFamily="18" charset="0"/>
                </a:rPr>
                <a:t> = 1/6*f;</a:t>
              </a:r>
            </a:p>
            <a:p>
              <a:r>
                <a:rPr lang="en-US" sz="1600" b="0" i="0" dirty="0">
                  <a:solidFill>
                    <a:srgbClr val="0E00FF"/>
                  </a:solidFill>
                  <a:effectLst/>
                  <a:latin typeface="Lucida Bright" panose="02040602050505020304" pitchFamily="18" charset="0"/>
                </a:rPr>
                <a:t>end</a:t>
              </a:r>
              <a:endParaRPr lang="en-US" sz="1600" b="0" i="0" dirty="0">
                <a:effectLst/>
                <a:latin typeface="Lucida Bright" panose="02040602050505020304" pitchFamily="18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420A671-5918-4213-58C6-04B1279716D0}"/>
              </a:ext>
            </a:extLst>
          </p:cNvPr>
          <p:cNvGrpSpPr/>
          <p:nvPr/>
        </p:nvGrpSpPr>
        <p:grpSpPr>
          <a:xfrm>
            <a:off x="8314933" y="1459385"/>
            <a:ext cx="3775322" cy="2104269"/>
            <a:chOff x="823555" y="4352882"/>
            <a:chExt cx="3775322" cy="210426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008A429-5582-6C62-1DCB-B332329A4481}"/>
                </a:ext>
              </a:extLst>
            </p:cNvPr>
            <p:cNvGrpSpPr/>
            <p:nvPr/>
          </p:nvGrpSpPr>
          <p:grpSpPr>
            <a:xfrm>
              <a:off x="2272206" y="4543336"/>
              <a:ext cx="2326671" cy="1913815"/>
              <a:chOff x="1931865" y="4652562"/>
              <a:chExt cx="2326671" cy="1913815"/>
            </a:xfrm>
          </p:grpSpPr>
          <p:graphicFrame>
            <p:nvGraphicFramePr>
              <p:cNvPr id="19" name="Object 18">
                <a:extLst>
                  <a:ext uri="{FF2B5EF4-FFF2-40B4-BE49-F238E27FC236}">
                    <a16:creationId xmlns:a16="http://schemas.microsoft.com/office/drawing/2014/main" id="{B38486DD-CB91-3482-C7DF-3EE65DA4F4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82330414"/>
                  </p:ext>
                </p:extLst>
              </p:nvPr>
            </p:nvGraphicFramePr>
            <p:xfrm>
              <a:off x="1931865" y="4652562"/>
              <a:ext cx="2247900" cy="973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498320" imgH="647640" progId="Equation.DSMT4">
                      <p:embed/>
                    </p:oleObj>
                  </mc:Choice>
                  <mc:Fallback>
                    <p:oleObj name="Equation" r:id="rId3" imgW="1498320" imgH="647640" progId="Equation.DSMT4">
                      <p:embed/>
                      <p:pic>
                        <p:nvPicPr>
                          <p:cNvPr id="19" name="Object 18">
                            <a:extLst>
                              <a:ext uri="{FF2B5EF4-FFF2-40B4-BE49-F238E27FC236}">
                                <a16:creationId xmlns:a16="http://schemas.microsoft.com/office/drawing/2014/main" id="{48487B55-DAC7-9635-D01D-DFA67D98E94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931865" y="4652562"/>
                            <a:ext cx="2247900" cy="9731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Right Brace 19">
                <a:extLst>
                  <a:ext uri="{FF2B5EF4-FFF2-40B4-BE49-F238E27FC236}">
                    <a16:creationId xmlns:a16="http://schemas.microsoft.com/office/drawing/2014/main" id="{E5A5E974-E6BA-49FE-0730-0560F72D7C8C}"/>
                  </a:ext>
                </a:extLst>
              </p:cNvPr>
              <p:cNvSpPr/>
              <p:nvPr/>
            </p:nvSpPr>
            <p:spPr>
              <a:xfrm rot="5400000">
                <a:off x="3176515" y="5104921"/>
                <a:ext cx="123873" cy="1163871"/>
              </a:xfrm>
              <a:prstGeom prst="rightBrace">
                <a:avLst>
                  <a:gd name="adj1" fmla="val 110833"/>
                  <a:gd name="adj2" fmla="val 50000"/>
                </a:avLst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B9D2BE-85FC-5C9E-6F7F-F1846AC24874}"/>
                  </a:ext>
                </a:extLst>
              </p:cNvPr>
              <p:cNvSpPr txBox="1"/>
              <p:nvPr/>
            </p:nvSpPr>
            <p:spPr>
              <a:xfrm>
                <a:off x="2256354" y="5661649"/>
                <a:ext cx="19928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solidFill>
                      <a:srgbClr val="C00000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Principle coordinate </a:t>
                </a:r>
                <a:endParaRPr lang="th-TH" sz="2400" i="1" dirty="0">
                  <a:solidFill>
                    <a:srgbClr val="C000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  <p:sp>
            <p:nvSpPr>
              <p:cNvPr id="22" name="Right Brace 21">
                <a:extLst>
                  <a:ext uri="{FF2B5EF4-FFF2-40B4-BE49-F238E27FC236}">
                    <a16:creationId xmlns:a16="http://schemas.microsoft.com/office/drawing/2014/main" id="{C61EB1AF-DA70-9AF1-CC93-2CD936ECEB42}"/>
                  </a:ext>
                </a:extLst>
              </p:cNvPr>
              <p:cNvSpPr/>
              <p:nvPr/>
            </p:nvSpPr>
            <p:spPr>
              <a:xfrm rot="5400000">
                <a:off x="3161323" y="5283739"/>
                <a:ext cx="103791" cy="1660548"/>
              </a:xfrm>
              <a:prstGeom prst="rightBrace">
                <a:avLst>
                  <a:gd name="adj1" fmla="val 110833"/>
                  <a:gd name="adj2" fmla="val 50000"/>
                </a:avLst>
              </a:prstGeom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3C18EC-FC60-E8BB-7558-126168CBA2DD}"/>
                  </a:ext>
                </a:extLst>
              </p:cNvPr>
              <p:cNvSpPr txBox="1"/>
              <p:nvPr/>
            </p:nvSpPr>
            <p:spPr>
              <a:xfrm>
                <a:off x="2167899" y="6104712"/>
                <a:ext cx="20906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solidFill>
                      <a:srgbClr val="002060"/>
                    </a:solidFill>
                    <a:latin typeface="FreesiaUPC" panose="020B0604020202020204" pitchFamily="34" charset="-34"/>
                    <a:cs typeface="FreesiaUPC" panose="020B0604020202020204" pitchFamily="34" charset="-34"/>
                  </a:rPr>
                  <a:t>Cartesian coordinate </a:t>
                </a:r>
                <a:endParaRPr lang="th-TH" sz="2400" i="1" dirty="0">
                  <a:solidFill>
                    <a:srgbClr val="002060"/>
                  </a:solidFill>
                  <a:latin typeface="FreesiaUPC" panose="020B0604020202020204" pitchFamily="34" charset="-34"/>
                  <a:cs typeface="FreesiaUPC" panose="020B0604020202020204" pitchFamily="34" charset="-34"/>
                </a:endParaRPr>
              </a:p>
            </p:txBody>
          </p: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A99C978-78B5-1730-5D2E-DD4D7C97D965}"/>
                </a:ext>
              </a:extLst>
            </p:cNvPr>
            <p:cNvSpPr/>
            <p:nvPr/>
          </p:nvSpPr>
          <p:spPr>
            <a:xfrm>
              <a:off x="2719873" y="4849694"/>
              <a:ext cx="360000" cy="360000"/>
            </a:xfrm>
            <a:prstGeom prst="ellipse">
              <a:avLst/>
            </a:prstGeom>
            <a:solidFill>
              <a:srgbClr val="0099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445D85A-F6C9-0C18-4372-47ECD241FFD6}"/>
                </a:ext>
              </a:extLst>
            </p:cNvPr>
            <p:cNvGrpSpPr/>
            <p:nvPr/>
          </p:nvGrpSpPr>
          <p:grpSpPr>
            <a:xfrm>
              <a:off x="2453414" y="4622573"/>
              <a:ext cx="454848" cy="227121"/>
              <a:chOff x="1782294" y="4622573"/>
              <a:chExt cx="454848" cy="22712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91C94D97-2E81-D499-2ADA-0BEDF79F6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8753" y="4628631"/>
                <a:ext cx="0" cy="2210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C9BB6BD-B852-683D-C3FD-4166960CEA78}"/>
                  </a:ext>
                </a:extLst>
              </p:cNvPr>
              <p:cNvCxnSpPr/>
              <p:nvPr/>
            </p:nvCxnSpPr>
            <p:spPr>
              <a:xfrm>
                <a:off x="1782294" y="4622573"/>
                <a:ext cx="45484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52595D-CA93-5032-75D0-EFA9D1312758}"/>
                </a:ext>
              </a:extLst>
            </p:cNvPr>
            <p:cNvSpPr txBox="1"/>
            <p:nvPr/>
          </p:nvSpPr>
          <p:spPr>
            <a:xfrm>
              <a:off x="823555" y="4352882"/>
              <a:ext cx="16866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66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Rotational matrix</a:t>
              </a:r>
              <a:endParaRPr lang="th-TH" sz="2400" i="1" dirty="0">
                <a:solidFill>
                  <a:srgbClr val="006600"/>
                </a:solidFill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815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657F-616F-D977-F6CA-FDC5AFB5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8ABCB2-635D-7149-EB5D-DD9E118C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32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6CE52F-C4A3-960B-7367-2FE900B56030}"/>
              </a:ext>
            </a:extLst>
          </p:cNvPr>
          <p:cNvSpPr/>
          <p:nvPr/>
        </p:nvSpPr>
        <p:spPr>
          <a:xfrm>
            <a:off x="3852945" y="2971800"/>
            <a:ext cx="4757655" cy="914400"/>
          </a:xfrm>
          <a:prstGeom prst="roundRect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Results</a:t>
            </a:r>
            <a:endParaRPr lang="th-TH" sz="4000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705608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2ECE86-342B-1807-3EBC-1AF23BF2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33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48D496-51DB-4155-121B-AEC684164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88343"/>
            <a:ext cx="10040751" cy="50680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1897C1-2036-A786-CF28-9B6A70A62878}"/>
              </a:ext>
            </a:extLst>
          </p:cNvPr>
          <p:cNvSpPr txBox="1"/>
          <p:nvPr/>
        </p:nvSpPr>
        <p:spPr>
          <a:xfrm>
            <a:off x="3675993" y="599559"/>
            <a:ext cx="1660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(</a:t>
            </a:r>
            <a:r>
              <a:rPr lang="en-US" dirty="0" err="1">
                <a:latin typeface="FreesiaUPC" panose="020B0604020202020204" pitchFamily="34" charset="-34"/>
                <a:cs typeface="FreesiaUPC" panose="020B0604020202020204" pitchFamily="34" charset="-34"/>
              </a:rPr>
              <a:t>output_disp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)</a:t>
            </a:r>
            <a:endParaRPr lang="th-TH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2876BB-C803-9C0F-1E3A-A3B76A4F9886}"/>
              </a:ext>
            </a:extLst>
          </p:cNvPr>
          <p:cNvCxnSpPr>
            <a:cxnSpLocks/>
          </p:cNvCxnSpPr>
          <p:nvPr/>
        </p:nvCxnSpPr>
        <p:spPr>
          <a:xfrm>
            <a:off x="10878951" y="2081049"/>
            <a:ext cx="474849" cy="0"/>
          </a:xfrm>
          <a:prstGeom prst="straightConnector1">
            <a:avLst/>
          </a:prstGeom>
          <a:ln w="31750">
            <a:solidFill>
              <a:srgbClr val="C0000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77CFC0A-F65C-F6EB-5783-ED3A7F2A18E8}"/>
              </a:ext>
            </a:extLst>
          </p:cNvPr>
          <p:cNvSpPr/>
          <p:nvPr/>
        </p:nvSpPr>
        <p:spPr>
          <a:xfrm>
            <a:off x="1881349" y="1965434"/>
            <a:ext cx="777766" cy="4390916"/>
          </a:xfrm>
          <a:prstGeom prst="rect">
            <a:avLst/>
          </a:prstGeom>
          <a:solidFill>
            <a:srgbClr val="0000FF">
              <a:alpha val="5098"/>
            </a:srgbClr>
          </a:solidFill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30B9B-22D0-F103-1135-E8C21DC3FEEB}"/>
              </a:ext>
            </a:extLst>
          </p:cNvPr>
          <p:cNvSpPr txBox="1"/>
          <p:nvPr/>
        </p:nvSpPr>
        <p:spPr>
          <a:xfrm>
            <a:off x="1794642" y="6356350"/>
            <a:ext cx="4519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Displacement out-put of the 1</a:t>
            </a:r>
            <a:r>
              <a:rPr lang="en-US" sz="2400" baseline="30000" dirty="0">
                <a:solidFill>
                  <a:srgbClr val="0000FF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st</a:t>
            </a:r>
            <a:r>
              <a:rPr lang="en-US" sz="2400" dirty="0">
                <a:solidFill>
                  <a:srgbClr val="0000FF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increment step</a:t>
            </a:r>
            <a:endParaRPr lang="th-TH" sz="2400" dirty="0">
              <a:solidFill>
                <a:srgbClr val="0000FF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83DF9-8488-5DC2-53EC-83D04A6ACFF9}"/>
              </a:ext>
            </a:extLst>
          </p:cNvPr>
          <p:cNvSpPr txBox="1"/>
          <p:nvPr/>
        </p:nvSpPr>
        <p:spPr>
          <a:xfrm>
            <a:off x="11353800" y="1850216"/>
            <a:ext cx="729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N_INC</a:t>
            </a:r>
            <a:endParaRPr lang="th-TH" sz="2400" b="1" dirty="0">
              <a:solidFill>
                <a:srgbClr val="C0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7CE8AAA-F9DE-ADAC-5E09-AAF66CA811C4}"/>
              </a:ext>
            </a:extLst>
          </p:cNvPr>
          <p:cNvSpPr/>
          <p:nvPr/>
        </p:nvSpPr>
        <p:spPr>
          <a:xfrm>
            <a:off x="838200" y="599559"/>
            <a:ext cx="2837793" cy="523220"/>
          </a:xfrm>
          <a:prstGeom prst="roundRect">
            <a:avLst/>
          </a:prstGeom>
          <a:solidFill>
            <a:srgbClr val="006600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Displacement Outputs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218793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9EB0D6-1A16-2333-040D-8687A181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34</a:t>
            </a:fld>
            <a:endParaRPr lang="th-T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799089-9AC8-39C6-B0B8-1C033B195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715" y="1334037"/>
            <a:ext cx="7305749" cy="530765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B7784C-C169-F2E0-55F0-88AB5B6CA103}"/>
              </a:ext>
            </a:extLst>
          </p:cNvPr>
          <p:cNvSpPr/>
          <p:nvPr/>
        </p:nvSpPr>
        <p:spPr>
          <a:xfrm>
            <a:off x="838200" y="599559"/>
            <a:ext cx="2837793" cy="523220"/>
          </a:xfrm>
          <a:prstGeom prst="roundRect">
            <a:avLst/>
          </a:prstGeom>
          <a:solidFill>
            <a:srgbClr val="006600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Element Outputs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FEA34A-F23B-510A-DFB2-E8D4FC14F134}"/>
              </a:ext>
            </a:extLst>
          </p:cNvPr>
          <p:cNvSpPr/>
          <p:nvPr/>
        </p:nvSpPr>
        <p:spPr>
          <a:xfrm>
            <a:off x="2162715" y="1885649"/>
            <a:ext cx="560821" cy="4642969"/>
          </a:xfrm>
          <a:prstGeom prst="rect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760BF-AC19-9F77-0064-8DB691E739C4}"/>
              </a:ext>
            </a:extLst>
          </p:cNvPr>
          <p:cNvSpPr txBox="1"/>
          <p:nvPr/>
        </p:nvSpPr>
        <p:spPr>
          <a:xfrm rot="16200000">
            <a:off x="1299338" y="3830712"/>
            <a:ext cx="1265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66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Element No.</a:t>
            </a:r>
            <a:endParaRPr lang="th-TH" sz="2400" dirty="0">
              <a:solidFill>
                <a:srgbClr val="0066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58515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C708-67B4-D472-FA95-CBC59DBB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EE5749-CAFC-6F67-460A-EEF1BF428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35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7F99ED-921F-1946-DEFA-987F79DBADF9}"/>
              </a:ext>
            </a:extLst>
          </p:cNvPr>
          <p:cNvSpPr/>
          <p:nvPr/>
        </p:nvSpPr>
        <p:spPr>
          <a:xfrm>
            <a:off x="3852945" y="2971800"/>
            <a:ext cx="4757655" cy="914400"/>
          </a:xfrm>
          <a:prstGeom prst="roundRect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Post Processing </a:t>
            </a:r>
            <a:endParaRPr lang="th-TH" sz="4000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51164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F6B1-C26A-BAA0-25F7-1A610022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Deflected Shape 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0C88C4-F126-BF50-5ECA-D1E0DC513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36</a:t>
            </a:fld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09FF5-0886-EC4F-03D4-717320980AF5}"/>
              </a:ext>
            </a:extLst>
          </p:cNvPr>
          <p:cNvSpPr txBox="1"/>
          <p:nvPr/>
        </p:nvSpPr>
        <p:spPr>
          <a:xfrm>
            <a:off x="695999" y="1116441"/>
            <a:ext cx="10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Post-processing </a:t>
            </a:r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(Deflected Shape) </a:t>
            </a:r>
          </a:p>
        </p:txBody>
      </p:sp>
      <p:pic>
        <p:nvPicPr>
          <p:cNvPr id="7" name="Picture 6" descr="A diagram of a tower&#10;&#10;AI-generated content may be incorrect.">
            <a:extLst>
              <a:ext uri="{FF2B5EF4-FFF2-40B4-BE49-F238E27FC236}">
                <a16:creationId xmlns:a16="http://schemas.microsoft.com/office/drawing/2014/main" id="{CF79E1EC-4464-AC5E-776E-B40E27CA5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8" r="16543"/>
          <a:stretch/>
        </p:blipFill>
        <p:spPr>
          <a:xfrm>
            <a:off x="7584601" y="1558249"/>
            <a:ext cx="3276600" cy="50431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B76263-5E84-DD03-2130-A43EE9B93B90}"/>
              </a:ext>
            </a:extLst>
          </p:cNvPr>
          <p:cNvSpPr txBox="1"/>
          <p:nvPr/>
        </p:nvSpPr>
        <p:spPr>
          <a:xfrm>
            <a:off x="7895001" y="6447663"/>
            <a:ext cx="1762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FreesiaUPC" panose="020B0604020202020204" pitchFamily="34" charset="-34"/>
                <a:cs typeface="FreesiaUPC" panose="020B0604020202020204" pitchFamily="34" charset="-34"/>
              </a:rPr>
              <a:t>amplified animation </a:t>
            </a:r>
            <a:endParaRPr lang="th-TH" sz="2000" i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BC2F3B-60BF-9FA1-E90B-335767E783AF}"/>
              </a:ext>
            </a:extLst>
          </p:cNvPr>
          <p:cNvGrpSpPr/>
          <p:nvPr/>
        </p:nvGrpSpPr>
        <p:grpSpPr>
          <a:xfrm>
            <a:off x="4662904" y="2474106"/>
            <a:ext cx="3082063" cy="3354573"/>
            <a:chOff x="5896382" y="2614962"/>
            <a:chExt cx="3216018" cy="3528204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70C1C94-A343-F45A-0CDA-B447A8524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96382" y="2614962"/>
              <a:ext cx="3216018" cy="3528204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FCA401-D44A-50B9-93BC-75DCF9262349}"/>
                </a:ext>
              </a:extLst>
            </p:cNvPr>
            <p:cNvSpPr txBox="1"/>
            <p:nvPr/>
          </p:nvSpPr>
          <p:spPr>
            <a:xfrm>
              <a:off x="6681431" y="2825496"/>
              <a:ext cx="164592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th-TH" sz="2400" dirty="0"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AD5852-C5D7-8477-201C-DB4CCA683144}"/>
              </a:ext>
            </a:extLst>
          </p:cNvPr>
          <p:cNvGrpSpPr/>
          <p:nvPr/>
        </p:nvGrpSpPr>
        <p:grpSpPr>
          <a:xfrm>
            <a:off x="1204599" y="1720682"/>
            <a:ext cx="2747222" cy="4892051"/>
            <a:chOff x="6891528" y="1257946"/>
            <a:chExt cx="2747222" cy="489205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D617939-B53E-3C1E-F979-625F2C458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91528" y="1289996"/>
              <a:ext cx="2053686" cy="4860001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826515E-0AC4-A9B5-F3DA-48A715E55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6998" y="1257946"/>
              <a:ext cx="671011" cy="322943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6DFB44-ED66-0515-0649-BE7F01D713CF}"/>
                </a:ext>
              </a:extLst>
            </p:cNvPr>
            <p:cNvSpPr txBox="1"/>
            <p:nvPr/>
          </p:nvSpPr>
          <p:spPr>
            <a:xfrm rot="19971965">
              <a:off x="8130004" y="1356046"/>
              <a:ext cx="15087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C00000"/>
                  </a:solidFill>
                  <a:latin typeface="FreesiaUPC" panose="020B0604020202020204" pitchFamily="34" charset="-34"/>
                  <a:cs typeface="FreesiaUPC" panose="020B0604020202020204" pitchFamily="34" charset="-34"/>
                </a:rPr>
                <a:t>Applied disp.</a:t>
              </a:r>
              <a:endParaRPr lang="th-TH" i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7354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6B3F7-E6AB-28FF-4887-82AE63F8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0F64E-11B1-B71A-1B6C-142AE322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Failed Elements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97F070-9F55-D762-14C9-B72B5865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37</a:t>
            </a:fld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72E4E-00E3-1B5E-A8BE-3F2E5CF2EB68}"/>
              </a:ext>
            </a:extLst>
          </p:cNvPr>
          <p:cNvSpPr txBox="1"/>
          <p:nvPr/>
        </p:nvSpPr>
        <p:spPr>
          <a:xfrm>
            <a:off x="665717" y="1181135"/>
            <a:ext cx="10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Post-processing </a:t>
            </a:r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(Failed Elements): Cumulative Failures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B21360-F53E-724B-2E06-2BC00C964655}"/>
              </a:ext>
            </a:extLst>
          </p:cNvPr>
          <p:cNvSpPr/>
          <p:nvPr/>
        </p:nvSpPr>
        <p:spPr>
          <a:xfrm>
            <a:off x="7819292" y="949569"/>
            <a:ext cx="3676708" cy="2315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15" name="Content Placeholder 10">
            <a:extLst>
              <a:ext uri="{FF2B5EF4-FFF2-40B4-BE49-F238E27FC236}">
                <a16:creationId xmlns:a16="http://schemas.microsoft.com/office/drawing/2014/main" id="{526D2EF6-DCB0-1AC0-73C5-12CD6AA6DA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7192083"/>
              </p:ext>
            </p:extLst>
          </p:nvPr>
        </p:nvGraphicFramePr>
        <p:xfrm>
          <a:off x="8330070" y="180259"/>
          <a:ext cx="3135647" cy="6541216"/>
        </p:xfrm>
        <a:graphic>
          <a:graphicData uri="http://schemas.openxmlformats.org/drawingml/2006/table">
            <a:tbl>
              <a:tblPr/>
              <a:tblGrid>
                <a:gridCol w="1886104">
                  <a:extLst>
                    <a:ext uri="{9D8B030D-6E8A-4147-A177-3AD203B41FA5}">
                      <a16:colId xmlns:a16="http://schemas.microsoft.com/office/drawing/2014/main" val="4002143180"/>
                    </a:ext>
                  </a:extLst>
                </a:gridCol>
                <a:gridCol w="1249543">
                  <a:extLst>
                    <a:ext uri="{9D8B030D-6E8A-4147-A177-3AD203B41FA5}">
                      <a16:colId xmlns:a16="http://schemas.microsoft.com/office/drawing/2014/main" val="1560838649"/>
                    </a:ext>
                  </a:extLst>
                </a:gridCol>
              </a:tblGrid>
              <a:tr h="3404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Element No.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Incremental step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893028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108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15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223590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81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24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310920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109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24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607330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114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24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105310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14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25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0778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79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25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514697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16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28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888687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26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29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113589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107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29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532105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53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30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379150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77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30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550803"/>
                  </a:ext>
                </a:extLst>
              </a:tr>
              <a:tr h="195610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80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30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061941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115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30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601372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117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6600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30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232775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13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31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836303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25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31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292593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82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31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341483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93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31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666805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94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31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21839"/>
                  </a:ext>
                </a:extLst>
              </a:tr>
              <a:tr h="199036"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118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31</a:t>
                      </a:r>
                    </a:p>
                  </a:txBody>
                  <a:tcPr marL="5238" marR="5238" marT="52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197790"/>
                  </a:ext>
                </a:extLst>
              </a:tr>
            </a:tbl>
          </a:graphicData>
        </a:graphic>
      </p:graphicFrame>
      <p:pic>
        <p:nvPicPr>
          <p:cNvPr id="20" name="Video 19">
            <a:hlinkClick r:id="" action="ppaction://media"/>
            <a:extLst>
              <a:ext uri="{FF2B5EF4-FFF2-40B4-BE49-F238E27FC236}">
                <a16:creationId xmlns:a16="http://schemas.microsoft.com/office/drawing/2014/main" id="{18575741-8BD5-560B-220D-195FDE162A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2915" r="19515"/>
          <a:stretch/>
        </p:blipFill>
        <p:spPr>
          <a:xfrm>
            <a:off x="4351533" y="1848708"/>
            <a:ext cx="3723148" cy="486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5A4662D-BB0C-1F7D-502F-AD2F1936A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61474"/>
            <a:ext cx="2053686" cy="4860001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E84CAD-8237-132F-C261-C4943257BD82}"/>
              </a:ext>
            </a:extLst>
          </p:cNvPr>
          <p:cNvCxnSpPr>
            <a:cxnSpLocks/>
          </p:cNvCxnSpPr>
          <p:nvPr/>
        </p:nvCxnSpPr>
        <p:spPr>
          <a:xfrm flipV="1">
            <a:off x="2133670" y="1829424"/>
            <a:ext cx="671011" cy="322943"/>
          </a:xfrm>
          <a:prstGeom prst="straightConnector1">
            <a:avLst/>
          </a:pr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174C24-F88E-9972-FD3E-48E4E571B6A5}"/>
              </a:ext>
            </a:extLst>
          </p:cNvPr>
          <p:cNvSpPr txBox="1"/>
          <p:nvPr/>
        </p:nvSpPr>
        <p:spPr>
          <a:xfrm rot="19971965">
            <a:off x="2076676" y="1927524"/>
            <a:ext cx="1508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Applied disp.</a:t>
            </a:r>
            <a:endParaRPr lang="th-TH" i="1" dirty="0">
              <a:solidFill>
                <a:srgbClr val="C0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834D37-EEFA-12CC-3CCE-4E6A22FE48EB}"/>
              </a:ext>
            </a:extLst>
          </p:cNvPr>
          <p:cNvSpPr txBox="1"/>
          <p:nvPr/>
        </p:nvSpPr>
        <p:spPr>
          <a:xfrm>
            <a:off x="2738496" y="5833130"/>
            <a:ext cx="2970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Cumulate failure in </a:t>
            </a:r>
            <a:r>
              <a:rPr lang="en-US" b="1" i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tension</a:t>
            </a:r>
            <a:endParaRPr lang="th-TH" b="1" i="1" dirty="0">
              <a:solidFill>
                <a:srgbClr val="C0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796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B1FC-042F-16F3-7290-6FDBDB877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Stresses Distribution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0A5D1-5996-3B0A-CC8E-0B5D8BB5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38</a:t>
            </a:fld>
            <a:endParaRPr lang="th-TH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874C063-C313-5431-9356-EC5B4A16CDC4}"/>
              </a:ext>
            </a:extLst>
          </p:cNvPr>
          <p:cNvGrpSpPr/>
          <p:nvPr/>
        </p:nvGrpSpPr>
        <p:grpSpPr>
          <a:xfrm>
            <a:off x="763771" y="1283976"/>
            <a:ext cx="2918028" cy="4877354"/>
            <a:chOff x="838200" y="1698650"/>
            <a:chExt cx="2918028" cy="48773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FF5B6BD-EB38-B628-C7D6-AC4757C85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2616"/>
            <a:stretch/>
          </p:blipFill>
          <p:spPr>
            <a:xfrm>
              <a:off x="838200" y="1698651"/>
              <a:ext cx="2032591" cy="487735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61E9B21-13C7-7D6D-654D-AB172F195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2581"/>
            <a:stretch/>
          </p:blipFill>
          <p:spPr>
            <a:xfrm>
              <a:off x="3009014" y="1698650"/>
              <a:ext cx="747214" cy="4877353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5DB5BD-CD16-DB3B-AF57-228C21BE4FA5}"/>
              </a:ext>
            </a:extLst>
          </p:cNvPr>
          <p:cNvGrpSpPr/>
          <p:nvPr/>
        </p:nvGrpSpPr>
        <p:grpSpPr>
          <a:xfrm>
            <a:off x="4311061" y="1363598"/>
            <a:ext cx="2808488" cy="4840262"/>
            <a:chOff x="4353593" y="1735741"/>
            <a:chExt cx="2808488" cy="48402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7C0B235-EFFD-B350-298A-5B0D2968F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49911"/>
            <a:stretch/>
          </p:blipFill>
          <p:spPr>
            <a:xfrm>
              <a:off x="4353593" y="1735741"/>
              <a:ext cx="2132267" cy="484026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D7BA994-B606-05FE-01DF-E26CA6D6B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4806"/>
            <a:stretch/>
          </p:blipFill>
          <p:spPr>
            <a:xfrm>
              <a:off x="6515267" y="1735741"/>
              <a:ext cx="646814" cy="4840262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4EFCDD-A283-8954-5FE2-970D6398E802}"/>
              </a:ext>
            </a:extLst>
          </p:cNvPr>
          <p:cNvGrpSpPr/>
          <p:nvPr/>
        </p:nvGrpSpPr>
        <p:grpSpPr>
          <a:xfrm>
            <a:off x="7961294" y="1361860"/>
            <a:ext cx="3075662" cy="4842000"/>
            <a:chOff x="8025092" y="1734003"/>
            <a:chExt cx="3075662" cy="48420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EF2C20B-FC1C-CE26-5BD2-BC494F1CB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49929"/>
            <a:stretch/>
          </p:blipFill>
          <p:spPr>
            <a:xfrm>
              <a:off x="8025092" y="1734003"/>
              <a:ext cx="2132268" cy="4842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BCF122F-E952-19F2-8F7B-D58F8DFE4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7847"/>
            <a:stretch/>
          </p:blipFill>
          <p:spPr>
            <a:xfrm>
              <a:off x="10157360" y="1734003"/>
              <a:ext cx="943394" cy="48420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196923A-BEB5-B095-D57F-4B3879CD010C}"/>
              </a:ext>
            </a:extLst>
          </p:cNvPr>
          <p:cNvSpPr txBox="1"/>
          <p:nvPr/>
        </p:nvSpPr>
        <p:spPr>
          <a:xfrm>
            <a:off x="404037" y="4380614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endParaRPr lang="th-TH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FAC9F6-1442-4077-426A-77EE573548C8}"/>
              </a:ext>
            </a:extLst>
          </p:cNvPr>
          <p:cNvSpPr txBox="1"/>
          <p:nvPr/>
        </p:nvSpPr>
        <p:spPr>
          <a:xfrm>
            <a:off x="566902" y="6202873"/>
            <a:ext cx="2958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Largest principal stress</a:t>
            </a:r>
            <a:endParaRPr lang="th-TH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6A13A3-9983-7D84-9627-93BC63461DF0}"/>
              </a:ext>
            </a:extLst>
          </p:cNvPr>
          <p:cNvSpPr txBox="1"/>
          <p:nvPr/>
        </p:nvSpPr>
        <p:spPr>
          <a:xfrm>
            <a:off x="4010346" y="6202873"/>
            <a:ext cx="347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Intermediate principal stress</a:t>
            </a:r>
            <a:endParaRPr lang="th-TH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EBB9CC-583E-B091-853C-50F82492BCF0}"/>
              </a:ext>
            </a:extLst>
          </p:cNvPr>
          <p:cNvSpPr txBox="1"/>
          <p:nvPr/>
        </p:nvSpPr>
        <p:spPr>
          <a:xfrm>
            <a:off x="7715973" y="6202873"/>
            <a:ext cx="3474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Smallest principal stress</a:t>
            </a:r>
            <a:endParaRPr lang="th-TH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981111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5697D-A2A7-03BE-2428-376A6558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2BAFCA-65D4-7D68-4529-CD5AD2C1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39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8309F5-61B3-EA9A-E4AE-818DCBF1A572}"/>
              </a:ext>
            </a:extLst>
          </p:cNvPr>
          <p:cNvSpPr/>
          <p:nvPr/>
        </p:nvSpPr>
        <p:spPr>
          <a:xfrm>
            <a:off x="3852945" y="2971800"/>
            <a:ext cx="4757655" cy="914400"/>
          </a:xfrm>
          <a:prstGeom prst="roundRect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Limitation</a:t>
            </a:r>
            <a:endParaRPr lang="th-TH" sz="4000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460095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CE9B-079C-3CA3-5CAF-6E69743C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514A74-AC60-B1B2-2BED-747214BD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40</a:t>
            </a:fld>
            <a:endParaRPr lang="th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B0211-119E-C529-3C1A-ADC1E691B6F0}"/>
              </a:ext>
            </a:extLst>
          </p:cNvPr>
          <p:cNvSpPr txBox="1"/>
          <p:nvPr/>
        </p:nvSpPr>
        <p:spPr>
          <a:xfrm>
            <a:off x="696001" y="1594798"/>
            <a:ext cx="10799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Limitation</a:t>
            </a:r>
          </a:p>
          <a:p>
            <a:pPr algn="thaiDist"/>
            <a:r>
              <a:rPr lang="en-US" b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1. Limitation of TET4</a:t>
            </a:r>
            <a:r>
              <a:rPr lang="en-US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(Linear displacement interpolation)</a:t>
            </a:r>
          </a:p>
          <a:p>
            <a:pPr marL="914400" lvl="1" indent="-457200" algn="thaiDist">
              <a:buFont typeface="Wingdings" panose="05000000000000000000" pitchFamily="2" charset="2"/>
              <a:buChar char="§"/>
            </a:pP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Volume Locking in Bending </a:t>
            </a:r>
          </a:p>
          <a:p>
            <a:pPr lvl="2" algn="thaiDist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Under flexural behavior, TET4 elements may exhibit artificial shear stiffness, distorting the true response. Results in </a:t>
            </a: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underpredicted displacements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and </a:t>
            </a: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overestimated bending stiffness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.</a:t>
            </a:r>
          </a:p>
          <a:p>
            <a:pPr lvl="2" algn="thaiDist"/>
            <a:endParaRPr lang="en-US" dirty="0"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914400" lvl="1" indent="-457200" algn="thaiDist">
              <a:buFont typeface="Wingdings" panose="05000000000000000000" pitchFamily="2" charset="2"/>
              <a:buChar char="§"/>
            </a:pP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Concrete cracking and crushing require high-resolution strain fields, which TET4 struggles to capture.</a:t>
            </a:r>
          </a:p>
          <a:p>
            <a:pPr algn="thaiDist"/>
            <a:endParaRPr lang="en-US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33153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FAD3C-CF4A-A85C-B17B-568A490E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4E3F-5705-C2FF-4B01-029F1564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424FFA-FAFC-9BAC-0059-823AA474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41</a:t>
            </a:fld>
            <a:endParaRPr lang="th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A00B5-243E-858D-16BE-C8B65FE5A694}"/>
              </a:ext>
            </a:extLst>
          </p:cNvPr>
          <p:cNvSpPr txBox="1"/>
          <p:nvPr/>
        </p:nvSpPr>
        <p:spPr>
          <a:xfrm>
            <a:off x="696001" y="1594798"/>
            <a:ext cx="107999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Limitation</a:t>
            </a:r>
          </a:p>
          <a:p>
            <a:pPr algn="thaiDist"/>
            <a:r>
              <a:rPr lang="en-US" b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2. Incremental Method with Equilibrium Correction</a:t>
            </a:r>
          </a:p>
          <a:p>
            <a:pPr marL="914400" lvl="1" indent="-457200" algn="thaiDist">
              <a:buFont typeface="Wingdings" panose="05000000000000000000" pitchFamily="2" charset="2"/>
              <a:buChar char="§"/>
            </a:pP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Convergence Issues in Brittle Failure</a:t>
            </a:r>
          </a:p>
          <a:p>
            <a:pPr lvl="2" algn="thaiDist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Since concrete exhibits sudden stiffness loss. The method may fail to track post-peak softening,</a:t>
            </a:r>
            <a:r>
              <a:rPr lang="th-TH" dirty="0">
                <a:solidFill>
                  <a:srgbClr val="0066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b="1" i="1" dirty="0">
                <a:solidFill>
                  <a:srgbClr val="0066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small step size</a:t>
            </a:r>
            <a:r>
              <a:rPr lang="en-US" dirty="0">
                <a:solidFill>
                  <a:srgbClr val="0066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shall be used.</a:t>
            </a:r>
          </a:p>
          <a:p>
            <a:pPr algn="thaiDist"/>
            <a:r>
              <a:rPr lang="en-US" b="1" dirty="0">
                <a:solidFill>
                  <a:srgbClr val="C0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3. </a:t>
            </a:r>
            <a:r>
              <a:rPr lang="en-US" b="1" i="0" dirty="0">
                <a:solidFill>
                  <a:srgbClr val="C0000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Failure Criterion using </a:t>
            </a:r>
            <a:r>
              <a:rPr lang="en-US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eesiaUPC" panose="020B0604020202020204" pitchFamily="34" charset="-34"/>
                <a:cs typeface="FreesiaUPC" panose="020B0604020202020204" pitchFamily="34" charset="-34"/>
              </a:rPr>
              <a:t>Maximum Normal Stress</a:t>
            </a:r>
          </a:p>
          <a:p>
            <a:pPr marL="914400" lvl="1" indent="-457200" algn="thaiDist">
              <a:buFont typeface="Wingdings" panose="05000000000000000000" pitchFamily="2" charset="2"/>
              <a:buChar char="§"/>
            </a:pPr>
            <a:r>
              <a:rPr lang="en-US" b="1" i="1" dirty="0">
                <a:latin typeface="FreesiaUPC" panose="020B0604020202020204" pitchFamily="34" charset="-34"/>
                <a:cs typeface="FreesiaUPC" panose="020B0604020202020204" pitchFamily="34" charset="-34"/>
              </a:rPr>
              <a:t>Asymmetry of tension and compression</a:t>
            </a:r>
          </a:p>
          <a:p>
            <a:pPr lvl="2" algn="thaiDist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	Concrete has different strengths in tension and compression which is not truly satisfy the assumption. </a:t>
            </a:r>
          </a:p>
          <a:p>
            <a:pPr lvl="2" algn="thaiDist"/>
            <a:endParaRPr lang="en-US" dirty="0"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lvl="2" algn="thaiDist"/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A </a:t>
            </a:r>
            <a:r>
              <a:rPr lang="en-US" b="1" dirty="0">
                <a:solidFill>
                  <a:srgbClr val="00206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single max-stress threshold </a:t>
            </a:r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ignores this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, leading to unrealistic failure predictions (e.g., overestimating tensile capacity).</a:t>
            </a:r>
            <a:r>
              <a:rPr lang="en-US" dirty="0"/>
              <a:t> </a:t>
            </a:r>
            <a:endParaRPr lang="en-US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22060B8-40BD-2B39-6987-63F542CB0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891318"/>
              </p:ext>
            </p:extLst>
          </p:nvPr>
        </p:nvGraphicFramePr>
        <p:xfrm>
          <a:off x="4767600" y="5412676"/>
          <a:ext cx="26568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040" imgH="253800" progId="Equation.DSMT4">
                  <p:embed/>
                </p:oleObj>
              </mc:Choice>
              <mc:Fallback>
                <p:oleObj name="Equation" r:id="rId3" imgW="15620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67600" y="5412676"/>
                        <a:ext cx="265680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3221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82EC4B-5238-3988-70A4-2CB85D54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42</a:t>
            </a:fld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3DF55B-64F5-CDAD-F3F6-E04BED3E5AC6}"/>
              </a:ext>
            </a:extLst>
          </p:cNvPr>
          <p:cNvSpPr/>
          <p:nvPr/>
        </p:nvSpPr>
        <p:spPr>
          <a:xfrm>
            <a:off x="4660392" y="3159252"/>
            <a:ext cx="2871216" cy="539496"/>
          </a:xfrm>
          <a:prstGeom prst="roundRect">
            <a:avLst/>
          </a:prstGeom>
          <a:solidFill>
            <a:srgbClr val="00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FreesiaUPC" panose="020B0604020202020204" pitchFamily="34" charset="-34"/>
                <a:cs typeface="FreesiaUPC" panose="020B0604020202020204" pitchFamily="34" charset="-34"/>
              </a:rPr>
              <a:t>Thank you</a:t>
            </a:r>
            <a:endParaRPr lang="th-TH" b="1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39251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7C6E-1096-FFB5-2C61-D06815FD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  <a:endParaRPr lang="th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2B05C-BC53-2F7E-55B3-F04A4479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E7364-E95C-459B-BEF5-B7F8E81A4D6E}" type="slidenum">
              <a:rPr lang="th-TH" smtClean="0"/>
              <a:t>43</a:t>
            </a:fld>
            <a:endParaRPr lang="th-T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8F00A-A11A-E7C3-D021-187EB97B9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810729"/>
            <a:ext cx="11308158" cy="4910746"/>
          </a:xfrm>
        </p:spPr>
        <p:txBody>
          <a:bodyPr>
            <a:normAutofit/>
          </a:bodyPr>
          <a:lstStyle/>
          <a:p>
            <a:r>
              <a:rPr lang="en-US" dirty="0"/>
              <a:t>1. Time –step should be smaller enough to capture non-linear behavior</a:t>
            </a:r>
          </a:p>
          <a:p>
            <a:r>
              <a:rPr lang="en-US" dirty="0"/>
              <a:t>2. Post-processing</a:t>
            </a:r>
          </a:p>
          <a:p>
            <a:r>
              <a:rPr lang="en-US" dirty="0"/>
              <a:t>	- Displacement response-time curve should be used to  used to visualize the results.</a:t>
            </a:r>
          </a:p>
          <a:p>
            <a:r>
              <a:rPr lang="en-US" dirty="0"/>
              <a:t>	- Crack propagation should be displayed</a:t>
            </a:r>
          </a:p>
          <a:p>
            <a:r>
              <a:rPr lang="en-US" dirty="0"/>
              <a:t>3. Further study</a:t>
            </a:r>
          </a:p>
          <a:p>
            <a:r>
              <a:rPr lang="en-US" dirty="0"/>
              <a:t>	- Compare the results obtained using TET4 and TET10 elements</a:t>
            </a:r>
          </a:p>
          <a:p>
            <a:r>
              <a:rPr lang="en-US" dirty="0"/>
              <a:t>	- Observe the effect of volumetric locking </a:t>
            </a:r>
          </a:p>
          <a:p>
            <a:r>
              <a:rPr lang="en-US" dirty="0"/>
              <a:t>	- Extend the failure criteria to more realistic principles, such as Coulomb-Mohr criterion</a:t>
            </a:r>
          </a:p>
          <a:p>
            <a:pPr algn="r"/>
            <a:r>
              <a:rPr lang="en-US" i="1" dirty="0"/>
              <a:t>From G2_2025</a:t>
            </a:r>
          </a:p>
        </p:txBody>
      </p:sp>
    </p:spTree>
    <p:extLst>
      <p:ext uri="{BB962C8B-B14F-4D97-AF65-F5344CB8AC3E}">
        <p14:creationId xmlns:p14="http://schemas.microsoft.com/office/powerpoint/2010/main" val="20725889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26412</TotalTime>
  <Words>5036</Words>
  <Application>Microsoft Office PowerPoint</Application>
  <PresentationFormat>Widescreen</PresentationFormat>
  <Paragraphs>672</Paragraphs>
  <Slides>43</Slides>
  <Notes>14</Notes>
  <HiddenSlides>0</HiddenSlides>
  <MMClips>1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Aptos</vt:lpstr>
      <vt:lpstr>Arial</vt:lpstr>
      <vt:lpstr>Calibri</vt:lpstr>
      <vt:lpstr>Cambria Math</vt:lpstr>
      <vt:lpstr>DeepSeek-CJK-patch</vt:lpstr>
      <vt:lpstr>EucrosiaUPC</vt:lpstr>
      <vt:lpstr>FreesiaUPC</vt:lpstr>
      <vt:lpstr>Latin-Modern-Math-Word</vt:lpstr>
      <vt:lpstr>LM Roman 10</vt:lpstr>
      <vt:lpstr>Lucida Bright</vt:lpstr>
      <vt:lpstr>Lucida Fax</vt:lpstr>
      <vt:lpstr>Menlo</vt:lpstr>
      <vt:lpstr>Wingdings</vt:lpstr>
      <vt:lpstr>1_Office Theme</vt:lpstr>
      <vt:lpstr>Equation</vt:lpstr>
      <vt:lpstr>PowerPoint Presentation</vt:lpstr>
      <vt:lpstr>Outline </vt:lpstr>
      <vt:lpstr>PowerPoint Presentation</vt:lpstr>
      <vt:lpstr>Objectives</vt:lpstr>
      <vt:lpstr>PowerPoint Presentation</vt:lpstr>
      <vt:lpstr>Introduction </vt:lpstr>
      <vt:lpstr>Introduction </vt:lpstr>
      <vt:lpstr>PowerPoint Presentation</vt:lpstr>
      <vt:lpstr>PowerPoint Presentation</vt:lpstr>
      <vt:lpstr>FEM Formulation: Shape function (N)</vt:lpstr>
      <vt:lpstr>FEM Formulation: Shape function (N)</vt:lpstr>
      <vt:lpstr>Forming the element-level matrices (M, K, b) and Assembling then into global matrices</vt:lpstr>
      <vt:lpstr>Forming the element-level matrices (M, K, b) and Assembling then into global matrices</vt:lpstr>
      <vt:lpstr>Forming the element-level matrices (M, K, b) and Assembling then into global matrices</vt:lpstr>
      <vt:lpstr>Forming the element-level matrices (M, K, b) and Assembling then into global matrices</vt:lpstr>
      <vt:lpstr>PowerPoint Presentation</vt:lpstr>
      <vt:lpstr>Applying of Support Conditions</vt:lpstr>
      <vt:lpstr>PowerPoint Presentation</vt:lpstr>
      <vt:lpstr>PowerPoint Presentation</vt:lpstr>
      <vt:lpstr>Incremental Method with Equilibrium Correction </vt:lpstr>
      <vt:lpstr>Nonlinear Dynamics Process: Initialize parameters</vt:lpstr>
      <vt:lpstr>Nonlinear Dynamics Process: Apply Boundary Conditions</vt:lpstr>
      <vt:lpstr>Nonlinear Dynamics Process: Newmark-β </vt:lpstr>
      <vt:lpstr>Nonlinear Dynamics Process: Newmark-β </vt:lpstr>
      <vt:lpstr>PowerPoint Presentation</vt:lpstr>
      <vt:lpstr>PowerPoint Presentation</vt:lpstr>
      <vt:lpstr>Nonlinear Dynamics Process: 3D Element Displacement Calculation</vt:lpstr>
      <vt:lpstr>Failure Criteria for Brittle Materials</vt:lpstr>
      <vt:lpstr>Failure Criteria for Brittle Materials Maximum Normal Stress Fracture Criterion</vt:lpstr>
      <vt:lpstr>Nonlinear Dynamics Process: Actual Principal Strains and Stresses</vt:lpstr>
      <vt:lpstr>Nonlinear Dynamics Process: Residual Stress in Cartesian Coordinates</vt:lpstr>
      <vt:lpstr>PowerPoint Presentation</vt:lpstr>
      <vt:lpstr>PowerPoint Presentation</vt:lpstr>
      <vt:lpstr>PowerPoint Presentation</vt:lpstr>
      <vt:lpstr>PowerPoint Presentation</vt:lpstr>
      <vt:lpstr>Deflected Shape </vt:lpstr>
      <vt:lpstr>Failed Elements</vt:lpstr>
      <vt:lpstr>Principal Stresses Distribution</vt:lpstr>
      <vt:lpstr>PowerPoint Presentation</vt:lpstr>
      <vt:lpstr>Limitation </vt:lpstr>
      <vt:lpstr>Limitation </vt:lpstr>
      <vt:lpstr>PowerPoint Presentation</vt:lpstr>
      <vt:lpstr>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tanakit kertsap</dc:creator>
  <cp:lastModifiedBy>Tanakit Kertsap</cp:lastModifiedBy>
  <cp:revision>272</cp:revision>
  <cp:lastPrinted>2025-04-30T08:45:06Z</cp:lastPrinted>
  <dcterms:created xsi:type="dcterms:W3CDTF">2023-10-16T15:04:25Z</dcterms:created>
  <dcterms:modified xsi:type="dcterms:W3CDTF">2025-05-16T11:04:42Z</dcterms:modified>
</cp:coreProperties>
</file>